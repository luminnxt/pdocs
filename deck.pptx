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14400" y="4512022"/>
            <a:ext cx="16952976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0" b="1" spc="-367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AIOps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14400" y="6083647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Six core capabilities of an AI-augmented operational intelligence platform — designed to help SRE teams detect, respond, prevent, and learn from production issues.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90011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334500"/>
            <a:ext cx="10173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9572625"/>
            <a:ext cx="4002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OVERVIEW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05400" y="9334500"/>
            <a:ext cx="9359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05400" y="9572625"/>
            <a:ext cx="4002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· PLATFORM ENG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296400" y="9334500"/>
            <a:ext cx="8258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96400" y="9572625"/>
            <a:ext cx="4002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—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487400" y="9334500"/>
            <a:ext cx="14616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487400" y="9572625"/>
            <a:ext cx="4002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· 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Six capabilities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capability addresses a distinct phase of the SRE lifecycle — from detection through learning.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546711" y="2246114"/>
            <a:ext cx="903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395055" y="2451795"/>
            <a:ext cx="97854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861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1200" y="36290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ITOM — Incident &amp; Problem Management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5392400" y="3757613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· RESPOND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3053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386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81200" y="45815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— AIOps Insights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5392400" y="4710113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· CORRELATE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52578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911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81200" y="55340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Catalogue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5392400" y="5662613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· ENRICH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62103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65436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81200" y="64865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5392400" y="6615113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POLICY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71628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74961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981200" y="74390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5392400" y="7567612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· SCORECARDS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90678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8115300"/>
            <a:ext cx="164592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8448675"/>
            <a:ext cx="838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981200" y="8391525"/>
            <a:ext cx="135780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4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15392400" y="8443913"/>
            <a:ext cx="1981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· REPLAY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01 · ITOM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Incident &amp; Problem Management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unified incident lifecycle covering triage, ownership, escalation, and root-cause workflows across the SRE estate.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92859" y="2451795"/>
            <a:ext cx="1880741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· RESPOND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504140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triage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Auto-classification, severity scoring, and routing based on signals and ownership.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6272808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5222379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518427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war-room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550991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Centralized timeline, paging integration, and cross-team collaboration in one surface.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7504212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6453783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6415683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workflows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782395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Guided investigation, hypothesis tracking, and post-incident review templates.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7685187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7647087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 linkage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8013799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recurring incidents into problems with shared remediation tracking.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−40%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reduction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2×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triage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95%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Auto-routed incidents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Postmortem coverage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126727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9815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on-call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0954196" y="7294066"/>
            <a:ext cx="1915418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135171" y="7398841"/>
            <a:ext cx="16296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Incident commander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983914" y="7294066"/>
            <a:ext cx="1448246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164889" y="7398841"/>
            <a:ext cx="11624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owner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546461" y="7294066"/>
            <a:ext cx="1724620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727436" y="7398841"/>
            <a:ext cx="14388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manager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1200150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0848975" y="8484691"/>
            <a:ext cx="7517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91850" y="8570416"/>
            <a:ext cx="5421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1676906" y="8484691"/>
            <a:ext cx="9803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819781" y="8570416"/>
            <a:ext cx="7707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2733437" y="8484691"/>
            <a:ext cx="921097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876312" y="8570416"/>
            <a:ext cx="7115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Hub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3730734" y="8484691"/>
            <a:ext cx="6160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873609" y="8570416"/>
            <a:ext cx="4064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4422934" y="8484691"/>
            <a:ext cx="70068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565809" y="8570416"/>
            <a:ext cx="4911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6841837" y="9658350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622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40017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371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01 · ITOM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37157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3715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Phased adoption from baseline incident hygiene to fully autonomous incident response.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184606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214378" y="2051745"/>
            <a:ext cx="115922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Foundation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Establish a single source of truth for incidents and standardize the response process.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 incident intake from existing tools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Define severity matrix and on-call rotations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triage with templated war-rooms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Postmortem template adopted across Tier-1 services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PANE OF GLASS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Automation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routing and accelerate response with intelligent triage assistance.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Auto-classification and severity scoring live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Owner-aware routing with paging integration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Guided RCA workflows with hypothesis tracking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 clustering for recurring incidents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MTTR REDUCTION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Autonomous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AI-driven response with predictive remediation and self-healing service flows.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 drafts runbook actions and notifications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Auto-remediation for known failure patterns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incident prevention from leading signals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Closed-loop learning across the incident corpus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RESPONSE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02 · EP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Insights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Anomaly detection, signal correlation, and trend analysis for predictive operational intelligence at scale.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154573" y="2451795"/>
            <a:ext cx="2219027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· CORRELATE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504140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Anomaly detection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baselining of metrics and logs to surface deviations before alerts fire.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5969050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5222379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518427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Signal correlation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550991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Group related alerts across stacks into a single actionable narrative.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6896695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6150025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611192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analytics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478637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Forecast capacity, error budgets, and emerging risks ahead of impact.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7077670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7039570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Conversational insights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7406283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Ask the platform — natural-language queries grounded in your telemetry.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noise reduction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3×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detection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85%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accuracy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24/7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baselining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714524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4287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0401449" y="7294066"/>
            <a:ext cx="1724769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82424" y="7398841"/>
            <a:ext cx="14390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lead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240518" y="7294066"/>
            <a:ext cx="1648718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421493" y="7398841"/>
            <a:ext cx="13629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Capacity planner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003536" y="7294066"/>
            <a:ext cx="200144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184511" y="7398841"/>
            <a:ext cx="17156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manager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834479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624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0483304" y="8484691"/>
            <a:ext cx="834479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26179" y="8570416"/>
            <a:ext cx="6249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1393984" y="8484691"/>
            <a:ext cx="7517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536859" y="8570416"/>
            <a:ext cx="5421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2221914" y="8484691"/>
            <a:ext cx="9803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364789" y="8570416"/>
            <a:ext cx="7707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3278445" y="8484691"/>
            <a:ext cx="734616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421320" y="8570416"/>
            <a:ext cx="5250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4089261" y="8484691"/>
            <a:ext cx="98896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232136" y="8570416"/>
            <a:ext cx="779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5154424" y="8484691"/>
            <a:ext cx="1005632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297299" y="8570416"/>
            <a:ext cx="7960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1" name="Text 79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6841837" y="9658350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622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40017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2550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02 · EP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25507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2550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basic anomaly visibility to fully predictive, conversational operational intelligence.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184606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718482" y="2051745"/>
            <a:ext cx="1655118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AIOPS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Aggregate signals across observability stacks and detect basic anomalies.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telemetry ingest from Splunk, Dynatrace, Cortex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Threshold-based anomaly detection live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Curated dashboards for top-10 services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digest of unusual patterns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OBSERVABILITY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Correlation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Correlate signals into narratives and reduce alert noise dramatically.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ML-based baselining replaces static thresholds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Cross-stack signal correlation engine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grouping with deduplication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Capacity and error-budget forecasting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NOISE REDUCTION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Conversational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Natural-language access to operational intelligence with proactive recommendations.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Conversational queries grounded in telemetry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alerts ahead of customer impact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Auto-generated incident hypotheses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model retraining on incident outcomes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OPERATIONS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03 · CATALOGUE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Catalogue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authoritative inventory of services, owners, and dependencies — powering enrichment everywhere downstream.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267384" y="2451795"/>
            <a:ext cx="2106216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· ENRICH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504140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registry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Single source of truth for every application, environment, and ownership record.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5969050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5222379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518427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Dependency graph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550991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 visualization of upstream and downstream service relationships.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6896695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6150025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611192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Metadata enrichment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478637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Tier, criticality, region, and compliance attributes attached to every asset.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7077670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7039570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access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7406283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Programmatic lookup feeds incidents, change records, and dashboards everywhere.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coverage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1×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5min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lookup time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99.9%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freshness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2010817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17250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 engineering teams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1697742" y="7294066"/>
            <a:ext cx="111472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878717" y="7398841"/>
            <a:ext cx="828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926764" y="7294066"/>
            <a:ext cx="126727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107739" y="7398841"/>
            <a:ext cx="9815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308336" y="7294066"/>
            <a:ext cx="991046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489311" y="7398841"/>
            <a:ext cx="7052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Auditors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1383060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11735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ArchExchange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031885" y="8484691"/>
            <a:ext cx="1098798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174760" y="8570416"/>
            <a:ext cx="8892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206883" y="8484691"/>
            <a:ext cx="760065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349758" y="8570416"/>
            <a:ext cx="5505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3043148" y="8484691"/>
            <a:ext cx="912614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186023" y="8570416"/>
            <a:ext cx="7030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Bitbucket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4031962" y="8484691"/>
            <a:ext cx="531465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174837" y="8570416"/>
            <a:ext cx="3219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4639627" y="8484691"/>
            <a:ext cx="85338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782502" y="8570416"/>
            <a:ext cx="6438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DataAPI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6841837" y="9658350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03 · CATALOGUE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manual inventory to a continuously enriched, programmatically accessible service graph.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224611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929098" y="2451795"/>
            <a:ext cx="244450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CATALOGUE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Inventory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Establish baseline coverage of services, owners, and core metadata.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Tier-1 services onboarded with owners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 metadata schema agreed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updates with quarterly audits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Read-only catalogue UI live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COVERAGE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Automation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enrichment from existing systems and expose data via API.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Auto-discovery from CI/CD and registries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Dependency graph populated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 API consumed by incidents and changes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Coverage extended to all production services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COVERAGE · API LIVE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Authoritative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Catalogue becomes the trusted source of truth across the enterprise.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 graph with continuous reconciliation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Compliance &amp; criticality attributes governed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Embedded in every operational workflow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Powers AI enrichment everywhere downstream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SERVICE GRAPH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04 · GOVERNANCE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Risk-aware change review with blast-radius scoring, freeze-window enforcement, and policy validation built in.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605671" y="2451795"/>
            <a:ext cx="176792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POLICY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4737646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Blast-radius scoring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 downstream impact for any change before it ships.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5665291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4918621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4880521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validation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247233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checks against deployment, compliance, and security policies.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6592937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5846266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5808166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Freeze-window enforcement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174879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Calendar-aware blocks for peak periods, audits, and high-risk releases.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6773912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6735812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workflows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7102525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Role-based, evidence-backed approvals integrated with deployment pipelines.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−60%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Change-induced incidents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compliance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2hr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approval time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Freeze-window breaches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1801118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1515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Release managers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1488043" y="7294066"/>
            <a:ext cx="147667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669018" y="7398841"/>
            <a:ext cx="11909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CAB members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3079016" y="7294066"/>
            <a:ext cx="153397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259991" y="7398841"/>
            <a:ext cx="124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owners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727287" y="7294066"/>
            <a:ext cx="126727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908262" y="7398841"/>
            <a:ext cx="9815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2114550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19050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AI Governance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763375" y="8484691"/>
            <a:ext cx="6160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906250" y="8570416"/>
            <a:ext cx="4064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455575" y="8484691"/>
            <a:ext cx="912614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598450" y="8570416"/>
            <a:ext cx="7030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Bitbucket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3444389" y="8484691"/>
            <a:ext cx="760065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587264" y="8570416"/>
            <a:ext cx="5505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4280654" y="8484691"/>
            <a:ext cx="1302097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423529" y="8570416"/>
            <a:ext cx="10925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OCD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5658951" y="8484691"/>
            <a:ext cx="1098798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801826" y="8570416"/>
            <a:ext cx="8892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6841837" y="9658350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622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40017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07804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04 · GOVERNANCE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078048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07804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manual change reviews to risk-aware, policy-enforced, automated approvals.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184606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80196" y="2051745"/>
            <a:ext cx="1993404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GOVERNANCE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Standardize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Standardize change records and capture all changes in one place.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Single change-record schema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CAB reviews with templated risk fields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Calendar-based freeze windows declared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history searchable by service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RECORDS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Risk-aware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4705350"/>
            <a:ext cx="48465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Quantify change risk and enforce policy automatically.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210175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Blast-radius scoring on every change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policy validation in pipeline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Freeze-window enforcement at deploy time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Role-based approvals with evidence trail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RISK-SCORED EVERY CHANGE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Autonomous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Continuous, AI-assisted governance with low-risk auto-approvals.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Auto-approve low-risk changes by policy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AI-flagged anomalous change patterns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change-failure detection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Closed-loop feedback from incidents to risk model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GOVERNANCE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05 · RELIABILITY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posture, error-budget burn, and reliability scorecards rolled up across product domains and lines of business.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92859" y="2451795"/>
            <a:ext cx="1880741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· SCORECARDS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4737646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management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Define, track, and communicate service-level objectives across every team.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5969050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4918621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4880521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Error-budget burn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247233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Real-time visibility into budget consumption with configurable burn-rate alerts.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720045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615002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611192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scorecards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478637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Per-domain rollups for leadership reviews, with trend lines and benchmarks.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7381429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734332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DORA metrics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7710041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Lead time, deployment frequency, change-failure rate, and recovery time, unified.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5972175"/>
          </a:xfrm>
          <a:prstGeom prst="roundRect">
            <a:avLst>
              <a:gd name="adj" fmla="val 159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99.95%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SLO attainment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+25%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productivity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SLO coverage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4×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reviews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1553319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12675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leadership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1240244" y="7294066"/>
            <a:ext cx="1533971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21219" y="7398841"/>
            <a:ext cx="1248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owners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888516" y="7294066"/>
            <a:ext cx="1982242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069491" y="7398841"/>
            <a:ext cx="1696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directors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4985057" y="7294066"/>
            <a:ext cx="1175147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166032" y="7398841"/>
            <a:ext cx="8893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CTO office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1383060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11735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031885" y="8484691"/>
            <a:ext cx="9803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174760" y="8570416"/>
            <a:ext cx="7707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088416" y="8484691"/>
            <a:ext cx="75173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231291" y="8570416"/>
            <a:ext cx="5421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2916346" y="8484691"/>
            <a:ext cx="1110258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059221" y="8570416"/>
            <a:ext cx="9007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4102804" y="8484691"/>
            <a:ext cx="128230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245679" y="8570416"/>
            <a:ext cx="10727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GTAM Insights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5461307" y="8484691"/>
            <a:ext cx="98896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4182" y="8570416"/>
            <a:ext cx="779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6841837" y="9658350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05 · RELIABILITY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basic SLO tracking to enterprise-wide reliability scorecards driving leadership decisions.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224611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41761" y="2451795"/>
            <a:ext cx="23318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Define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Define SLOs for critical services and surface error-budget basics.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templates for top-10 services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Error-budget dashboards live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Monthly reliability reviews started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DORA metric collection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FOUNDATION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Operationalize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Make SLOs actionable with burn alerts and rolled-up scorecards.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Burn-rate alerts integrated with on-call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Domain-level reliability scorecards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DORA metric pipeline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Trend benchmarking across teams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SLOS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3352800"/>
            <a:ext cx="5334000" cy="597217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6671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89572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86727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50532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Strategic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510540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data drives investment, hiring, and architectural decisions.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88645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SLO breach forecasts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Executive reliability narratives auto-generated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Cross-domain dependency reliability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Tied to business KPIs and roadmaps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RELIABILITY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9622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80022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06 · BATCH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17729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and orchestration for scheduled and long-running workloads, with failure replay and cross-job dependencies.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750159" y="22461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41761" y="2451795"/>
            <a:ext cx="23318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· REPLAY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352800"/>
            <a:ext cx="8115300" cy="6198691"/>
          </a:xfrm>
          <a:prstGeom prst="roundRect">
            <a:avLst>
              <a:gd name="adj" fmla="val 1537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28725" y="504140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399097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5925" y="395287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Job orchestration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4319588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Schedule, sequence, and monitor batch workloads with explicit dependencies.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28725" y="5969050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5222379"/>
            <a:ext cx="381000" cy="67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5925" y="518427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Failure replay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685925" y="5550991"/>
            <a:ext cx="724033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One-click rerun of failed steps, with state-aware checkpoint resumption.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28725" y="7200454"/>
            <a:ext cx="74866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228725" y="6150025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5925" y="6111925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SLA tracking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85925" y="6478637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Watch every job against its committed completion window and escalate breaches.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28725" y="7381429"/>
            <a:ext cx="381000" cy="974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5925" y="7343329"/>
            <a:ext cx="72403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spc="-19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Cross-job dependencies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85925" y="7710041"/>
            <a:ext cx="7240334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Map upstream feeds and downstream consumers to predict cascade impact.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258300" y="3352800"/>
            <a:ext cx="8115300" cy="6198691"/>
          </a:xfrm>
          <a:prstGeom prst="roundRect">
            <a:avLst>
              <a:gd name="adj" fmla="val 1537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2625" y="3629025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72625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2625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9572625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72625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11175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99.5%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9829800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SLA attainment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411200" y="3952875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3411200" y="520437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11200" y="3952875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13411200" y="3952875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49750" y="3952875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3668375" y="4171950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−50%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13668375" y="4781550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intervention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72625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2625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572625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9572625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11175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5"/>
          <p:cNvSpPr/>
          <p:nvPr/>
        </p:nvSpPr>
        <p:spPr>
          <a:xfrm>
            <a:off x="9829800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10×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9829800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replay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411200" y="5404396"/>
            <a:ext cx="3648075" cy="1261021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3411200" y="6655891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1" name="Shape 49"/>
          <p:cNvSpPr/>
          <p:nvPr/>
        </p:nvSpPr>
        <p:spPr>
          <a:xfrm>
            <a:off x="13411200" y="5404396"/>
            <a:ext cx="3648075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13411200" y="5404396"/>
            <a:ext cx="28575" cy="1261021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3" name="Shape 51"/>
          <p:cNvSpPr/>
          <p:nvPr/>
        </p:nvSpPr>
        <p:spPr>
          <a:xfrm>
            <a:off x="17049750" y="5404396"/>
            <a:ext cx="9525" cy="12610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13668375" y="5623471"/>
            <a:ext cx="32473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13668375" y="6233071"/>
            <a:ext cx="324735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spc="4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visibility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572625" y="6970216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572625" y="7294066"/>
            <a:ext cx="1572369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53600" y="7398841"/>
            <a:ext cx="12866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operators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1259294" y="7294066"/>
            <a:ext cx="1524893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40269" y="7398841"/>
            <a:ext cx="12391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 engineers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2898487" y="7294066"/>
            <a:ext cx="714524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079462" y="7398841"/>
            <a:ext cx="4287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13727311" y="7294066"/>
            <a:ext cx="1381720" cy="409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908286" y="7398841"/>
            <a:ext cx="10959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ops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572625" y="8008441"/>
            <a:ext cx="7711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72625" y="8484691"/>
            <a:ext cx="1017389" cy="371475"/>
          </a:xfrm>
          <a:prstGeom prst="roundRect">
            <a:avLst>
              <a:gd name="adj" fmla="val 15385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15500" y="8570416"/>
            <a:ext cx="807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SmartSDK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0666214" y="8484691"/>
            <a:ext cx="1626691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809089" y="8570416"/>
            <a:ext cx="14171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ECS NextGen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2369105" y="8484691"/>
            <a:ext cx="176242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511980" y="8570416"/>
            <a:ext cx="15528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Aurora Postgres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4207728" y="8484691"/>
            <a:ext cx="988963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350603" y="8570416"/>
            <a:ext cx="7794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5272891" y="8484691"/>
            <a:ext cx="1005632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415766" y="8570416"/>
            <a:ext cx="7960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9572625" y="8932366"/>
            <a:ext cx="1110258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15500" y="9018091"/>
            <a:ext cx="9007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14400" y="9741991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Text 77"/>
          <p:cNvSpPr/>
          <p:nvPr/>
        </p:nvSpPr>
        <p:spPr>
          <a:xfrm>
            <a:off x="914400" y="9894391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6841837" y="9884866"/>
            <a:ext cx="6079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622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400175"/>
            <a:ext cx="38100" cy="8382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609600"/>
            <a:ext cx="101915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06 · BATCH ·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1019175"/>
            <a:ext cx="1019153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spc="-142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7300" y="1895475"/>
            <a:ext cx="101915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visibility into batch workloads to fully orchestrated, self-healing pipelines.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290578" y="1846064"/>
            <a:ext cx="1159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214378" y="2051745"/>
            <a:ext cx="115922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87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87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287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2287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1 — 2 ·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87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 critical batch jobs and centralize their execution status.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3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 Tier-1 batch jobs cataloged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Centralized job-status dashboard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SLA breach notifications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Failure logs aggregated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2287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287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87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VISIBILITY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770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913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67913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3" name="Text 21"/>
          <p:cNvSpPr/>
          <p:nvPr/>
        </p:nvSpPr>
        <p:spPr>
          <a:xfrm>
            <a:off x="67913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 — 4 · Orchestrate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13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Orchestrate dependencies and enable rapid recovery from failures.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79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Dependency graphs for all batch jobs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One-click checkpoint replay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SLA-aware proactive alerting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Cascade-impact preview before reruns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7913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7" name="Text 25"/>
          <p:cNvSpPr/>
          <p:nvPr/>
        </p:nvSpPr>
        <p:spPr>
          <a:xfrm>
            <a:off x="67913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913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BATCH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039600" y="2952750"/>
            <a:ext cx="5334000" cy="6372225"/>
          </a:xfrm>
          <a:prstGeom prst="roundRect">
            <a:avLst>
              <a:gd name="adj" fmla="val 178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53925" y="32670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53925" y="3495675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0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12353925" y="44672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353925" y="4105275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Self-healing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53925" y="4705350"/>
            <a:ext cx="484651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Self-healing pipelines with predictive scheduling and zero-touch recovery.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240578" y="5486400"/>
            <a:ext cx="4894897" cy="1287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Auto-replay of known transient failures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scheduling based on data freshness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AI-assisted root-cause for failed jobs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Closed-loop optimization of compute spend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2353925" y="8467725"/>
            <a:ext cx="47053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Text 35"/>
          <p:cNvSpPr/>
          <p:nvPr/>
        </p:nvSpPr>
        <p:spPr>
          <a:xfrm>
            <a:off x="12353925" y="8667750"/>
            <a:ext cx="772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53925" y="8839200"/>
            <a:ext cx="4846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42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BATCH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95154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6678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6729621" y="9658350"/>
            <a:ext cx="7201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06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193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381125"/>
            <a:ext cx="38100" cy="6096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457200"/>
            <a:ext cx="1177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TECH STACK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866775"/>
            <a:ext cx="1177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98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 collaboration model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57300" y="1514475"/>
            <a:ext cx="117729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modern, modular stack — open standards at the seams, best-in-class engines at the core. Every layer is interchangeable, every interface is documented.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750159" y="1598414"/>
            <a:ext cx="699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605671" y="1804095"/>
            <a:ext cx="176792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· L4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438400"/>
            <a:ext cx="16459200" cy="1504950"/>
          </a:xfrm>
          <a:prstGeom prst="roundRect">
            <a:avLst>
              <a:gd name="adj" fmla="val 6329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1575" y="2619375"/>
            <a:ext cx="164231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LAYERS · OPEN COLLABORATION 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71575" y="2905125"/>
            <a:ext cx="39733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&amp; Reasoning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71575" y="3171825"/>
            <a:ext cx="655439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6350" y="3228975"/>
            <a:ext cx="5220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884164" y="3171825"/>
            <a:ext cx="952500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8939" y="3228975"/>
            <a:ext cx="819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2893814" y="3171825"/>
            <a:ext cx="484733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8589" y="3228975"/>
            <a:ext cx="3513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3435697" y="3171825"/>
            <a:ext cx="82927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0472" y="3228975"/>
            <a:ext cx="6959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322118" y="3171825"/>
            <a:ext cx="477887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6893" y="3228975"/>
            <a:ext cx="3445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171575" y="3505200"/>
            <a:ext cx="987326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6350" y="3562350"/>
            <a:ext cx="8539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AI Gov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200650" y="2905125"/>
            <a:ext cx="39733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&amp; APIs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5200650" y="3171825"/>
            <a:ext cx="803970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5425" y="3228975"/>
            <a:ext cx="6706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SmartSDK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061770" y="3171825"/>
            <a:ext cx="705296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6545" y="3228975"/>
            <a:ext cx="5719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6824216" y="3171825"/>
            <a:ext cx="794593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8991" y="3228975"/>
            <a:ext cx="6612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7675959" y="3171825"/>
            <a:ext cx="870496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0734" y="3228975"/>
            <a:ext cx="73714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5200650" y="3505200"/>
            <a:ext cx="650081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5425" y="3562350"/>
            <a:ext cx="5167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5907881" y="3505200"/>
            <a:ext cx="718989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2656" y="3562350"/>
            <a:ext cx="5856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6684020" y="3505200"/>
            <a:ext cx="539948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8795" y="3562350"/>
            <a:ext cx="4065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229725" y="2905125"/>
            <a:ext cx="39733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 &amp; Streaming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9229725" y="3171825"/>
            <a:ext cx="878235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34500" y="3228975"/>
            <a:ext cx="7448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0165110" y="3171825"/>
            <a:ext cx="952500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69885" y="3228975"/>
            <a:ext cx="8191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1174760" y="3171825"/>
            <a:ext cx="526256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79535" y="3228975"/>
            <a:ext cx="3929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1758166" y="3171825"/>
            <a:ext cx="471041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862941" y="3228975"/>
            <a:ext cx="33769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12286357" y="3171825"/>
            <a:ext cx="581174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391132" y="3228975"/>
            <a:ext cx="4478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9229725" y="3505200"/>
            <a:ext cx="381744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34500" y="3562350"/>
            <a:ext cx="2483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9668619" y="3505200"/>
            <a:ext cx="622697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73394" y="3562350"/>
            <a:ext cx="4893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3258800" y="2905125"/>
            <a:ext cx="39733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Cloud &amp; Observability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13258800" y="3171825"/>
            <a:ext cx="432495" cy="276225"/>
          </a:xfrm>
          <a:prstGeom prst="roundRect">
            <a:avLst>
              <a:gd name="adj" fmla="val 2069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363575" y="3228975"/>
            <a:ext cx="2991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13748445" y="3171825"/>
            <a:ext cx="842963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853220" y="3228975"/>
            <a:ext cx="7096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14648557" y="3171825"/>
            <a:ext cx="739378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753332" y="3228975"/>
            <a:ext cx="6060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15445085" y="3171825"/>
            <a:ext cx="1049238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549860" y="3228975"/>
            <a:ext cx="9158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13258800" y="3505200"/>
            <a:ext cx="773906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363575" y="3562350"/>
            <a:ext cx="640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14089856" y="3505200"/>
            <a:ext cx="588169" cy="25717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194631" y="3562350"/>
            <a:ext cx="4548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A4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914400" y="4114800"/>
            <a:ext cx="16459200" cy="5324475"/>
          </a:xfrm>
          <a:prstGeom prst="roundRect">
            <a:avLst>
              <a:gd name="adj" fmla="val 1789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28725" y="4600575"/>
            <a:ext cx="15830550" cy="19050"/>
          </a:xfrm>
          <a:prstGeom prst="rect">
            <a:avLst/>
          </a:prstGeom>
          <a:solidFill>
            <a:srgbClr val="E8B998">
              <a:alpha val="3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394400" y="4124325"/>
            <a:ext cx="9525" cy="53054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0" name="Shape 68"/>
          <p:cNvSpPr/>
          <p:nvPr/>
        </p:nvSpPr>
        <p:spPr>
          <a:xfrm>
            <a:off x="1228725" y="4391025"/>
            <a:ext cx="457200" cy="457200"/>
          </a:xfrm>
          <a:prstGeom prst="ellipse">
            <a:avLst/>
          </a:prstGeom>
          <a:solidFill>
            <a:srgbClr val="C9531F"/>
          </a:solidFill>
          <a:ln w="19050">
            <a:solidFill>
              <a:srgbClr val="C9531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09675" y="44100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1838325" y="4429125"/>
            <a:ext cx="10757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3000" dirty="0"/>
          </a:p>
        </p:txBody>
      </p:sp>
      <p:sp>
        <p:nvSpPr>
          <p:cNvPr id="73" name="Text 71"/>
          <p:cNvSpPr/>
          <p:nvPr/>
        </p:nvSpPr>
        <p:spPr>
          <a:xfrm>
            <a:off x="1228725" y="4981575"/>
            <a:ext cx="50067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Q2 · FOUNDATION</a:t>
            </a:r>
            <a:endParaRPr lang="en-US" sz="975" dirty="0"/>
          </a:p>
        </p:txBody>
      </p:sp>
      <p:sp>
        <p:nvSpPr>
          <p:cNvPr id="74" name="Shape 72"/>
          <p:cNvSpPr/>
          <p:nvPr/>
        </p:nvSpPr>
        <p:spPr>
          <a:xfrm>
            <a:off x="1228725" y="5844480"/>
            <a:ext cx="4860875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5" name="Text 73"/>
          <p:cNvSpPr/>
          <p:nvPr/>
        </p:nvSpPr>
        <p:spPr>
          <a:xfrm>
            <a:off x="1228725" y="5257800"/>
            <a:ext cx="500670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 up the open core — shared SDKs, documented APIs, and a single observability spine.</a:t>
            </a:r>
            <a:endParaRPr lang="en-US" sz="1275" dirty="0"/>
          </a:p>
        </p:txBody>
      </p:sp>
      <p:sp>
        <p:nvSpPr>
          <p:cNvPr id="76" name="Text 74"/>
          <p:cNvSpPr/>
          <p:nvPr/>
        </p:nvSpPr>
        <p:spPr>
          <a:xfrm>
            <a:off x="1127125" y="6006405"/>
            <a:ext cx="50386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SmartSDK + DataAPI baseline rolled out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OpenAPI specs published for every service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OpenTelemetry adopted across Tier-1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Fusion AI Governance gates LLM usage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1228725" y="9039225"/>
            <a:ext cx="756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985218" y="9020175"/>
            <a:ext cx="12650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FOUNDATION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6251525" y="4486275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22950" y="44958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3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11874401" y="4124325"/>
            <a:ext cx="9525" cy="53054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2" name="Shape 80"/>
          <p:cNvSpPr/>
          <p:nvPr/>
        </p:nvSpPr>
        <p:spPr>
          <a:xfrm>
            <a:off x="6708725" y="439102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B99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89675" y="44100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7318325" y="4429125"/>
            <a:ext cx="9209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3000" dirty="0"/>
          </a:p>
        </p:txBody>
      </p:sp>
      <p:sp>
        <p:nvSpPr>
          <p:cNvPr id="85" name="Text 83"/>
          <p:cNvSpPr/>
          <p:nvPr/>
        </p:nvSpPr>
        <p:spPr>
          <a:xfrm>
            <a:off x="6708725" y="4981575"/>
            <a:ext cx="50067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Q4 · FEDERATION</a:t>
            </a:r>
            <a:endParaRPr lang="en-US" sz="975" dirty="0"/>
          </a:p>
        </p:txBody>
      </p:sp>
      <p:sp>
        <p:nvSpPr>
          <p:cNvPr id="86" name="Shape 84"/>
          <p:cNvSpPr/>
          <p:nvPr/>
        </p:nvSpPr>
        <p:spPr>
          <a:xfrm>
            <a:off x="6708725" y="5844480"/>
            <a:ext cx="4860875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7" name="Text 85"/>
          <p:cNvSpPr/>
          <p:nvPr/>
        </p:nvSpPr>
        <p:spPr>
          <a:xfrm>
            <a:off x="6708725" y="5257800"/>
            <a:ext cx="500670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Federate ownership — inner-source libraries, MCP-based agents, and streaming-first pipelines.</a:t>
            </a:r>
            <a:endParaRPr lang="en-US" sz="1275" dirty="0"/>
          </a:p>
        </p:txBody>
      </p:sp>
      <p:sp>
        <p:nvSpPr>
          <p:cNvPr id="88" name="Text 86"/>
          <p:cNvSpPr/>
          <p:nvPr/>
        </p:nvSpPr>
        <p:spPr>
          <a:xfrm>
            <a:off x="6607125" y="6006405"/>
            <a:ext cx="50386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Inner-source contributions across pods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 servers expose every capability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Kafka + Flink replace batch ETL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Snowflake + Iceberg unify the lake</a:t>
            </a:r>
            <a:endParaRPr lang="en-US" sz="1125" dirty="0"/>
          </a:p>
        </p:txBody>
      </p:sp>
      <p:sp>
        <p:nvSpPr>
          <p:cNvPr id="89" name="Text 87"/>
          <p:cNvSpPr/>
          <p:nvPr/>
        </p:nvSpPr>
        <p:spPr>
          <a:xfrm>
            <a:off x="6708725" y="9039225"/>
            <a:ext cx="756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465219" y="9020175"/>
            <a:ext cx="15027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PLATFORM</a:t>
            </a:r>
            <a:endParaRPr lang="en-US" sz="975" dirty="0"/>
          </a:p>
        </p:txBody>
      </p:sp>
      <p:sp>
        <p:nvSpPr>
          <p:cNvPr id="91" name="Shape 89"/>
          <p:cNvSpPr/>
          <p:nvPr/>
        </p:nvSpPr>
        <p:spPr>
          <a:xfrm>
            <a:off x="11731526" y="4486275"/>
            <a:ext cx="266700" cy="2667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702951" y="4495800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3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12188726" y="439102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B99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169676" y="44100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12798326" y="4429125"/>
            <a:ext cx="7939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3000" dirty="0"/>
          </a:p>
        </p:txBody>
      </p:sp>
      <p:sp>
        <p:nvSpPr>
          <p:cNvPr id="96" name="Text 94"/>
          <p:cNvSpPr/>
          <p:nvPr/>
        </p:nvSpPr>
        <p:spPr>
          <a:xfrm>
            <a:off x="12188726" y="4981575"/>
            <a:ext cx="50165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OPEN ECOSYSTEM</a:t>
            </a:r>
            <a:endParaRPr lang="en-US" sz="975" dirty="0"/>
          </a:p>
        </p:txBody>
      </p:sp>
      <p:sp>
        <p:nvSpPr>
          <p:cNvPr id="97" name="Shape 95"/>
          <p:cNvSpPr/>
          <p:nvPr/>
        </p:nvSpPr>
        <p:spPr>
          <a:xfrm>
            <a:off x="12188726" y="5844480"/>
            <a:ext cx="48704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8" name="Text 96"/>
          <p:cNvSpPr/>
          <p:nvPr/>
        </p:nvSpPr>
        <p:spPr>
          <a:xfrm>
            <a:off x="12188726" y="5257800"/>
            <a:ext cx="5016512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Self-serve, agent-driven extension — community-built skills on a governed open platform.</a:t>
            </a:r>
            <a:endParaRPr lang="en-US" sz="1275" dirty="0"/>
          </a:p>
        </p:txBody>
      </p:sp>
      <p:sp>
        <p:nvSpPr>
          <p:cNvPr id="99" name="Text 97"/>
          <p:cNvSpPr/>
          <p:nvPr/>
        </p:nvSpPr>
        <p:spPr>
          <a:xfrm>
            <a:off x="12087126" y="6006405"/>
            <a:ext cx="50482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 marketplace with signed contributions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RFC-driven roadmap, public design reviews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Multi-model routing across Claude · GPT</a:t>
            </a:r>
            <a:endParaRPr lang="en-US" sz="112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Closed-loop telemetry into model evals</a:t>
            </a:r>
            <a:endParaRPr lang="en-US" sz="1125" dirty="0"/>
          </a:p>
        </p:txBody>
      </p:sp>
      <p:sp>
        <p:nvSpPr>
          <p:cNvPr id="100" name="Text 98"/>
          <p:cNvSpPr/>
          <p:nvPr/>
        </p:nvSpPr>
        <p:spPr>
          <a:xfrm>
            <a:off x="12188726" y="9039225"/>
            <a:ext cx="756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2945219" y="9020175"/>
            <a:ext cx="16612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39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AIOPS ECOSYSTEM</a:t>
            </a:r>
            <a:endParaRPr lang="en-US" sz="975" dirty="0"/>
          </a:p>
        </p:txBody>
      </p:sp>
      <p:sp>
        <p:nvSpPr>
          <p:cNvPr id="102" name="Shape 100"/>
          <p:cNvSpPr/>
          <p:nvPr/>
        </p:nvSpPr>
        <p:spPr>
          <a:xfrm>
            <a:off x="914400" y="96297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3" name="Text 101"/>
          <p:cNvSpPr/>
          <p:nvPr/>
        </p:nvSpPr>
        <p:spPr>
          <a:xfrm>
            <a:off x="914400" y="97821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16745843" y="9772650"/>
            <a:ext cx="7039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FND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7642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5375"/>
            <a:ext cx="38100" cy="5715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419100"/>
            <a:ext cx="75150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ROADMAP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57300" y="828675"/>
            <a:ext cx="751503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94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 · Walk · Run, end-to-end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257300" y="1457325"/>
            <a:ext cx="7515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 six capabilities advancing in lockstep — from foundation to autonomous operations.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898689" y="1274564"/>
            <a:ext cx="5511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spc="168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585661" y="1480245"/>
            <a:ext cx="2787939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00" b="1" spc="168" kern="0" dirty="0">
                <a:solidFill>
                  <a:srgbClr val="15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· 6 CAPABILITIES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201930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▾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067050" y="2076450"/>
            <a:ext cx="4673501" cy="952500"/>
          </a:xfrm>
          <a:prstGeom prst="roundRect">
            <a:avLst>
              <a:gd name="adj" fmla="val 10000"/>
            </a:avLst>
          </a:prstGeom>
          <a:solidFill>
            <a:srgbClr val="FFF7F0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6125" y="2238375"/>
            <a:ext cx="609600" cy="60960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75" y="2333625"/>
            <a:ext cx="419100" cy="419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67175" y="2314575"/>
            <a:ext cx="15902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4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067175" y="2657475"/>
            <a:ext cx="1590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Q2 · FOUNDATION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7216676" y="2505075"/>
            <a:ext cx="76200" cy="7620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16" name="Shape 13"/>
          <p:cNvSpPr/>
          <p:nvPr/>
        </p:nvSpPr>
        <p:spPr>
          <a:xfrm>
            <a:off x="7330976" y="2505075"/>
            <a:ext cx="76200" cy="76200"/>
          </a:xfrm>
          <a:prstGeom prst="ellipse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445276" y="2505075"/>
            <a:ext cx="76200" cy="76200"/>
          </a:xfrm>
          <a:prstGeom prst="ellipse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854851" y="2076450"/>
            <a:ext cx="4673650" cy="952500"/>
          </a:xfrm>
          <a:prstGeom prst="roundRect">
            <a:avLst>
              <a:gd name="adj" fmla="val 10000"/>
            </a:avLst>
          </a:prstGeom>
          <a:solidFill>
            <a:srgbClr val="FBE9D9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73926" y="2238375"/>
            <a:ext cx="609600" cy="60960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176" y="2333625"/>
            <a:ext cx="419100" cy="4191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854976" y="2314575"/>
            <a:ext cx="15882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4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8854976" y="2657475"/>
            <a:ext cx="158829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Q4 · AUTOMATION</a:t>
            </a:r>
            <a:endParaRPr lang="en-US" sz="825" dirty="0"/>
          </a:p>
        </p:txBody>
      </p:sp>
      <p:sp>
        <p:nvSpPr>
          <p:cNvPr id="23" name="Shape 19"/>
          <p:cNvSpPr/>
          <p:nvPr/>
        </p:nvSpPr>
        <p:spPr>
          <a:xfrm>
            <a:off x="12004625" y="2505075"/>
            <a:ext cx="76200" cy="7620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24" name="Shape 20"/>
          <p:cNvSpPr/>
          <p:nvPr/>
        </p:nvSpPr>
        <p:spPr>
          <a:xfrm>
            <a:off x="12118925" y="2505075"/>
            <a:ext cx="76200" cy="7620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25" name="Shape 21"/>
          <p:cNvSpPr/>
          <p:nvPr/>
        </p:nvSpPr>
        <p:spPr>
          <a:xfrm>
            <a:off x="12233225" y="2505075"/>
            <a:ext cx="76200" cy="76200"/>
          </a:xfrm>
          <a:prstGeom prst="ellipse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2642800" y="2076450"/>
            <a:ext cx="4673501" cy="952500"/>
          </a:xfrm>
          <a:prstGeom prst="roundRect">
            <a:avLst>
              <a:gd name="adj" fmla="val 10000"/>
            </a:avLst>
          </a:prstGeom>
          <a:solidFill>
            <a:srgbClr val="C9531F"/>
          </a:solidFill>
          <a:ln w="9525">
            <a:solidFill>
              <a:srgbClr val="A843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861875" y="2238375"/>
            <a:ext cx="609600" cy="6096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7125" y="2333625"/>
            <a:ext cx="419100" cy="4191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642925" y="2314575"/>
            <a:ext cx="1575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4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2250" dirty="0"/>
          </a:p>
        </p:txBody>
      </p:sp>
      <p:sp>
        <p:nvSpPr>
          <p:cNvPr id="30" name="Text 25"/>
          <p:cNvSpPr/>
          <p:nvPr/>
        </p:nvSpPr>
        <p:spPr>
          <a:xfrm>
            <a:off x="13642925" y="2657475"/>
            <a:ext cx="15756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AUTONOMOUS</a:t>
            </a:r>
            <a:endParaRPr lang="en-US" sz="825" dirty="0"/>
          </a:p>
        </p:txBody>
      </p:sp>
      <p:sp>
        <p:nvSpPr>
          <p:cNvPr id="31" name="Shape 26"/>
          <p:cNvSpPr/>
          <p:nvPr/>
        </p:nvSpPr>
        <p:spPr>
          <a:xfrm>
            <a:off x="16792426" y="2505075"/>
            <a:ext cx="76200" cy="76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27"/>
          <p:cNvSpPr/>
          <p:nvPr/>
        </p:nvSpPr>
        <p:spPr>
          <a:xfrm>
            <a:off x="16906726" y="2505075"/>
            <a:ext cx="76200" cy="76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17021026" y="2505075"/>
            <a:ext cx="76200" cy="76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914400" y="3162300"/>
            <a:ext cx="16459200" cy="5754142"/>
          </a:xfrm>
          <a:prstGeom prst="roundRect">
            <a:avLst>
              <a:gd name="adj" fmla="val 1655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23925" y="3171825"/>
            <a:ext cx="2095500" cy="95577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Shape 31"/>
          <p:cNvSpPr/>
          <p:nvPr/>
        </p:nvSpPr>
        <p:spPr>
          <a:xfrm>
            <a:off x="3009900" y="3171825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7" name="Shape 32"/>
          <p:cNvSpPr/>
          <p:nvPr/>
        </p:nvSpPr>
        <p:spPr>
          <a:xfrm>
            <a:off x="1114425" y="3449687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3544937"/>
            <a:ext cx="209550" cy="2095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647825" y="3471118"/>
            <a:ext cx="47491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5" dirty="0"/>
          </a:p>
        </p:txBody>
      </p:sp>
      <p:sp>
        <p:nvSpPr>
          <p:cNvPr id="40" name="Text 34"/>
          <p:cNvSpPr/>
          <p:nvPr/>
        </p:nvSpPr>
        <p:spPr>
          <a:xfrm>
            <a:off x="1647825" y="3641973"/>
            <a:ext cx="474911" cy="224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ITOM</a:t>
            </a:r>
            <a:endParaRPr lang="en-US" sz="1275" dirty="0"/>
          </a:p>
        </p:txBody>
      </p:sp>
      <p:sp>
        <p:nvSpPr>
          <p:cNvPr id="41" name="Shape 35"/>
          <p:cNvSpPr/>
          <p:nvPr/>
        </p:nvSpPr>
        <p:spPr>
          <a:xfrm>
            <a:off x="7791450" y="3171825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2" name="Text 36"/>
          <p:cNvSpPr/>
          <p:nvPr/>
        </p:nvSpPr>
        <p:spPr>
          <a:xfrm>
            <a:off x="3209925" y="3532287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Centralized intake, severity matrix, templated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war-rooms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43" name="Shape 37"/>
          <p:cNvSpPr/>
          <p:nvPr/>
        </p:nvSpPr>
        <p:spPr>
          <a:xfrm>
            <a:off x="12573000" y="3171825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4" name="Text 38"/>
          <p:cNvSpPr/>
          <p:nvPr/>
        </p:nvSpPr>
        <p:spPr>
          <a:xfrm>
            <a:off x="7991475" y="3532287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Auto-classification, owner routing, guided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RCA workflows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45" name="Text 39"/>
          <p:cNvSpPr/>
          <p:nvPr/>
        </p:nvSpPr>
        <p:spPr>
          <a:xfrm>
            <a:off x="12773025" y="3415010"/>
            <a:ext cx="4532567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AI-drafted runbooks, auto-remediation,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prevention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46" name="Shape 40"/>
          <p:cNvSpPr/>
          <p:nvPr/>
        </p:nvSpPr>
        <p:spPr>
          <a:xfrm>
            <a:off x="923925" y="4127599"/>
            <a:ext cx="2095500" cy="95592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Shape 41"/>
          <p:cNvSpPr/>
          <p:nvPr/>
        </p:nvSpPr>
        <p:spPr>
          <a:xfrm>
            <a:off x="923925" y="4127599"/>
            <a:ext cx="20955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8" name="Shape 42"/>
          <p:cNvSpPr/>
          <p:nvPr/>
        </p:nvSpPr>
        <p:spPr>
          <a:xfrm>
            <a:off x="3009900" y="4127599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9" name="Shape 43"/>
          <p:cNvSpPr/>
          <p:nvPr/>
        </p:nvSpPr>
        <p:spPr>
          <a:xfrm>
            <a:off x="1114425" y="4410224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4505474"/>
            <a:ext cx="209550" cy="20955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647825" y="4431804"/>
            <a:ext cx="1207443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5" dirty="0"/>
          </a:p>
        </p:txBody>
      </p:sp>
      <p:sp>
        <p:nvSpPr>
          <p:cNvPr id="52" name="Text 45"/>
          <p:cNvSpPr/>
          <p:nvPr/>
        </p:nvSpPr>
        <p:spPr>
          <a:xfrm>
            <a:off x="1647825" y="4602659"/>
            <a:ext cx="1207443" cy="224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Insights</a:t>
            </a:r>
            <a:endParaRPr lang="en-US" sz="1275" dirty="0"/>
          </a:p>
        </p:txBody>
      </p:sp>
      <p:sp>
        <p:nvSpPr>
          <p:cNvPr id="53" name="Shape 46"/>
          <p:cNvSpPr/>
          <p:nvPr/>
        </p:nvSpPr>
        <p:spPr>
          <a:xfrm>
            <a:off x="3019425" y="4127599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4" name="Shape 47"/>
          <p:cNvSpPr/>
          <p:nvPr/>
        </p:nvSpPr>
        <p:spPr>
          <a:xfrm>
            <a:off x="7791450" y="4127599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5" name="Text 48"/>
          <p:cNvSpPr/>
          <p:nvPr/>
        </p:nvSpPr>
        <p:spPr>
          <a:xfrm>
            <a:off x="3209925" y="4492972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Baselines on metrics &amp; logs, basic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noise reduction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56" name="Shape 49"/>
          <p:cNvSpPr/>
          <p:nvPr/>
        </p:nvSpPr>
        <p:spPr>
          <a:xfrm>
            <a:off x="7800975" y="4127599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7" name="Shape 50"/>
          <p:cNvSpPr/>
          <p:nvPr/>
        </p:nvSpPr>
        <p:spPr>
          <a:xfrm>
            <a:off x="12573000" y="4127599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8" name="Text 51"/>
          <p:cNvSpPr/>
          <p:nvPr/>
        </p:nvSpPr>
        <p:spPr>
          <a:xfrm>
            <a:off x="7991475" y="4375547"/>
            <a:ext cx="452275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Multi-signal correlation, forecasting,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conversational queries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59" name="Shape 52"/>
          <p:cNvSpPr/>
          <p:nvPr/>
        </p:nvSpPr>
        <p:spPr>
          <a:xfrm>
            <a:off x="12582525" y="4127599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0" name="Text 53"/>
          <p:cNvSpPr/>
          <p:nvPr/>
        </p:nvSpPr>
        <p:spPr>
          <a:xfrm>
            <a:off x="12773025" y="4492972"/>
            <a:ext cx="453256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prevention,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autonomous root-cause synthesis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61" name="Shape 54"/>
          <p:cNvSpPr/>
          <p:nvPr/>
        </p:nvSpPr>
        <p:spPr>
          <a:xfrm>
            <a:off x="923925" y="5083522"/>
            <a:ext cx="2095500" cy="95577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Shape 55"/>
          <p:cNvSpPr/>
          <p:nvPr/>
        </p:nvSpPr>
        <p:spPr>
          <a:xfrm>
            <a:off x="923925" y="5083522"/>
            <a:ext cx="20955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3" name="Shape 56"/>
          <p:cNvSpPr/>
          <p:nvPr/>
        </p:nvSpPr>
        <p:spPr>
          <a:xfrm>
            <a:off x="3009900" y="5083522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4" name="Shape 57"/>
          <p:cNvSpPr/>
          <p:nvPr/>
        </p:nvSpPr>
        <p:spPr>
          <a:xfrm>
            <a:off x="1114425" y="5366147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75" y="5461397"/>
            <a:ext cx="209550" cy="209550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1647825" y="5387578"/>
            <a:ext cx="1208187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5" dirty="0"/>
          </a:p>
        </p:txBody>
      </p:sp>
      <p:sp>
        <p:nvSpPr>
          <p:cNvPr id="67" name="Text 59"/>
          <p:cNvSpPr/>
          <p:nvPr/>
        </p:nvSpPr>
        <p:spPr>
          <a:xfrm>
            <a:off x="1647825" y="5558433"/>
            <a:ext cx="1208187" cy="224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 Catalogue</a:t>
            </a:r>
            <a:endParaRPr lang="en-US" sz="1275" dirty="0"/>
          </a:p>
        </p:txBody>
      </p:sp>
      <p:sp>
        <p:nvSpPr>
          <p:cNvPr id="68" name="Shape 60"/>
          <p:cNvSpPr/>
          <p:nvPr/>
        </p:nvSpPr>
        <p:spPr>
          <a:xfrm>
            <a:off x="3019425" y="5083522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9" name="Shape 61"/>
          <p:cNvSpPr/>
          <p:nvPr/>
        </p:nvSpPr>
        <p:spPr>
          <a:xfrm>
            <a:off x="7791450" y="5083522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0" name="Text 62"/>
          <p:cNvSpPr/>
          <p:nvPr/>
        </p:nvSpPr>
        <p:spPr>
          <a:xfrm>
            <a:off x="3209925" y="5448746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registry, ownership, dependency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 baseline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71" name="Shape 63"/>
          <p:cNvSpPr/>
          <p:nvPr/>
        </p:nvSpPr>
        <p:spPr>
          <a:xfrm>
            <a:off x="7800975" y="5083522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2" name="Shape 64"/>
          <p:cNvSpPr/>
          <p:nvPr/>
        </p:nvSpPr>
        <p:spPr>
          <a:xfrm>
            <a:off x="12573000" y="5083522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3" name="Text 65"/>
          <p:cNvSpPr/>
          <p:nvPr/>
        </p:nvSpPr>
        <p:spPr>
          <a:xfrm>
            <a:off x="7991475" y="5448746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Auto-discovery, lifecycle &amp;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compliance enrichment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74" name="Shape 66"/>
          <p:cNvSpPr/>
          <p:nvPr/>
        </p:nvSpPr>
        <p:spPr>
          <a:xfrm>
            <a:off x="12582525" y="5083522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5" name="Text 67"/>
          <p:cNvSpPr/>
          <p:nvPr/>
        </p:nvSpPr>
        <p:spPr>
          <a:xfrm>
            <a:off x="12773025" y="5448746"/>
            <a:ext cx="453256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Live, self-updating catalogue,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AI-generated docs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76" name="Shape 68"/>
          <p:cNvSpPr/>
          <p:nvPr/>
        </p:nvSpPr>
        <p:spPr>
          <a:xfrm>
            <a:off x="923925" y="6039296"/>
            <a:ext cx="2095500" cy="95592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7" name="Shape 69"/>
          <p:cNvSpPr/>
          <p:nvPr/>
        </p:nvSpPr>
        <p:spPr>
          <a:xfrm>
            <a:off x="923925" y="6039296"/>
            <a:ext cx="20955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8" name="Shape 70"/>
          <p:cNvSpPr/>
          <p:nvPr/>
        </p:nvSpPr>
        <p:spPr>
          <a:xfrm>
            <a:off x="3009900" y="6039296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9" name="Shape 71"/>
          <p:cNvSpPr/>
          <p:nvPr/>
        </p:nvSpPr>
        <p:spPr>
          <a:xfrm>
            <a:off x="1114425" y="6321921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8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675" y="6417171"/>
            <a:ext cx="209550" cy="209550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1647825" y="6250335"/>
            <a:ext cx="124777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5" dirty="0"/>
          </a:p>
        </p:txBody>
      </p:sp>
      <p:sp>
        <p:nvSpPr>
          <p:cNvPr id="82" name="Text 73"/>
          <p:cNvSpPr/>
          <p:nvPr/>
        </p:nvSpPr>
        <p:spPr>
          <a:xfrm>
            <a:off x="1647825" y="6421189"/>
            <a:ext cx="124777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1275" dirty="0"/>
          </a:p>
        </p:txBody>
      </p:sp>
      <p:sp>
        <p:nvSpPr>
          <p:cNvPr id="83" name="Shape 74"/>
          <p:cNvSpPr/>
          <p:nvPr/>
        </p:nvSpPr>
        <p:spPr>
          <a:xfrm>
            <a:off x="3019425" y="6039296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4" name="Shape 75"/>
          <p:cNvSpPr/>
          <p:nvPr/>
        </p:nvSpPr>
        <p:spPr>
          <a:xfrm>
            <a:off x="7791450" y="6039296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5" name="Text 76"/>
          <p:cNvSpPr/>
          <p:nvPr/>
        </p:nvSpPr>
        <p:spPr>
          <a:xfrm>
            <a:off x="3209925" y="6404670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 CAB workflow, calendar,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templates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86" name="Shape 77"/>
          <p:cNvSpPr/>
          <p:nvPr/>
        </p:nvSpPr>
        <p:spPr>
          <a:xfrm>
            <a:off x="7800975" y="6039296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7" name="Shape 78"/>
          <p:cNvSpPr/>
          <p:nvPr/>
        </p:nvSpPr>
        <p:spPr>
          <a:xfrm>
            <a:off x="12573000" y="6039296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8" name="Text 79"/>
          <p:cNvSpPr/>
          <p:nvPr/>
        </p:nvSpPr>
        <p:spPr>
          <a:xfrm>
            <a:off x="7991475" y="6404670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Risk-scored auto-approvals,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policy-as-code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89" name="Shape 80"/>
          <p:cNvSpPr/>
          <p:nvPr/>
        </p:nvSpPr>
        <p:spPr>
          <a:xfrm>
            <a:off x="12582525" y="6039296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0" name="Text 81"/>
          <p:cNvSpPr/>
          <p:nvPr/>
        </p:nvSpPr>
        <p:spPr>
          <a:xfrm>
            <a:off x="12773025" y="6404670"/>
            <a:ext cx="453256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AI-assisted review,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auto-rollback on regressions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91" name="Shape 82"/>
          <p:cNvSpPr/>
          <p:nvPr/>
        </p:nvSpPr>
        <p:spPr>
          <a:xfrm>
            <a:off x="923925" y="6995220"/>
            <a:ext cx="2095500" cy="95577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2" name="Shape 83"/>
          <p:cNvSpPr/>
          <p:nvPr/>
        </p:nvSpPr>
        <p:spPr>
          <a:xfrm>
            <a:off x="923925" y="6995220"/>
            <a:ext cx="20955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3" name="Shape 84"/>
          <p:cNvSpPr/>
          <p:nvPr/>
        </p:nvSpPr>
        <p:spPr>
          <a:xfrm>
            <a:off x="3009900" y="6995220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4" name="Shape 85"/>
          <p:cNvSpPr/>
          <p:nvPr/>
        </p:nvSpPr>
        <p:spPr>
          <a:xfrm>
            <a:off x="1114425" y="7277844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9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75" y="7373094"/>
            <a:ext cx="209550" cy="209550"/>
          </a:xfrm>
          <a:prstGeom prst="rect">
            <a:avLst/>
          </a:prstGeom>
        </p:spPr>
      </p:pic>
      <p:sp>
        <p:nvSpPr>
          <p:cNvPr id="96" name="Text 86"/>
          <p:cNvSpPr/>
          <p:nvPr/>
        </p:nvSpPr>
        <p:spPr>
          <a:xfrm>
            <a:off x="1647825" y="7206258"/>
            <a:ext cx="124777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5" dirty="0"/>
          </a:p>
        </p:txBody>
      </p:sp>
      <p:sp>
        <p:nvSpPr>
          <p:cNvPr id="97" name="Text 87"/>
          <p:cNvSpPr/>
          <p:nvPr/>
        </p:nvSpPr>
        <p:spPr>
          <a:xfrm>
            <a:off x="1647825" y="7377113"/>
            <a:ext cx="124777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1275" dirty="0"/>
          </a:p>
        </p:txBody>
      </p:sp>
      <p:sp>
        <p:nvSpPr>
          <p:cNvPr id="98" name="Shape 88"/>
          <p:cNvSpPr/>
          <p:nvPr/>
        </p:nvSpPr>
        <p:spPr>
          <a:xfrm>
            <a:off x="3019425" y="6995220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99" name="Shape 89"/>
          <p:cNvSpPr/>
          <p:nvPr/>
        </p:nvSpPr>
        <p:spPr>
          <a:xfrm>
            <a:off x="7791450" y="6995220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0" name="Text 90"/>
          <p:cNvSpPr/>
          <p:nvPr/>
        </p:nvSpPr>
        <p:spPr>
          <a:xfrm>
            <a:off x="3209925" y="7360444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definitions, error budgets,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 scorecards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01" name="Shape 91"/>
          <p:cNvSpPr/>
          <p:nvPr/>
        </p:nvSpPr>
        <p:spPr>
          <a:xfrm>
            <a:off x="7800975" y="6995220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2" name="Shape 92"/>
          <p:cNvSpPr/>
          <p:nvPr/>
        </p:nvSpPr>
        <p:spPr>
          <a:xfrm>
            <a:off x="12573000" y="6995220"/>
            <a:ext cx="9525" cy="95577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3" name="Text 93"/>
          <p:cNvSpPr/>
          <p:nvPr/>
        </p:nvSpPr>
        <p:spPr>
          <a:xfrm>
            <a:off x="7991475" y="7360444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DORA metrics, leading indicators,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nudges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04" name="Shape 94"/>
          <p:cNvSpPr/>
          <p:nvPr/>
        </p:nvSpPr>
        <p:spPr>
          <a:xfrm>
            <a:off x="12582525" y="6995220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5" name="Text 95"/>
          <p:cNvSpPr/>
          <p:nvPr/>
        </p:nvSpPr>
        <p:spPr>
          <a:xfrm>
            <a:off x="12773025" y="7360444"/>
            <a:ext cx="453256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Closed-loop SLOs,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portfolio-level reliability AI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06" name="Shape 96"/>
          <p:cNvSpPr/>
          <p:nvPr/>
        </p:nvSpPr>
        <p:spPr>
          <a:xfrm>
            <a:off x="923925" y="7950994"/>
            <a:ext cx="2095500" cy="95592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7" name="Shape 97"/>
          <p:cNvSpPr/>
          <p:nvPr/>
        </p:nvSpPr>
        <p:spPr>
          <a:xfrm>
            <a:off x="923925" y="7950994"/>
            <a:ext cx="20955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8" name="Shape 98"/>
          <p:cNvSpPr/>
          <p:nvPr/>
        </p:nvSpPr>
        <p:spPr>
          <a:xfrm>
            <a:off x="3009900" y="7950994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09" name="Shape 99"/>
          <p:cNvSpPr/>
          <p:nvPr/>
        </p:nvSpPr>
        <p:spPr>
          <a:xfrm>
            <a:off x="1114425" y="8233618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pic>
        <p:nvPicPr>
          <p:cNvPr id="1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675" y="8328868"/>
            <a:ext cx="209550" cy="209550"/>
          </a:xfrm>
          <a:prstGeom prst="rect">
            <a:avLst/>
          </a:prstGeom>
        </p:spPr>
      </p:pic>
      <p:sp>
        <p:nvSpPr>
          <p:cNvPr id="111" name="Text 100"/>
          <p:cNvSpPr/>
          <p:nvPr/>
        </p:nvSpPr>
        <p:spPr>
          <a:xfrm>
            <a:off x="1647825" y="8255198"/>
            <a:ext cx="87883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1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25" dirty="0"/>
          </a:p>
        </p:txBody>
      </p:sp>
      <p:sp>
        <p:nvSpPr>
          <p:cNvPr id="112" name="Text 101"/>
          <p:cNvSpPr/>
          <p:nvPr/>
        </p:nvSpPr>
        <p:spPr>
          <a:xfrm>
            <a:off x="1647825" y="8426053"/>
            <a:ext cx="878830" cy="224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75" b="1" spc="-6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1275" dirty="0"/>
          </a:p>
        </p:txBody>
      </p:sp>
      <p:sp>
        <p:nvSpPr>
          <p:cNvPr id="113" name="Shape 102"/>
          <p:cNvSpPr/>
          <p:nvPr/>
        </p:nvSpPr>
        <p:spPr>
          <a:xfrm>
            <a:off x="3019425" y="7950994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4" name="Shape 103"/>
          <p:cNvSpPr/>
          <p:nvPr/>
        </p:nvSpPr>
        <p:spPr>
          <a:xfrm>
            <a:off x="7791450" y="7950994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5" name="Text 104"/>
          <p:cNvSpPr/>
          <p:nvPr/>
        </p:nvSpPr>
        <p:spPr>
          <a:xfrm>
            <a:off x="3209925" y="8316367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job inventory, scheduling,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SLA tracking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16" name="Shape 105"/>
          <p:cNvSpPr/>
          <p:nvPr/>
        </p:nvSpPr>
        <p:spPr>
          <a:xfrm>
            <a:off x="7800975" y="7950994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7" name="Shape 106"/>
          <p:cNvSpPr/>
          <p:nvPr/>
        </p:nvSpPr>
        <p:spPr>
          <a:xfrm>
            <a:off x="12573000" y="7950994"/>
            <a:ext cx="9525" cy="955923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8" name="Text 107"/>
          <p:cNvSpPr/>
          <p:nvPr/>
        </p:nvSpPr>
        <p:spPr>
          <a:xfrm>
            <a:off x="7991475" y="8316367"/>
            <a:ext cx="452275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retry &amp; replay, dependency-aware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19" name="Shape 108"/>
          <p:cNvSpPr/>
          <p:nvPr/>
        </p:nvSpPr>
        <p:spPr>
          <a:xfrm>
            <a:off x="12582525" y="7950994"/>
            <a:ext cx="47815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0" name="Text 109"/>
          <p:cNvSpPr/>
          <p:nvPr/>
        </p:nvSpPr>
        <p:spPr>
          <a:xfrm>
            <a:off x="12773025" y="8316367"/>
            <a:ext cx="4532567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Self-healing pipelines, </a:t>
            </a:r>
            <a:pPr algn="l" indent="0" marL="0">
              <a:lnSpc>
                <a:spcPct val="145000"/>
              </a:lnSpc>
              <a:buNone/>
            </a:pPr>
            <a:r>
              <a:rPr lang="en-US" sz="127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scheduling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275" dirty="0"/>
          </a:p>
        </p:txBody>
      </p:sp>
      <p:sp>
        <p:nvSpPr>
          <p:cNvPr id="121" name="Shape 110"/>
          <p:cNvSpPr/>
          <p:nvPr/>
        </p:nvSpPr>
        <p:spPr>
          <a:xfrm>
            <a:off x="914400" y="9049792"/>
            <a:ext cx="5397401" cy="427583"/>
          </a:xfrm>
          <a:prstGeom prst="roundRect">
            <a:avLst>
              <a:gd name="adj" fmla="val 13366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22" name="Text 111"/>
          <p:cNvSpPr/>
          <p:nvPr/>
        </p:nvSpPr>
        <p:spPr>
          <a:xfrm>
            <a:off x="1076325" y="9202192"/>
            <a:ext cx="4638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</a:t>
            </a:r>
            <a:endParaRPr lang="en-US" sz="825" dirty="0"/>
          </a:p>
        </p:txBody>
      </p:sp>
      <p:sp>
        <p:nvSpPr>
          <p:cNvPr id="123" name="Text 112"/>
          <p:cNvSpPr/>
          <p:nvPr/>
        </p:nvSpPr>
        <p:spPr>
          <a:xfrm>
            <a:off x="1559272" y="9173617"/>
            <a:ext cx="286244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Single source of truth 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the SRE estate.</a:t>
            </a:r>
            <a:endParaRPr lang="en-US" sz="1050" dirty="0"/>
          </a:p>
        </p:txBody>
      </p:sp>
      <p:sp>
        <p:nvSpPr>
          <p:cNvPr id="124" name="Shape 113"/>
          <p:cNvSpPr/>
          <p:nvPr/>
        </p:nvSpPr>
        <p:spPr>
          <a:xfrm>
            <a:off x="6445151" y="9049792"/>
            <a:ext cx="5397550" cy="427583"/>
          </a:xfrm>
          <a:prstGeom prst="roundRect">
            <a:avLst>
              <a:gd name="adj" fmla="val 13366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25" name="Text 114"/>
          <p:cNvSpPr/>
          <p:nvPr/>
        </p:nvSpPr>
        <p:spPr>
          <a:xfrm>
            <a:off x="6607076" y="9202192"/>
            <a:ext cx="3863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825" dirty="0"/>
          </a:p>
        </p:txBody>
      </p:sp>
      <p:sp>
        <p:nvSpPr>
          <p:cNvPr id="126" name="Text 115"/>
          <p:cNvSpPr/>
          <p:nvPr/>
        </p:nvSpPr>
        <p:spPr>
          <a:xfrm>
            <a:off x="7012484" y="9173617"/>
            <a:ext cx="2717578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50% MTTR reduction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federated ownership.</a:t>
            </a:r>
            <a:endParaRPr lang="en-US" sz="1050" dirty="0"/>
          </a:p>
        </p:txBody>
      </p:sp>
      <p:sp>
        <p:nvSpPr>
          <p:cNvPr id="127" name="Shape 116"/>
          <p:cNvSpPr/>
          <p:nvPr/>
        </p:nvSpPr>
        <p:spPr>
          <a:xfrm>
            <a:off x="11976050" y="9049792"/>
            <a:ext cx="5397550" cy="427583"/>
          </a:xfrm>
          <a:prstGeom prst="roundRect">
            <a:avLst>
              <a:gd name="adj" fmla="val 13366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28" name="Text 117"/>
          <p:cNvSpPr/>
          <p:nvPr/>
        </p:nvSpPr>
        <p:spPr>
          <a:xfrm>
            <a:off x="12137975" y="9202192"/>
            <a:ext cx="3088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A84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25" dirty="0"/>
          </a:p>
        </p:txBody>
      </p:sp>
      <p:sp>
        <p:nvSpPr>
          <p:cNvPr id="129" name="Text 118"/>
          <p:cNvSpPr/>
          <p:nvPr/>
        </p:nvSpPr>
        <p:spPr>
          <a:xfrm>
            <a:off x="12465844" y="9173617"/>
            <a:ext cx="3017572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Autonomous AIOps 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closed-loop, self-healing.</a:t>
            </a:r>
            <a:endParaRPr lang="en-US" sz="1050" dirty="0"/>
          </a:p>
        </p:txBody>
      </p:sp>
      <p:sp>
        <p:nvSpPr>
          <p:cNvPr id="130" name="Shape 119"/>
          <p:cNvSpPr/>
          <p:nvPr/>
        </p:nvSpPr>
        <p:spPr>
          <a:xfrm>
            <a:off x="914400" y="9667875"/>
            <a:ext cx="16459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1" name="Text 120"/>
          <p:cNvSpPr/>
          <p:nvPr/>
        </p:nvSpPr>
        <p:spPr>
          <a:xfrm>
            <a:off x="914400" y="9820275"/>
            <a:ext cx="238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AIOPS · CAPABILITY DECK</a:t>
            </a:r>
            <a:endParaRPr lang="en-US" sz="1050" dirty="0"/>
          </a:p>
        </p:txBody>
      </p:sp>
      <p:sp>
        <p:nvSpPr>
          <p:cNvPr id="132" name="Text 121"/>
          <p:cNvSpPr/>
          <p:nvPr/>
        </p:nvSpPr>
        <p:spPr>
          <a:xfrm>
            <a:off x="16745843" y="9810750"/>
            <a:ext cx="7039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C9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PGM </a:t>
            </a:r>
            <a:pPr algn="l" indent="0" marL="0">
              <a:buNone/>
            </a:pPr>
            <a:r>
              <a:rPr lang="en-US" sz="1050" spc="126" kern="0" dirty="0">
                <a:solidFill>
                  <a:srgbClr val="7A70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2026-05-06T03:18:18Z</dcterms:created>
  <dcterms:modified xsi:type="dcterms:W3CDTF">2026-05-06T03:18:18Z</dcterms:modified>
</cp:coreProperties>
</file>