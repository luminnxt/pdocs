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60" r:id="rId4"/>
    <p:sldId id="263" r:id="rId5"/>
    <p:sldId id="265" r:id="rId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75" d="100"/>
          <a:sy n="75" d="100"/>
        </p:scale>
        <p:origin x="226" y="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986915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Goal of this deck: get approval to adopt blue-green deployment on our EKS platform. Headline benefits: zero customer-facing downtime during releases, and rollback measured in seconds.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Frame the pain in business terms: downtime, slow recovery, and the cultural cost of fear-driven releases.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Important: we do NOT split one pool. We temporarily double capacity (3 to 6 to 3) so the new version is at full strength before and after the switch.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Emphasize the gate at step 2 (no cut-over without passing smoke tests) and the discipline at step 5 (don't scale Green down too early).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are the guardrails that make blue-green safe in practice. They become part of our deployment runbook and CI/CD checks.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080000">
            <a:off x="9144000" y="-1097280"/>
            <a:ext cx="2926080" cy="2926080"/>
          </a:xfrm>
          <a:prstGeom prst="roundRect">
            <a:avLst>
              <a:gd name="adj" fmla="val 9375"/>
            </a:avLst>
          </a:prstGeom>
          <a:solidFill>
            <a:srgbClr val="2E8B57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 rot="1080000">
            <a:off x="10058400" y="914400"/>
            <a:ext cx="2743200" cy="2743200"/>
          </a:xfrm>
          <a:prstGeom prst="roundRect">
            <a:avLst>
              <a:gd name="adj" fmla="val 10000"/>
            </a:avLst>
          </a:prstGeom>
          <a:solidFill>
            <a:srgbClr val="2D6CDF">
              <a:alpha val="5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2057400"/>
            <a:ext cx="8686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Zero-Downtime Releases</a:t>
            </a:r>
            <a:endParaRPr lang="en-US" sz="46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731520" y="2880360"/>
            <a:ext cx="8686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with</a:t>
            </a:r>
            <a:r>
              <a:rPr lang="en-US" sz="40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r>
              <a:rPr lang="en-US" sz="4000" b="1" dirty="0">
                <a:solidFill>
                  <a:schemeClr val="accent1">
                    <a:lumMod val="75000"/>
                  </a:scheme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Blue</a:t>
            </a:r>
            <a:r>
              <a:rPr lang="en-US" sz="40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-</a:t>
            </a:r>
            <a:r>
              <a:rPr lang="en-US" sz="4000" b="1" dirty="0">
                <a:solidFill>
                  <a:schemeClr val="accent6">
                    <a:lumMod val="75000"/>
                  </a:scheme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Green</a:t>
            </a:r>
            <a:r>
              <a:rPr lang="en-US" sz="40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r>
              <a:rPr lang="en-US" sz="4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Deployment</a:t>
            </a:r>
            <a:endParaRPr lang="en-US" sz="4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6" name="Text 4"/>
          <p:cNvSpPr/>
          <p:nvPr/>
        </p:nvSpPr>
        <p:spPr>
          <a:xfrm>
            <a:off x="749808" y="379476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Eliminating release risk and instant rollback on AWS EKS</a:t>
            </a:r>
            <a:endParaRPr lang="en-US" sz="19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7" name="Shape 5"/>
          <p:cNvSpPr/>
          <p:nvPr/>
        </p:nvSpPr>
        <p:spPr>
          <a:xfrm>
            <a:off x="777240" y="4526280"/>
            <a:ext cx="2926080" cy="0"/>
          </a:xfrm>
          <a:prstGeom prst="line">
            <a:avLst/>
          </a:prstGeom>
          <a:noFill/>
          <a:ln w="19050">
            <a:solidFill>
              <a:srgbClr val="3A4B7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9808" y="46634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8C9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Engineering  ·  Project Approval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137160" cy="137160"/>
          </a:xfrm>
          <a:prstGeom prst="rect">
            <a:avLst/>
          </a:prstGeom>
          <a:solidFill>
            <a:srgbClr val="2E8B57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649224"/>
            <a:ext cx="137160" cy="137160"/>
          </a:xfrm>
          <a:prstGeom prst="rect">
            <a:avLst/>
          </a:prstGeom>
          <a:solidFill>
            <a:srgbClr val="2D6CDF"/>
          </a:solidFill>
          <a:ln/>
        </p:spPr>
      </p:sp>
      <p:sp>
        <p:nvSpPr>
          <p:cNvPr id="4" name="Text 2"/>
          <p:cNvSpPr/>
          <p:nvPr/>
        </p:nvSpPr>
        <p:spPr>
          <a:xfrm>
            <a:off x="868680" y="384048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problem we're solving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868680" y="11430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release today carries avoidable risk that customers feel directly.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17512" y="1817001"/>
            <a:ext cx="2907869" cy="169248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5875">
            <a:solidFill>
              <a:srgbClr val="C9D1DE"/>
            </a:solidFill>
            <a:prstDash val="solid"/>
          </a:ln>
          <a:effectLst>
            <a:outerShdw blurRad="889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64200" y="2003704"/>
            <a:ext cx="500199" cy="500199"/>
          </a:xfrm>
          <a:prstGeom prst="ellipse">
            <a:avLst/>
          </a:prstGeom>
          <a:solidFill>
            <a:srgbClr val="F8E7E5"/>
          </a:solidFill>
          <a:ln/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873" y="2156105"/>
            <a:ext cx="206424" cy="20642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918936" y="1973224"/>
            <a:ext cx="19686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Downtime during releases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18936" y="2576728"/>
            <a:ext cx="194467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2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Rolling updates briefly mix old and new pods; a bad version reaches live customers immediately.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3143582" y="1798648"/>
            <a:ext cx="2907869" cy="169248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5875">
            <a:solidFill>
              <a:srgbClr val="C9D1DE"/>
            </a:solidFill>
            <a:prstDash val="solid"/>
          </a:ln>
          <a:effectLst>
            <a:outerShdw blurRad="889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280542" y="2003704"/>
            <a:ext cx="500199" cy="500199"/>
          </a:xfrm>
          <a:prstGeom prst="ellipse">
            <a:avLst/>
          </a:prstGeom>
          <a:solidFill>
            <a:srgbClr val="F8E7E5"/>
          </a:solidFill>
          <a:ln/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32943" y="2156105"/>
            <a:ext cx="206424" cy="206424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945006" y="1973224"/>
            <a:ext cx="19686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Painful, slow rollbacks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945006" y="2576728"/>
            <a:ext cx="194467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2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Reverting means rebuilding and redeploying under pressure while users are already impacted.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6156687" y="1798648"/>
            <a:ext cx="2907869" cy="169248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5875">
            <a:solidFill>
              <a:srgbClr val="C9D1DE"/>
            </a:solidFill>
            <a:prstDash val="solid"/>
          </a:ln>
          <a:effectLst>
            <a:outerShdw blurRad="889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293647" y="2003704"/>
            <a:ext cx="500199" cy="500199"/>
          </a:xfrm>
          <a:prstGeom prst="ellipse">
            <a:avLst/>
          </a:prstGeom>
          <a:solidFill>
            <a:srgbClr val="F8E7E5"/>
          </a:solidFill>
          <a:ln/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46048" y="2131721"/>
            <a:ext cx="206424" cy="206424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958111" y="1973224"/>
            <a:ext cx="19686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Fear slows the cadence</a:t>
            </a:r>
            <a:endParaRPr lang="en-US" sz="1600" dirty="0"/>
          </a:p>
        </p:txBody>
      </p:sp>
      <p:sp>
        <p:nvSpPr>
          <p:cNvPr id="20" name="Text 15"/>
          <p:cNvSpPr/>
          <p:nvPr/>
        </p:nvSpPr>
        <p:spPr>
          <a:xfrm>
            <a:off x="6958111" y="2576728"/>
            <a:ext cx="194467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2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Risky releases lead to fewer, larger, riskier deployments — the opposite of what we want.</a:t>
            </a:r>
            <a:endParaRPr lang="en-US" sz="1200" dirty="0"/>
          </a:p>
        </p:txBody>
      </p:sp>
      <p:sp>
        <p:nvSpPr>
          <p:cNvPr id="21" name="Shape 16"/>
          <p:cNvSpPr/>
          <p:nvPr/>
        </p:nvSpPr>
        <p:spPr>
          <a:xfrm>
            <a:off x="9160064" y="1803188"/>
            <a:ext cx="2907869" cy="169248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5875">
            <a:solidFill>
              <a:srgbClr val="C9D1DE"/>
            </a:solidFill>
            <a:prstDash val="solid"/>
          </a:ln>
          <a:effectLst>
            <a:outerShdw blurRad="889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9297024" y="2008244"/>
            <a:ext cx="500199" cy="500199"/>
          </a:xfrm>
          <a:prstGeom prst="ellipse">
            <a:avLst/>
          </a:prstGeom>
          <a:solidFill>
            <a:srgbClr val="F8E7E5"/>
          </a:solidFill>
          <a:ln/>
        </p:spPr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49425" y="2160645"/>
            <a:ext cx="206424" cy="206424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9961488" y="1977764"/>
            <a:ext cx="19686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Customer &amp; revenue impact</a:t>
            </a:r>
            <a:endParaRPr lang="en-US" sz="1600" dirty="0"/>
          </a:p>
        </p:txBody>
      </p:sp>
      <p:sp>
        <p:nvSpPr>
          <p:cNvPr id="25" name="Text 19"/>
          <p:cNvSpPr/>
          <p:nvPr/>
        </p:nvSpPr>
        <p:spPr>
          <a:xfrm>
            <a:off x="9961488" y="2581268"/>
            <a:ext cx="194467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2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minute of a broken release erodes trust and costs revenue we can't recover.</a:t>
            </a:r>
            <a:endParaRPr lang="en-US" sz="1200" dirty="0"/>
          </a:p>
        </p:txBody>
      </p:sp>
      <p:sp>
        <p:nvSpPr>
          <p:cNvPr id="26" name="Shape 0">
            <a:extLst>
              <a:ext uri="{FF2B5EF4-FFF2-40B4-BE49-F238E27FC236}">
                <a16:creationId xmlns:a16="http://schemas.microsoft.com/office/drawing/2014/main" id="{9772E12E-241A-EF83-B4DF-F3BA35BC2C8A}"/>
              </a:ext>
            </a:extLst>
          </p:cNvPr>
          <p:cNvSpPr/>
          <p:nvPr/>
        </p:nvSpPr>
        <p:spPr>
          <a:xfrm>
            <a:off x="548640" y="3928940"/>
            <a:ext cx="137160" cy="137160"/>
          </a:xfrm>
          <a:prstGeom prst="rect">
            <a:avLst/>
          </a:prstGeom>
          <a:solidFill>
            <a:srgbClr val="2E8B57"/>
          </a:solidFill>
          <a:ln/>
        </p:spPr>
      </p:sp>
      <p:sp>
        <p:nvSpPr>
          <p:cNvPr id="27" name="Shape 1">
            <a:extLst>
              <a:ext uri="{FF2B5EF4-FFF2-40B4-BE49-F238E27FC236}">
                <a16:creationId xmlns:a16="http://schemas.microsoft.com/office/drawing/2014/main" id="{6D8D9D95-02E3-3B40-1991-41A42EF75AAB}"/>
              </a:ext>
            </a:extLst>
          </p:cNvPr>
          <p:cNvSpPr/>
          <p:nvPr/>
        </p:nvSpPr>
        <p:spPr>
          <a:xfrm>
            <a:off x="548640" y="4102676"/>
            <a:ext cx="137160" cy="137160"/>
          </a:xfrm>
          <a:prstGeom prst="rect">
            <a:avLst/>
          </a:prstGeom>
          <a:solidFill>
            <a:srgbClr val="2D6CDF"/>
          </a:solidFill>
          <a:ln/>
        </p:spPr>
      </p:sp>
      <p:sp>
        <p:nvSpPr>
          <p:cNvPr id="28" name="Text 2">
            <a:extLst>
              <a:ext uri="{FF2B5EF4-FFF2-40B4-BE49-F238E27FC236}">
                <a16:creationId xmlns:a16="http://schemas.microsoft.com/office/drawing/2014/main" id="{B837277D-6662-DFBB-2F52-AEC45A3BC255}"/>
              </a:ext>
            </a:extLst>
          </p:cNvPr>
          <p:cNvSpPr/>
          <p:nvPr/>
        </p:nvSpPr>
        <p:spPr>
          <a:xfrm>
            <a:off x="868680" y="383750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is blue-green deployment?</a:t>
            </a:r>
            <a:endParaRPr lang="en-US" sz="2900" dirty="0"/>
          </a:p>
        </p:txBody>
      </p:sp>
      <p:sp>
        <p:nvSpPr>
          <p:cNvPr id="29" name="Text 3">
            <a:extLst>
              <a:ext uri="{FF2B5EF4-FFF2-40B4-BE49-F238E27FC236}">
                <a16:creationId xmlns:a16="http://schemas.microsoft.com/office/drawing/2014/main" id="{C3A32A9E-42EF-138C-E081-CC17E39D5D06}"/>
              </a:ext>
            </a:extLst>
          </p:cNvPr>
          <p:cNvSpPr/>
          <p:nvPr/>
        </p:nvSpPr>
        <p:spPr>
          <a:xfrm>
            <a:off x="868680" y="4540098"/>
            <a:ext cx="5212080" cy="193385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2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two identical environments side by side.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2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one serves customers at any time; the other holds the new version.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2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all traffic to the new version in seconds — and switch back just as fast.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2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old version is kept running as a safety net until the new one is trusted.</a:t>
            </a:r>
            <a:endParaRPr lang="en-US" sz="1400" dirty="0"/>
          </a:p>
        </p:txBody>
      </p:sp>
      <p:sp>
        <p:nvSpPr>
          <p:cNvPr id="30" name="Shape 4">
            <a:extLst>
              <a:ext uri="{FF2B5EF4-FFF2-40B4-BE49-F238E27FC236}">
                <a16:creationId xmlns:a16="http://schemas.microsoft.com/office/drawing/2014/main" id="{B3EEF743-462A-C3E0-DED1-0417CA7E84AF}"/>
              </a:ext>
            </a:extLst>
          </p:cNvPr>
          <p:cNvSpPr/>
          <p:nvPr/>
        </p:nvSpPr>
        <p:spPr>
          <a:xfrm>
            <a:off x="7664232" y="3922222"/>
            <a:ext cx="1799807" cy="1199871"/>
          </a:xfrm>
          <a:prstGeom prst="roundRect">
            <a:avLst>
              <a:gd name="adj" fmla="val 5294"/>
            </a:avLst>
          </a:prstGeom>
          <a:solidFill>
            <a:srgbClr val="E4F3EA"/>
          </a:solidFill>
          <a:ln w="15875">
            <a:solidFill>
              <a:srgbClr val="2E8B57"/>
            </a:solidFill>
            <a:prstDash val="solid"/>
          </a:ln>
          <a:effectLst>
            <a:outerShdw blurRad="889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1" name="Text 5">
            <a:extLst>
              <a:ext uri="{FF2B5EF4-FFF2-40B4-BE49-F238E27FC236}">
                <a16:creationId xmlns:a16="http://schemas.microsoft.com/office/drawing/2014/main" id="{33667053-3911-4F4F-95A9-BF483F2D69D2}"/>
              </a:ext>
            </a:extLst>
          </p:cNvPr>
          <p:cNvSpPr/>
          <p:nvPr/>
        </p:nvSpPr>
        <p:spPr>
          <a:xfrm>
            <a:off x="7608685" y="4123286"/>
            <a:ext cx="1799807" cy="3176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5C3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GREEN</a:t>
            </a:r>
            <a:endParaRPr lang="en-US" sz="1600" dirty="0"/>
          </a:p>
        </p:txBody>
      </p:sp>
      <p:sp>
        <p:nvSpPr>
          <p:cNvPr id="32" name="Text 6">
            <a:extLst>
              <a:ext uri="{FF2B5EF4-FFF2-40B4-BE49-F238E27FC236}">
                <a16:creationId xmlns:a16="http://schemas.microsoft.com/office/drawing/2014/main" id="{40B20BE7-88BF-461E-E186-3BC16CBA2FBD}"/>
              </a:ext>
            </a:extLst>
          </p:cNvPr>
          <p:cNvSpPr/>
          <p:nvPr/>
        </p:nvSpPr>
        <p:spPr>
          <a:xfrm>
            <a:off x="7608687" y="4404218"/>
            <a:ext cx="1799805" cy="247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E5C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version</a:t>
            </a:r>
            <a:endParaRPr lang="en-US" sz="1200" dirty="0"/>
          </a:p>
        </p:txBody>
      </p:sp>
      <p:sp>
        <p:nvSpPr>
          <p:cNvPr id="33" name="Text 7">
            <a:extLst>
              <a:ext uri="{FF2B5EF4-FFF2-40B4-BE49-F238E27FC236}">
                <a16:creationId xmlns:a16="http://schemas.microsoft.com/office/drawing/2014/main" id="{2FEF5EF5-BC6C-CAA2-34E2-A77DB7655F04}"/>
              </a:ext>
            </a:extLst>
          </p:cNvPr>
          <p:cNvSpPr/>
          <p:nvPr/>
        </p:nvSpPr>
        <p:spPr>
          <a:xfrm>
            <a:off x="8225354" y="4690934"/>
            <a:ext cx="578473" cy="193058"/>
          </a:xfrm>
          <a:prstGeom prst="rect">
            <a:avLst/>
          </a:prstGeom>
          <a:solidFill>
            <a:srgbClr val="2E8B57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</a:t>
            </a:r>
            <a:endParaRPr lang="en-US" sz="1200" dirty="0"/>
          </a:p>
        </p:txBody>
      </p:sp>
      <p:sp>
        <p:nvSpPr>
          <p:cNvPr id="34" name="Shape 8">
            <a:extLst>
              <a:ext uri="{FF2B5EF4-FFF2-40B4-BE49-F238E27FC236}">
                <a16:creationId xmlns:a16="http://schemas.microsoft.com/office/drawing/2014/main" id="{163451A1-EBFE-C8C6-DC5E-E8B7B0C855A8}"/>
              </a:ext>
            </a:extLst>
          </p:cNvPr>
          <p:cNvSpPr/>
          <p:nvPr/>
        </p:nvSpPr>
        <p:spPr>
          <a:xfrm>
            <a:off x="7664232" y="5287173"/>
            <a:ext cx="1799807" cy="1199871"/>
          </a:xfrm>
          <a:prstGeom prst="roundRect">
            <a:avLst>
              <a:gd name="adj" fmla="val 5294"/>
            </a:avLst>
          </a:prstGeom>
          <a:solidFill>
            <a:srgbClr val="E5EEFC"/>
          </a:solidFill>
          <a:ln w="15875">
            <a:solidFill>
              <a:srgbClr val="2D6CDF"/>
            </a:solidFill>
            <a:prstDash val="solid"/>
          </a:ln>
          <a:effectLst>
            <a:outerShdw blurRad="889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5" name="Text 9">
            <a:extLst>
              <a:ext uri="{FF2B5EF4-FFF2-40B4-BE49-F238E27FC236}">
                <a16:creationId xmlns:a16="http://schemas.microsoft.com/office/drawing/2014/main" id="{84880362-6229-0318-992A-E02CF95092A2}"/>
              </a:ext>
            </a:extLst>
          </p:cNvPr>
          <p:cNvSpPr/>
          <p:nvPr/>
        </p:nvSpPr>
        <p:spPr>
          <a:xfrm>
            <a:off x="7608685" y="5488237"/>
            <a:ext cx="1799807" cy="3176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489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BLUE</a:t>
            </a:r>
            <a:endParaRPr lang="en-US" sz="1600" dirty="0"/>
          </a:p>
        </p:txBody>
      </p:sp>
      <p:sp>
        <p:nvSpPr>
          <p:cNvPr id="36" name="Text 10">
            <a:extLst>
              <a:ext uri="{FF2B5EF4-FFF2-40B4-BE49-F238E27FC236}">
                <a16:creationId xmlns:a16="http://schemas.microsoft.com/office/drawing/2014/main" id="{4B11557E-B9C1-00FC-DC5D-C83D836FC0D4}"/>
              </a:ext>
            </a:extLst>
          </p:cNvPr>
          <p:cNvSpPr/>
          <p:nvPr/>
        </p:nvSpPr>
        <p:spPr>
          <a:xfrm>
            <a:off x="7608687" y="5769169"/>
            <a:ext cx="1799805" cy="247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4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version</a:t>
            </a:r>
            <a:endParaRPr lang="en-US" sz="1200" dirty="0"/>
          </a:p>
        </p:txBody>
      </p:sp>
      <p:sp>
        <p:nvSpPr>
          <p:cNvPr id="37" name="Text 11">
            <a:extLst>
              <a:ext uri="{FF2B5EF4-FFF2-40B4-BE49-F238E27FC236}">
                <a16:creationId xmlns:a16="http://schemas.microsoft.com/office/drawing/2014/main" id="{F727174F-F830-CBF8-61CE-44AA52BCD4F8}"/>
              </a:ext>
            </a:extLst>
          </p:cNvPr>
          <p:cNvSpPr/>
          <p:nvPr/>
        </p:nvSpPr>
        <p:spPr>
          <a:xfrm>
            <a:off x="8150773" y="6055885"/>
            <a:ext cx="752014" cy="193058"/>
          </a:xfrm>
          <a:prstGeom prst="rect">
            <a:avLst/>
          </a:prstGeom>
          <a:solidFill>
            <a:srgbClr val="2D6CDF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STANDBY</a:t>
            </a:r>
            <a:endParaRPr lang="en-US" sz="1200" dirty="0"/>
          </a:p>
        </p:txBody>
      </p:sp>
      <p:sp>
        <p:nvSpPr>
          <p:cNvPr id="38" name="Shape 12">
            <a:extLst>
              <a:ext uri="{FF2B5EF4-FFF2-40B4-BE49-F238E27FC236}">
                <a16:creationId xmlns:a16="http://schemas.microsoft.com/office/drawing/2014/main" id="{374A4429-5D7B-C6C6-0B58-5BA4B7F2D62E}"/>
              </a:ext>
            </a:extLst>
          </p:cNvPr>
          <p:cNvSpPr/>
          <p:nvPr/>
        </p:nvSpPr>
        <p:spPr>
          <a:xfrm>
            <a:off x="9752658" y="4576348"/>
            <a:ext cx="1058710" cy="1058710"/>
          </a:xfrm>
          <a:prstGeom prst="ellipse">
            <a:avLst/>
          </a:prstGeom>
          <a:solidFill>
            <a:srgbClr val="FBEFD8"/>
          </a:solidFill>
          <a:ln w="19050">
            <a:solidFill>
              <a:srgbClr val="C77D11"/>
            </a:solidFill>
            <a:prstDash val="solid"/>
          </a:ln>
        </p:spPr>
      </p:sp>
      <p:pic>
        <p:nvPicPr>
          <p:cNvPr id="39" name="Image 0" descr="preencoded.png">
            <a:extLst>
              <a:ext uri="{FF2B5EF4-FFF2-40B4-BE49-F238E27FC236}">
                <a16:creationId xmlns:a16="http://schemas.microsoft.com/office/drawing/2014/main" id="{FA0BB732-D0BF-BAE9-7BAF-7CF9DA5E0D2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121207" y="4941178"/>
            <a:ext cx="345995" cy="345995"/>
          </a:xfrm>
          <a:prstGeom prst="rect">
            <a:avLst/>
          </a:prstGeom>
        </p:spPr>
      </p:pic>
      <p:sp>
        <p:nvSpPr>
          <p:cNvPr id="40" name="Text 13">
            <a:extLst>
              <a:ext uri="{FF2B5EF4-FFF2-40B4-BE49-F238E27FC236}">
                <a16:creationId xmlns:a16="http://schemas.microsoft.com/office/drawing/2014/main" id="{AC8524AE-F02D-C7B4-5F31-828E29DAC500}"/>
              </a:ext>
            </a:extLst>
          </p:cNvPr>
          <p:cNvSpPr/>
          <p:nvPr/>
        </p:nvSpPr>
        <p:spPr>
          <a:xfrm>
            <a:off x="9678078" y="5772074"/>
            <a:ext cx="1270450" cy="247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8A5A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switch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24688"/>
            <a:ext cx="137160" cy="137160"/>
          </a:xfrm>
          <a:prstGeom prst="rect">
            <a:avLst/>
          </a:prstGeom>
          <a:solidFill>
            <a:srgbClr val="2E8B57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598424"/>
            <a:ext cx="137160" cy="137160"/>
          </a:xfrm>
          <a:prstGeom prst="rect">
            <a:avLst/>
          </a:prstGeom>
          <a:solidFill>
            <a:srgbClr val="2D6CDF"/>
          </a:solidFill>
          <a:ln/>
        </p:spPr>
      </p:sp>
      <p:sp>
        <p:nvSpPr>
          <p:cNvPr id="4" name="Text 2"/>
          <p:cNvSpPr/>
          <p:nvPr/>
        </p:nvSpPr>
        <p:spPr>
          <a:xfrm>
            <a:off x="868680" y="333248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happens to the pods</a:t>
            </a:r>
            <a:endParaRPr lang="en-US" sz="23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82241" y="753511"/>
            <a:ext cx="6664959" cy="308326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85800" y="3653898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colour runs at full production capacity. During cut-over we briefly run double, then scale the old version down.</a:t>
            </a:r>
            <a:endParaRPr lang="en-US" sz="1350" dirty="0"/>
          </a:p>
        </p:txBody>
      </p:sp>
      <p:sp>
        <p:nvSpPr>
          <p:cNvPr id="7" name="Shape 0">
            <a:extLst>
              <a:ext uri="{FF2B5EF4-FFF2-40B4-BE49-F238E27FC236}">
                <a16:creationId xmlns:a16="http://schemas.microsoft.com/office/drawing/2014/main" id="{1E62FED1-B26B-9171-3889-78E6E0CE7E4D}"/>
              </a:ext>
            </a:extLst>
          </p:cNvPr>
          <p:cNvSpPr/>
          <p:nvPr/>
        </p:nvSpPr>
        <p:spPr>
          <a:xfrm>
            <a:off x="548640" y="4111098"/>
            <a:ext cx="137160" cy="137160"/>
          </a:xfrm>
          <a:prstGeom prst="rect">
            <a:avLst/>
          </a:prstGeom>
          <a:solidFill>
            <a:srgbClr val="2E8B57"/>
          </a:solidFill>
          <a:ln/>
        </p:spPr>
      </p:sp>
      <p:sp>
        <p:nvSpPr>
          <p:cNvPr id="8" name="Shape 1">
            <a:extLst>
              <a:ext uri="{FF2B5EF4-FFF2-40B4-BE49-F238E27FC236}">
                <a16:creationId xmlns:a16="http://schemas.microsoft.com/office/drawing/2014/main" id="{BC443C84-2EA3-B811-9382-ACAE5BC53642}"/>
              </a:ext>
            </a:extLst>
          </p:cNvPr>
          <p:cNvSpPr/>
          <p:nvPr/>
        </p:nvSpPr>
        <p:spPr>
          <a:xfrm>
            <a:off x="548640" y="4284834"/>
            <a:ext cx="137160" cy="137160"/>
          </a:xfrm>
          <a:prstGeom prst="rect">
            <a:avLst/>
          </a:prstGeom>
          <a:solidFill>
            <a:srgbClr val="2D6CDF"/>
          </a:solidFill>
          <a:ln/>
        </p:spPr>
      </p:sp>
      <p:sp>
        <p:nvSpPr>
          <p:cNvPr id="9" name="Text 2">
            <a:extLst>
              <a:ext uri="{FF2B5EF4-FFF2-40B4-BE49-F238E27FC236}">
                <a16:creationId xmlns:a16="http://schemas.microsoft.com/office/drawing/2014/main" id="{DBB6950E-8CC1-B251-5B7B-94F364D79FED}"/>
              </a:ext>
            </a:extLst>
          </p:cNvPr>
          <p:cNvSpPr/>
          <p:nvPr/>
        </p:nvSpPr>
        <p:spPr>
          <a:xfrm>
            <a:off x="868680" y="4019658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switch: one line in the Service</a:t>
            </a:r>
            <a:endParaRPr lang="en-US" sz="2300" dirty="0"/>
          </a:p>
        </p:txBody>
      </p:sp>
      <p:pic>
        <p:nvPicPr>
          <p:cNvPr id="10" name="Image 0" descr="preencoded.png">
            <a:extLst>
              <a:ext uri="{FF2B5EF4-FFF2-40B4-BE49-F238E27FC236}">
                <a16:creationId xmlns:a16="http://schemas.microsoft.com/office/drawing/2014/main" id="{6C850CE4-1B15-3B50-A9A1-52558BCD039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13480" y="4076917"/>
            <a:ext cx="5511800" cy="264566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137160" cy="137160"/>
          </a:xfrm>
          <a:prstGeom prst="rect">
            <a:avLst/>
          </a:prstGeom>
          <a:solidFill>
            <a:srgbClr val="2E8B57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649224"/>
            <a:ext cx="137160" cy="137160"/>
          </a:xfrm>
          <a:prstGeom prst="rect">
            <a:avLst/>
          </a:prstGeom>
          <a:solidFill>
            <a:srgbClr val="2D6CDF"/>
          </a:solidFill>
          <a:ln/>
        </p:spPr>
      </p:sp>
      <p:sp>
        <p:nvSpPr>
          <p:cNvPr id="4" name="Text 2"/>
          <p:cNvSpPr/>
          <p:nvPr/>
        </p:nvSpPr>
        <p:spPr>
          <a:xfrm>
            <a:off x="868680" y="384048"/>
            <a:ext cx="4577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release </a:t>
            </a:r>
            <a:r>
              <a:rPr lang="en-US" sz="2000" b="1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process</a:t>
            </a:r>
            <a:r>
              <a:rPr lang="en-US" sz="2200" b="1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, step by step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658368" cy="658368"/>
          </a:xfrm>
          <a:prstGeom prst="ellipse">
            <a:avLst/>
          </a:prstGeom>
          <a:solidFill>
            <a:srgbClr val="2D6CDF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55448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463040" y="1517904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Deploy Blue alongside Green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463040" y="1883664"/>
            <a:ext cx="383031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22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 up the new version at full capacity. Green keeps</a:t>
            </a:r>
          </a:p>
          <a:p>
            <a:pPr marL="0" indent="0">
              <a:buNone/>
            </a:pPr>
            <a:r>
              <a:rPr lang="en-US" sz="1300" dirty="0">
                <a:solidFill>
                  <a:srgbClr val="22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serving 100% of traffic.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77824" y="2212848"/>
            <a:ext cx="0" cy="292608"/>
          </a:xfrm>
          <a:prstGeom prst="line">
            <a:avLst/>
          </a:prstGeom>
          <a:noFill/>
          <a:ln w="19050">
            <a:solidFill>
              <a:srgbClr val="C9D1D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2505456"/>
            <a:ext cx="658368" cy="658368"/>
          </a:xfrm>
          <a:prstGeom prst="ellipse">
            <a:avLst/>
          </a:prstGeom>
          <a:solidFill>
            <a:srgbClr val="2D6CDF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2505456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1463040" y="24688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Validate Blue privately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463040" y="2834640"/>
            <a:ext cx="383031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22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automated smoke tests + QA against preview.</a:t>
            </a:r>
          </a:p>
          <a:p>
            <a:pPr marL="0" indent="0">
              <a:buNone/>
            </a:pPr>
            <a:r>
              <a:rPr lang="en-US" sz="1300" dirty="0">
                <a:solidFill>
                  <a:srgbClr val="22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cluster, real dependencies.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77824" y="3163824"/>
            <a:ext cx="0" cy="292608"/>
          </a:xfrm>
          <a:prstGeom prst="line">
            <a:avLst/>
          </a:prstGeom>
          <a:noFill/>
          <a:ln w="19050">
            <a:solidFill>
              <a:srgbClr val="C9D1D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48640" y="3456432"/>
            <a:ext cx="658368" cy="658368"/>
          </a:xfrm>
          <a:prstGeom prst="ellipse">
            <a:avLst/>
          </a:prstGeom>
          <a:solidFill>
            <a:srgbClr val="2D6CDF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3456432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1463040" y="3419856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Cut over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463040" y="3785616"/>
            <a:ext cx="383031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22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Flip the prod Service selector to Blue.</a:t>
            </a:r>
          </a:p>
          <a:p>
            <a:pPr marL="0" indent="0">
              <a:buNone/>
            </a:pPr>
            <a:r>
              <a:rPr lang="en-US" sz="1300" dirty="0">
                <a:solidFill>
                  <a:srgbClr val="22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 moves in seconds.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877824" y="4114800"/>
            <a:ext cx="0" cy="292608"/>
          </a:xfrm>
          <a:prstGeom prst="line">
            <a:avLst/>
          </a:prstGeom>
          <a:noFill/>
          <a:ln w="19050">
            <a:solidFill>
              <a:srgbClr val="C9D1D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48640" y="4407408"/>
            <a:ext cx="658368" cy="658368"/>
          </a:xfrm>
          <a:prstGeom prst="ellipse">
            <a:avLst/>
          </a:prstGeom>
          <a:solidFill>
            <a:srgbClr val="2E8B57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4407408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1463040" y="4370832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Observe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463040" y="4736592"/>
            <a:ext cx="383031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22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error rate, latency and logs. Green stays</a:t>
            </a:r>
          </a:p>
          <a:p>
            <a:pPr marL="0" indent="0">
              <a:buNone/>
            </a:pPr>
            <a:r>
              <a:rPr lang="en-US" sz="1300" dirty="0">
                <a:solidFill>
                  <a:srgbClr val="22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warm as the rollback target.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877824" y="5065776"/>
            <a:ext cx="0" cy="292608"/>
          </a:xfrm>
          <a:prstGeom prst="line">
            <a:avLst/>
          </a:prstGeom>
          <a:noFill/>
          <a:ln w="19050">
            <a:solidFill>
              <a:srgbClr val="C9D1D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48640" y="5358384"/>
            <a:ext cx="658368" cy="658368"/>
          </a:xfrm>
          <a:prstGeom prst="ellipse">
            <a:avLst/>
          </a:prstGeom>
          <a:solidFill>
            <a:srgbClr val="2E8B57"/>
          </a:solidFill>
          <a:ln/>
        </p:spPr>
      </p:sp>
      <p:sp>
        <p:nvSpPr>
          <p:cNvPr id="26" name="Text 24"/>
          <p:cNvSpPr/>
          <p:nvPr/>
        </p:nvSpPr>
        <p:spPr>
          <a:xfrm>
            <a:off x="548640" y="5358384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2600" dirty="0"/>
          </a:p>
        </p:txBody>
      </p:sp>
      <p:sp>
        <p:nvSpPr>
          <p:cNvPr id="27" name="Text 25"/>
          <p:cNvSpPr/>
          <p:nvPr/>
        </p:nvSpPr>
        <p:spPr>
          <a:xfrm>
            <a:off x="1463040" y="5321808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Scale Green down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463040" y="5687568"/>
            <a:ext cx="383031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22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after the confidence window. Now Blue is the</a:t>
            </a:r>
          </a:p>
          <a:p>
            <a:pPr marL="0" indent="0">
              <a:buNone/>
            </a:pPr>
            <a:r>
              <a:rPr lang="en-US" sz="1300" dirty="0">
                <a:solidFill>
                  <a:srgbClr val="22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Green.</a:t>
            </a:r>
            <a:endParaRPr lang="en-US" sz="1300" dirty="0"/>
          </a:p>
        </p:txBody>
      </p:sp>
      <p:sp>
        <p:nvSpPr>
          <p:cNvPr id="29" name="Shape 0">
            <a:extLst>
              <a:ext uri="{FF2B5EF4-FFF2-40B4-BE49-F238E27FC236}">
                <a16:creationId xmlns:a16="http://schemas.microsoft.com/office/drawing/2014/main" id="{5B81FB19-D2ED-FF06-B601-F22128E414BD}"/>
              </a:ext>
            </a:extLst>
          </p:cNvPr>
          <p:cNvSpPr/>
          <p:nvPr/>
        </p:nvSpPr>
        <p:spPr>
          <a:xfrm>
            <a:off x="5943600" y="475488"/>
            <a:ext cx="137160" cy="137160"/>
          </a:xfrm>
          <a:prstGeom prst="rect">
            <a:avLst/>
          </a:prstGeom>
          <a:solidFill>
            <a:srgbClr val="2E8B57"/>
          </a:solidFill>
          <a:ln/>
        </p:spPr>
      </p:sp>
      <p:sp>
        <p:nvSpPr>
          <p:cNvPr id="30" name="Shape 1">
            <a:extLst>
              <a:ext uri="{FF2B5EF4-FFF2-40B4-BE49-F238E27FC236}">
                <a16:creationId xmlns:a16="http://schemas.microsoft.com/office/drawing/2014/main" id="{35B64ADF-043F-442A-4BE4-54ADFADECA7F}"/>
              </a:ext>
            </a:extLst>
          </p:cNvPr>
          <p:cNvSpPr/>
          <p:nvPr/>
        </p:nvSpPr>
        <p:spPr>
          <a:xfrm>
            <a:off x="5943600" y="649224"/>
            <a:ext cx="137160" cy="137160"/>
          </a:xfrm>
          <a:prstGeom prst="rect">
            <a:avLst/>
          </a:prstGeom>
          <a:solidFill>
            <a:srgbClr val="2D6CDF"/>
          </a:solidFill>
          <a:ln/>
        </p:spPr>
      </p:sp>
      <p:sp>
        <p:nvSpPr>
          <p:cNvPr id="31" name="Text 2">
            <a:extLst>
              <a:ext uri="{FF2B5EF4-FFF2-40B4-BE49-F238E27FC236}">
                <a16:creationId xmlns:a16="http://schemas.microsoft.com/office/drawing/2014/main" id="{F83519E4-F784-FAE4-2F5A-43B3BC134E0F}"/>
              </a:ext>
            </a:extLst>
          </p:cNvPr>
          <p:cNvSpPr/>
          <p:nvPr/>
        </p:nvSpPr>
        <p:spPr>
          <a:xfrm>
            <a:off x="6263640" y="384048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Rollback: seconds, not hours</a:t>
            </a:r>
            <a:endParaRPr lang="en-US" sz="2200" dirty="0"/>
          </a:p>
        </p:txBody>
      </p:sp>
      <p:pic>
        <p:nvPicPr>
          <p:cNvPr id="32" name="Image 0" descr="preencoded.png">
            <a:extLst>
              <a:ext uri="{FF2B5EF4-FFF2-40B4-BE49-F238E27FC236}">
                <a16:creationId xmlns:a16="http://schemas.microsoft.com/office/drawing/2014/main" id="{92067D0E-318F-DA49-109F-D729672F64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49926" y="1757680"/>
            <a:ext cx="6548374" cy="2806446"/>
          </a:xfrm>
          <a:prstGeom prst="rect">
            <a:avLst/>
          </a:prstGeom>
        </p:spPr>
      </p:pic>
      <p:sp>
        <p:nvSpPr>
          <p:cNvPr id="33" name="Shape 3">
            <a:extLst>
              <a:ext uri="{FF2B5EF4-FFF2-40B4-BE49-F238E27FC236}">
                <a16:creationId xmlns:a16="http://schemas.microsoft.com/office/drawing/2014/main" id="{D7829F69-E193-C920-D9C5-60254ADBFE68}"/>
              </a:ext>
            </a:extLst>
          </p:cNvPr>
          <p:cNvSpPr/>
          <p:nvPr/>
        </p:nvSpPr>
        <p:spPr>
          <a:xfrm>
            <a:off x="5557520" y="4382516"/>
            <a:ext cx="5953760" cy="960120"/>
          </a:xfrm>
          <a:prstGeom prst="roundRect">
            <a:avLst>
              <a:gd name="adj" fmla="val 8571"/>
            </a:avLst>
          </a:prstGeom>
          <a:solidFill>
            <a:srgbClr val="FBF6EC"/>
          </a:solidFill>
          <a:ln w="15875">
            <a:solidFill>
              <a:srgbClr val="C77D11"/>
            </a:solidFill>
            <a:prstDash val="solid"/>
          </a:ln>
          <a:effectLst>
            <a:outerShdw blurRad="88900" dist="38100" dir="81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34" name="Image 1" descr="preencoded.png">
            <a:extLst>
              <a:ext uri="{FF2B5EF4-FFF2-40B4-BE49-F238E27FC236}">
                <a16:creationId xmlns:a16="http://schemas.microsoft.com/office/drawing/2014/main" id="{3B28641B-1C6E-EE84-9A0D-3780614EFE4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71266" y="5797296"/>
            <a:ext cx="228933" cy="457200"/>
          </a:xfrm>
          <a:prstGeom prst="rect">
            <a:avLst/>
          </a:prstGeom>
        </p:spPr>
      </p:pic>
      <p:sp>
        <p:nvSpPr>
          <p:cNvPr id="35" name="Text 4">
            <a:extLst>
              <a:ext uri="{FF2B5EF4-FFF2-40B4-BE49-F238E27FC236}">
                <a16:creationId xmlns:a16="http://schemas.microsoft.com/office/drawing/2014/main" id="{E80D8442-4A4F-20C8-6EF2-75D9A620C8E6}"/>
              </a:ext>
            </a:extLst>
          </p:cNvPr>
          <p:cNvSpPr/>
          <p:nvPr/>
        </p:nvSpPr>
        <p:spPr>
          <a:xfrm>
            <a:off x="5955712" y="4473956"/>
            <a:ext cx="530378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8A5A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anything looks wrong, flip the selector back to Green. </a:t>
            </a:r>
            <a:r>
              <a:rPr lang="en-US" sz="1400" dirty="0">
                <a:solidFill>
                  <a:srgbClr val="22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Because Green is still running, recovery is near-instant — no rebuild, no scramble. (After Green is scaled down, scale it back up first.)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137160" cy="137160"/>
          </a:xfrm>
          <a:prstGeom prst="rect">
            <a:avLst/>
          </a:prstGeom>
          <a:solidFill>
            <a:srgbClr val="2E8B57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649224"/>
            <a:ext cx="137160" cy="137160"/>
          </a:xfrm>
          <a:prstGeom prst="rect">
            <a:avLst/>
          </a:prstGeom>
          <a:solidFill>
            <a:srgbClr val="2D6CDF"/>
          </a:solidFill>
          <a:ln/>
        </p:spPr>
      </p:sp>
      <p:sp>
        <p:nvSpPr>
          <p:cNvPr id="4" name="Text 2"/>
          <p:cNvSpPr/>
          <p:nvPr/>
        </p:nvSpPr>
        <p:spPr>
          <a:xfrm>
            <a:off x="868680" y="384048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Rules we will follow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868680" y="1600200"/>
            <a:ext cx="5212080" cy="987552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5875">
            <a:solidFill>
              <a:srgbClr val="C9D1DE"/>
            </a:solidFill>
            <a:prstDash val="solid"/>
          </a:ln>
          <a:effectLst>
            <a:outerShdw blurRad="88900" dist="38100" dir="81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4712" y="1911096"/>
            <a:ext cx="384048" cy="38404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09928" y="1691640"/>
            <a:ext cx="4251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2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colour runs at full production capacity — never split the live pool.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6400800" y="1600200"/>
            <a:ext cx="5212080" cy="987552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5875">
            <a:solidFill>
              <a:srgbClr val="C9D1DE"/>
            </a:solidFill>
            <a:prstDash val="solid"/>
          </a:ln>
          <a:effectLst>
            <a:outerShdw blurRad="88900" dist="38100" dir="81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56832" y="1911096"/>
            <a:ext cx="384048" cy="38404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242048" y="1691640"/>
            <a:ext cx="4251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2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Readiness / health probes must pass before any pod receives traffic.</a:t>
            </a:r>
            <a:endParaRPr lang="en-US" sz="1350" dirty="0"/>
          </a:p>
        </p:txBody>
      </p:sp>
      <p:sp>
        <p:nvSpPr>
          <p:cNvPr id="11" name="Shape 7"/>
          <p:cNvSpPr/>
          <p:nvPr/>
        </p:nvSpPr>
        <p:spPr>
          <a:xfrm>
            <a:off x="868680" y="2770632"/>
            <a:ext cx="5212080" cy="987552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5875">
            <a:solidFill>
              <a:srgbClr val="C9D1DE"/>
            </a:solidFill>
            <a:prstDash val="solid"/>
          </a:ln>
          <a:effectLst>
            <a:outerShdw blurRad="88900" dist="38100" dir="81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4712" y="3081528"/>
            <a:ext cx="384048" cy="38404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709928" y="2862072"/>
            <a:ext cx="4251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2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Green warm through the entire confidence window.</a:t>
            </a:r>
            <a:endParaRPr lang="en-US" sz="1350" dirty="0"/>
          </a:p>
        </p:txBody>
      </p:sp>
      <p:sp>
        <p:nvSpPr>
          <p:cNvPr id="14" name="Shape 9"/>
          <p:cNvSpPr/>
          <p:nvPr/>
        </p:nvSpPr>
        <p:spPr>
          <a:xfrm>
            <a:off x="6400800" y="2770632"/>
            <a:ext cx="5212080" cy="987552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5875">
            <a:solidFill>
              <a:srgbClr val="C9D1DE"/>
            </a:solidFill>
            <a:prstDash val="solid"/>
          </a:ln>
          <a:effectLst>
            <a:outerShdw blurRad="88900" dist="38100" dir="81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56832" y="3081528"/>
            <a:ext cx="384048" cy="384048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7242048" y="2862072"/>
            <a:ext cx="4251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2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source of truth for the selector — GitOps / pipeline, no manual drift.</a:t>
            </a:r>
            <a:endParaRPr lang="en-US" sz="1350" dirty="0"/>
          </a:p>
        </p:txBody>
      </p:sp>
      <p:sp>
        <p:nvSpPr>
          <p:cNvPr id="17" name="Shape 11"/>
          <p:cNvSpPr/>
          <p:nvPr/>
        </p:nvSpPr>
        <p:spPr>
          <a:xfrm>
            <a:off x="868680" y="3941064"/>
            <a:ext cx="5212080" cy="987552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5875">
            <a:solidFill>
              <a:srgbClr val="C9D1DE"/>
            </a:solidFill>
            <a:prstDash val="solid"/>
          </a:ln>
          <a:effectLst>
            <a:outerShdw blurRad="88900" dist="38100" dir="81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4712" y="4251960"/>
            <a:ext cx="384048" cy="384048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1709928" y="4032504"/>
            <a:ext cx="4251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2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smoke tests gate every cut-over.</a:t>
            </a:r>
            <a:endParaRPr lang="en-US" sz="1350" dirty="0"/>
          </a:p>
        </p:txBody>
      </p:sp>
      <p:sp>
        <p:nvSpPr>
          <p:cNvPr id="20" name="Shape 13"/>
          <p:cNvSpPr/>
          <p:nvPr/>
        </p:nvSpPr>
        <p:spPr>
          <a:xfrm>
            <a:off x="6400800" y="3941064"/>
            <a:ext cx="5212080" cy="987552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5875">
            <a:solidFill>
              <a:srgbClr val="C9D1DE"/>
            </a:solidFill>
            <a:prstDash val="solid"/>
          </a:ln>
          <a:effectLst>
            <a:outerShdw blurRad="88900" dist="38100" dir="81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21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56832" y="4251960"/>
            <a:ext cx="384048" cy="384048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7242048" y="4032504"/>
            <a:ext cx="4251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2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Observability (errors, latency, saturation) reviewed before scale-down.</a:t>
            </a:r>
            <a:endParaRPr lang="en-US" sz="1350" dirty="0"/>
          </a:p>
        </p:txBody>
      </p:sp>
      <p:sp>
        <p:nvSpPr>
          <p:cNvPr id="23" name="Shape 15"/>
          <p:cNvSpPr/>
          <p:nvPr/>
        </p:nvSpPr>
        <p:spPr>
          <a:xfrm>
            <a:off x="868680" y="5111496"/>
            <a:ext cx="5212080" cy="987552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5875">
            <a:solidFill>
              <a:srgbClr val="C9D1DE"/>
            </a:solidFill>
            <a:prstDash val="solid"/>
          </a:ln>
          <a:effectLst>
            <a:outerShdw blurRad="88900" dist="38100" dir="81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24" name="Image 6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4712" y="5422392"/>
            <a:ext cx="384048" cy="384048"/>
          </a:xfrm>
          <a:prstGeom prst="rect">
            <a:avLst/>
          </a:prstGeom>
        </p:spPr>
      </p:pic>
      <p:sp>
        <p:nvSpPr>
          <p:cNvPr id="25" name="Text 16"/>
          <p:cNvSpPr/>
          <p:nvPr/>
        </p:nvSpPr>
        <p:spPr>
          <a:xfrm>
            <a:off x="1709928" y="5202936"/>
            <a:ext cx="4251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2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changes are backward-compatible (expand / contract pattern).</a:t>
            </a:r>
            <a:endParaRPr lang="en-US" sz="1350" dirty="0"/>
          </a:p>
        </p:txBody>
      </p:sp>
      <p:sp>
        <p:nvSpPr>
          <p:cNvPr id="26" name="Shape 17"/>
          <p:cNvSpPr/>
          <p:nvPr/>
        </p:nvSpPr>
        <p:spPr>
          <a:xfrm>
            <a:off x="6400800" y="5111496"/>
            <a:ext cx="5212080" cy="987552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5875">
            <a:solidFill>
              <a:srgbClr val="C9D1DE"/>
            </a:solidFill>
            <a:prstDash val="solid"/>
          </a:ln>
          <a:effectLst>
            <a:outerShdw blurRad="88900" dist="38100" dir="81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27" name="Image 7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56832" y="5422392"/>
            <a:ext cx="384048" cy="384048"/>
          </a:xfrm>
          <a:prstGeom prst="rect">
            <a:avLst/>
          </a:prstGeom>
        </p:spPr>
      </p:pic>
      <p:sp>
        <p:nvSpPr>
          <p:cNvPr id="28" name="Text 18"/>
          <p:cNvSpPr/>
          <p:nvPr/>
        </p:nvSpPr>
        <p:spPr>
          <a:xfrm>
            <a:off x="7242048" y="5202936"/>
            <a:ext cx="4251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2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Cut-over and rollback are one-command, runbook-driven, and logged.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604</Words>
  <Application>Microsoft Office PowerPoint</Application>
  <PresentationFormat>Widescreen</PresentationFormat>
  <Paragraphs>71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Blue-Green Deployment on EKS</dc:title>
  <dc:subject>PptxGenJS Presentation</dc:subject>
  <dc:creator>Platform Engineering</dc:creator>
  <cp:lastModifiedBy>Anil K Chilukuri</cp:lastModifiedBy>
  <cp:revision>7</cp:revision>
  <dcterms:created xsi:type="dcterms:W3CDTF">2026-06-04T03:10:21Z</dcterms:created>
  <dcterms:modified xsi:type="dcterms:W3CDTF">2026-06-04T06:23:15Z</dcterms:modified>
</cp:coreProperties>
</file>