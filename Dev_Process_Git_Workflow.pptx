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D4016B9-47B9-4314-A2DB-4EC330C3DF57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0D76D4-9073-494A-B25D-92DF7B6CEF1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8794DA-A905-46BE-992B-9EF2E44C379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BF4B75-3138-4729-8DF6-ED5A58F7856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9306B8-DB36-460F-85FA-D93E58DEC32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AC2E3B-3209-41E1-B1BA-64D0AF22BD2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B5E207-757B-445E-9F9A-A5892007DC7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09AE4A-E6A1-421D-A832-04CA92945E6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E3958C-B435-4E2A-9288-6A063731BA6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5940EB-40E9-4AB2-8B13-7D34076F452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869680" y="1280160"/>
            <a:ext cx="360" cy="1097280"/>
          </a:xfrm>
          <a:prstGeom prst="line">
            <a:avLst/>
          </a:prstGeom>
          <a:ln w="25400">
            <a:solidFill>
              <a:srgbClr val="14B8A6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869680" y="2377440"/>
            <a:ext cx="360" cy="1097280"/>
          </a:xfrm>
          <a:prstGeom prst="line">
            <a:avLst/>
          </a:prstGeom>
          <a:ln w="25400">
            <a:solidFill>
              <a:srgbClr val="14B8A6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869680" y="3474720"/>
            <a:ext cx="360" cy="1097280"/>
          </a:xfrm>
          <a:prstGeom prst="line">
            <a:avLst/>
          </a:prstGeom>
          <a:ln w="25400">
            <a:solidFill>
              <a:srgbClr val="14B8A6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869680" y="4572000"/>
            <a:ext cx="360" cy="1005840"/>
          </a:xfrm>
          <a:prstGeom prst="line">
            <a:avLst/>
          </a:prstGeom>
          <a:ln w="25400">
            <a:solidFill>
              <a:srgbClr val="14B8A6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 flipV="1">
            <a:off x="8869680" y="2011680"/>
            <a:ext cx="1371600" cy="365760"/>
          </a:xfrm>
          <a:prstGeom prst="line">
            <a:avLst/>
          </a:prstGeom>
          <a:ln w="25400">
            <a:solidFill>
              <a:srgbClr val="14B8A6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0241280" y="2011680"/>
            <a:ext cx="1280160" cy="1005840"/>
          </a:xfrm>
          <a:prstGeom prst="line">
            <a:avLst/>
          </a:prstGeom>
          <a:ln w="25400">
            <a:solidFill>
              <a:srgbClr val="14B8A6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 flipV="1">
            <a:off x="8869680" y="4023360"/>
            <a:ext cx="1371600" cy="548640"/>
          </a:xfrm>
          <a:prstGeom prst="line">
            <a:avLst/>
          </a:prstGeom>
          <a:ln w="25400">
            <a:solidFill>
              <a:srgbClr val="14B8A6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 flipV="1">
            <a:off x="10241280" y="3017520"/>
            <a:ext cx="1280160" cy="1005840"/>
          </a:xfrm>
          <a:prstGeom prst="line">
            <a:avLst/>
          </a:prstGeom>
          <a:ln w="25400">
            <a:solidFill>
              <a:srgbClr val="14B8A6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8769240" y="1179720"/>
            <a:ext cx="200880" cy="200880"/>
          </a:xfrm>
          <a:prstGeom prst="ellipse">
            <a:avLst/>
          </a:prstGeom>
          <a:solidFill>
            <a:srgbClr val="94A3B8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8769240" y="2277000"/>
            <a:ext cx="200880" cy="200880"/>
          </a:xfrm>
          <a:prstGeom prst="ellipse">
            <a:avLst/>
          </a:prstGeom>
          <a:solidFill>
            <a:srgbClr val="94A3B8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8769240" y="3374280"/>
            <a:ext cx="200880" cy="200880"/>
          </a:xfrm>
          <a:prstGeom prst="ellipse">
            <a:avLst/>
          </a:prstGeom>
          <a:solidFill>
            <a:srgbClr val="94A3B8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769240" y="4471560"/>
            <a:ext cx="200880" cy="200880"/>
          </a:xfrm>
          <a:prstGeom prst="ellipse">
            <a:avLst/>
          </a:prstGeom>
          <a:solidFill>
            <a:srgbClr val="94A3B8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769240" y="5477400"/>
            <a:ext cx="200880" cy="200880"/>
          </a:xfrm>
          <a:prstGeom prst="ellipse">
            <a:avLst/>
          </a:prstGeom>
          <a:solidFill>
            <a:srgbClr val="94A3B8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10140840" y="1911240"/>
            <a:ext cx="200880" cy="20088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0140840" y="3922920"/>
            <a:ext cx="200880" cy="20088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11421000" y="2917080"/>
            <a:ext cx="200880" cy="20088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77240" y="1417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14B8A6"/>
                </a:solidFill>
                <a:latin typeface="Calibri"/>
                <a:ea typeface="Calibri"/>
              </a:rPr>
              <a:t>ENGINEERING PLAYBOOK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731520" y="1783080"/>
            <a:ext cx="78634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4600" b="1" strike="noStrike" spc="-1" dirty="0">
                <a:latin typeface="Trebuchet MS"/>
                <a:ea typeface="Trebuchet MS"/>
              </a:rPr>
              <a:t>Development Process</a:t>
            </a:r>
            <a:endParaRPr lang="en-US" sz="4600" b="0" strike="noStrike" spc="-1" dirty="0">
              <a:latin typeface="Arial"/>
            </a:endParaRPr>
          </a:p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4600" b="1" strike="noStrike" spc="-1" dirty="0">
                <a:latin typeface="Trebuchet MS"/>
                <a:ea typeface="Trebuchet MS"/>
              </a:rPr>
              <a:t>&amp; Git Workflow</a:t>
            </a:r>
            <a:endParaRPr lang="en-US" sz="4600" b="0" strike="noStrike" spc="-1" dirty="0"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777240" y="379476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94A3B8"/>
                </a:solidFill>
                <a:latin typeface="Calibri"/>
                <a:ea typeface="Calibri"/>
              </a:rPr>
              <a:t>Our standard operating model — from sprint planning through pull-request quality gates to a clean production release.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777240" y="5074920"/>
            <a:ext cx="1561320" cy="383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777240" y="5074920"/>
            <a:ext cx="1561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 dirty="0">
                <a:latin typeface="Calibri"/>
                <a:ea typeface="Calibri"/>
              </a:rPr>
              <a:t>Sprint Cadence</a:t>
            </a:r>
            <a:endParaRPr lang="en-US" sz="1150" b="1" strike="noStrike" spc="-1" dirty="0"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2521800" y="5074920"/>
            <a:ext cx="1813680" cy="383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2521800" y="5074920"/>
            <a:ext cx="1813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 dirty="0">
                <a:latin typeface="Calibri"/>
                <a:ea typeface="Calibri"/>
              </a:rPr>
              <a:t>Branch Protection</a:t>
            </a:r>
            <a:endParaRPr lang="en-US" sz="1150" b="1" strike="noStrike" spc="-1" dirty="0"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4519080" y="5074920"/>
            <a:ext cx="1729800" cy="383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4519080" y="5074920"/>
            <a:ext cx="1729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 dirty="0">
                <a:latin typeface="Calibri"/>
                <a:ea typeface="Calibri"/>
              </a:rPr>
              <a:t>PR Quality Gates</a:t>
            </a:r>
            <a:endParaRPr lang="en-US" sz="1150" b="1" strike="noStrike" spc="-1" dirty="0"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6431760" y="5074920"/>
            <a:ext cx="1813680" cy="383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6431760" y="5074920"/>
            <a:ext cx="1813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 dirty="0">
                <a:latin typeface="Calibri"/>
                <a:ea typeface="Calibri"/>
              </a:rPr>
              <a:t>Release Lifecycle</a:t>
            </a:r>
            <a:endParaRPr lang="en-US" sz="1150" b="1" strike="noStrike" spc="-1" dirty="0"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777240" y="6126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4748B"/>
                </a:solidFill>
                <a:latin typeface="Calibri"/>
                <a:ea typeface="Calibri"/>
              </a:rPr>
              <a:t>Prepared for the Engineering Team &amp; Leadership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1"/>
          <p:cNvSpPr/>
          <p:nvPr/>
        </p:nvSpPr>
        <p:spPr>
          <a:xfrm>
            <a:off x="594360" y="7926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0F172A"/>
                </a:solidFill>
                <a:latin typeface="Trebuchet MS"/>
                <a:ea typeface="Trebuchet MS"/>
              </a:rPr>
              <a:t>Three pillars of how we work</a:t>
            </a: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594360" y="2566711"/>
            <a:ext cx="356580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94360" y="2566711"/>
            <a:ext cx="3565800" cy="1094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914400" y="2811042"/>
            <a:ext cx="462116" cy="68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14B8A6"/>
                </a:solidFill>
                <a:latin typeface="Trebuchet MS"/>
                <a:ea typeface="Trebuchet MS"/>
              </a:rPr>
              <a:t>01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2926080" y="3023911"/>
            <a:ext cx="868320" cy="868320"/>
          </a:xfrm>
          <a:prstGeom prst="ellipse">
            <a:avLst/>
          </a:prstGeom>
          <a:solidFill>
            <a:srgbClr val="14B8A6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3"/>
          <a:stretch/>
        </p:blipFill>
        <p:spPr>
          <a:xfrm>
            <a:off x="3151800" y="3249631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43" name="Text 6"/>
          <p:cNvSpPr/>
          <p:nvPr/>
        </p:nvSpPr>
        <p:spPr>
          <a:xfrm>
            <a:off x="796413" y="3451776"/>
            <a:ext cx="2925720" cy="320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F172A"/>
                </a:solidFill>
                <a:latin typeface="Trebuchet MS"/>
                <a:ea typeface="Trebuchet MS"/>
              </a:rPr>
              <a:t>Sprint Cadence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7"/>
          <p:cNvSpPr/>
          <p:nvPr/>
        </p:nvSpPr>
        <p:spPr>
          <a:xfrm>
            <a:off x="796413" y="4045449"/>
            <a:ext cx="2925720" cy="6407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64748B"/>
                </a:solidFill>
                <a:latin typeface="Calibri"/>
                <a:ea typeface="Calibri"/>
              </a:rPr>
              <a:t>How a sprint runs — from picking a Jira ticket on Day 1 to demoing the delivered work at sprint close.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4453200" y="2566711"/>
            <a:ext cx="356580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9"/>
          <p:cNvSpPr/>
          <p:nvPr/>
        </p:nvSpPr>
        <p:spPr>
          <a:xfrm>
            <a:off x="4453200" y="2566711"/>
            <a:ext cx="3565800" cy="109440"/>
          </a:xfrm>
          <a:prstGeom prst="rect">
            <a:avLst/>
          </a:prstGeom>
          <a:solidFill>
            <a:srgbClr val="0F1B2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4773240" y="2811042"/>
            <a:ext cx="462116" cy="68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0F1B2D"/>
                </a:solidFill>
                <a:latin typeface="Trebuchet MS"/>
                <a:ea typeface="Trebuchet MS"/>
              </a:rPr>
              <a:t>02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6784920" y="3023911"/>
            <a:ext cx="868320" cy="868320"/>
          </a:xfrm>
          <a:prstGeom prst="ellipse">
            <a:avLst/>
          </a:prstGeom>
          <a:solidFill>
            <a:srgbClr val="0F1B2D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" name="Image 1" descr="preencoded.png"/>
          <p:cNvPicPr/>
          <p:nvPr/>
        </p:nvPicPr>
        <p:blipFill>
          <a:blip r:embed="rId4"/>
          <a:stretch/>
        </p:blipFill>
        <p:spPr>
          <a:xfrm>
            <a:off x="7010640" y="3249631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50" name="Text 12"/>
          <p:cNvSpPr/>
          <p:nvPr/>
        </p:nvSpPr>
        <p:spPr>
          <a:xfrm>
            <a:off x="4655253" y="3451776"/>
            <a:ext cx="2925720" cy="320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F172A"/>
                </a:solidFill>
                <a:latin typeface="Trebuchet MS"/>
                <a:ea typeface="Trebuchet MS"/>
              </a:rPr>
              <a:t>Branch Model &amp;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F172A"/>
                </a:solidFill>
                <a:latin typeface="Trebuchet MS"/>
                <a:ea typeface="Trebuchet MS"/>
              </a:rPr>
              <a:t>Protection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4655253" y="4045449"/>
            <a:ext cx="2925720" cy="6407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64748B"/>
                </a:solidFill>
                <a:latin typeface="Calibri"/>
                <a:ea typeface="Calibri"/>
              </a:rPr>
              <a:t>The branch hierarchy, what each environment branch represents, and the rules that keep main and develop safe.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4"/>
          <p:cNvSpPr/>
          <p:nvPr/>
        </p:nvSpPr>
        <p:spPr>
          <a:xfrm>
            <a:off x="8312040" y="2566711"/>
            <a:ext cx="356580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8312040" y="2566711"/>
            <a:ext cx="3565800" cy="10944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8632080" y="2811042"/>
            <a:ext cx="462116" cy="68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2D3EE"/>
                </a:solidFill>
                <a:latin typeface="Trebuchet MS"/>
                <a:ea typeface="Trebuchet MS"/>
              </a:rPr>
              <a:t>03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10643760" y="3023911"/>
            <a:ext cx="868320" cy="868320"/>
          </a:xfrm>
          <a:prstGeom prst="ellipse">
            <a:avLst/>
          </a:prstGeom>
          <a:solidFill>
            <a:srgbClr val="22D3EE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Image 2" descr="preencoded.png"/>
          <p:cNvPicPr/>
          <p:nvPr/>
        </p:nvPicPr>
        <p:blipFill>
          <a:blip r:embed="rId5"/>
          <a:stretch/>
        </p:blipFill>
        <p:spPr>
          <a:xfrm>
            <a:off x="10869480" y="3249631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57" name="Text 18"/>
          <p:cNvSpPr/>
          <p:nvPr/>
        </p:nvSpPr>
        <p:spPr>
          <a:xfrm>
            <a:off x="8514093" y="3451776"/>
            <a:ext cx="2925720" cy="320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F172A"/>
                </a:solidFill>
                <a:latin typeface="Trebuchet MS"/>
                <a:ea typeface="Trebuchet MS"/>
              </a:rPr>
              <a:t>PR &amp; Release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F172A"/>
                </a:solidFill>
                <a:latin typeface="Trebuchet MS"/>
                <a:ea typeface="Trebuchet MS"/>
              </a:rPr>
              <a:t>Lifecycle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8514093" y="4045449"/>
            <a:ext cx="2925720" cy="6407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64748B"/>
                </a:solidFill>
                <a:latin typeface="Calibri"/>
                <a:ea typeface="Calibri"/>
              </a:rPr>
              <a:t>Daily Git flow, the author's quality checklist on every PR, and how a release is cut, frozen, and shipped.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2"/>
          <p:cNvSpPr/>
          <p:nvPr/>
        </p:nvSpPr>
        <p:spPr>
          <a:xfrm>
            <a:off x="1280160" y="2697480"/>
            <a:ext cx="9601200" cy="360"/>
          </a:xfrm>
          <a:prstGeom prst="line">
            <a:avLst/>
          </a:prstGeom>
          <a:ln w="381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2377440" y="2194560"/>
            <a:ext cx="1005480" cy="1005480"/>
          </a:xfrm>
          <a:prstGeom prst="ellipse">
            <a:avLst/>
          </a:prstGeom>
          <a:solidFill>
            <a:srgbClr val="14B8A6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3"/>
          <a:stretch/>
        </p:blipFill>
        <p:spPr>
          <a:xfrm>
            <a:off x="2638800" y="2455920"/>
            <a:ext cx="482400" cy="482400"/>
          </a:xfrm>
          <a:prstGeom prst="rect">
            <a:avLst/>
          </a:prstGeom>
          <a:ln w="0">
            <a:noFill/>
          </a:ln>
        </p:spPr>
      </p:pic>
      <p:sp>
        <p:nvSpPr>
          <p:cNvPr id="64" name="Shape 4"/>
          <p:cNvSpPr/>
          <p:nvPr/>
        </p:nvSpPr>
        <p:spPr>
          <a:xfrm>
            <a:off x="2797920" y="3410640"/>
            <a:ext cx="164160" cy="16416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1325880" y="3657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97">
                <a:solidFill>
                  <a:srgbClr val="14B8A6"/>
                </a:solidFill>
                <a:latin typeface="Calibri"/>
                <a:ea typeface="Calibri"/>
              </a:rPr>
              <a:t>SPRINT DAY 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1280160" y="397764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Each developer picks a Jira ticket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1234440" y="4663440"/>
            <a:ext cx="32914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64748B"/>
                </a:solidFill>
                <a:latin typeface="Calibri"/>
                <a:ea typeface="Calibri"/>
              </a:rPr>
              <a:t>Scope is owned the moment the sprint opens — every engineer leaves planning with a ticket in progress.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5577840" y="2194560"/>
            <a:ext cx="1005480" cy="1005480"/>
          </a:xfrm>
          <a:prstGeom prst="ellipse">
            <a:avLst/>
          </a:prstGeom>
          <a:solidFill>
            <a:srgbClr val="0F1B2D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" name="Image 1" descr="preencoded.png"/>
          <p:cNvPicPr/>
          <p:nvPr/>
        </p:nvPicPr>
        <p:blipFill>
          <a:blip r:embed="rId4"/>
          <a:stretch/>
        </p:blipFill>
        <p:spPr>
          <a:xfrm>
            <a:off x="5839200" y="2455920"/>
            <a:ext cx="482400" cy="482400"/>
          </a:xfrm>
          <a:prstGeom prst="rect">
            <a:avLst/>
          </a:prstGeom>
          <a:ln w="0">
            <a:noFill/>
          </a:ln>
        </p:spPr>
      </p:pic>
      <p:sp>
        <p:nvSpPr>
          <p:cNvPr id="70" name="Shape 9"/>
          <p:cNvSpPr/>
          <p:nvPr/>
        </p:nvSpPr>
        <p:spPr>
          <a:xfrm>
            <a:off x="5998320" y="3410640"/>
            <a:ext cx="164160" cy="164160"/>
          </a:xfrm>
          <a:prstGeom prst="ellipse">
            <a:avLst/>
          </a:prstGeom>
          <a:solidFill>
            <a:srgbClr val="0F1B2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4526280" y="3657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97">
                <a:solidFill>
                  <a:srgbClr val="0F1B2D"/>
                </a:solidFill>
                <a:latin typeface="Calibri"/>
                <a:ea typeface="Calibri"/>
              </a:rPr>
              <a:t>DURING THE SPRINT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4480560" y="397764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Build, review &amp; integrate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4434840" y="4663440"/>
            <a:ext cx="32914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64748B"/>
                </a:solidFill>
                <a:latin typeface="Calibri"/>
                <a:ea typeface="Calibri"/>
              </a:rPr>
              <a:t>Work flows through feature branches and pull requests against develop (covered in the next pillars).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8778240" y="2194560"/>
            <a:ext cx="1005480" cy="1005480"/>
          </a:xfrm>
          <a:prstGeom prst="ellipse">
            <a:avLst/>
          </a:prstGeom>
          <a:solidFill>
            <a:srgbClr val="22D3EE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Image 2" descr="preencoded.png"/>
          <p:cNvPicPr/>
          <p:nvPr/>
        </p:nvPicPr>
        <p:blipFill>
          <a:blip r:embed="rId5"/>
          <a:stretch/>
        </p:blipFill>
        <p:spPr>
          <a:xfrm>
            <a:off x="9039600" y="2455920"/>
            <a:ext cx="482400" cy="482400"/>
          </a:xfrm>
          <a:prstGeom prst="rect">
            <a:avLst/>
          </a:prstGeom>
          <a:ln w="0">
            <a:noFill/>
          </a:ln>
        </p:spPr>
      </p:pic>
      <p:sp>
        <p:nvSpPr>
          <p:cNvPr id="76" name="Shape 14"/>
          <p:cNvSpPr/>
          <p:nvPr/>
        </p:nvSpPr>
        <p:spPr>
          <a:xfrm>
            <a:off x="9198720" y="3410640"/>
            <a:ext cx="164160" cy="16416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7726680" y="3657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97">
                <a:solidFill>
                  <a:srgbClr val="22D3EE"/>
                </a:solidFill>
                <a:latin typeface="Calibri"/>
                <a:ea typeface="Calibri"/>
              </a:rPr>
              <a:t>SPRINT END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7680960" y="397764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Developer demos the changes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7635240" y="4663440"/>
            <a:ext cx="32914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64748B"/>
                </a:solidFill>
                <a:latin typeface="Calibri"/>
                <a:ea typeface="Calibri"/>
              </a:rPr>
              <a:t>Whoever built it, shows it — a live demo of the delivered increment to the team and stakeholders.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45BE0EF-6DA8-631E-618C-1B607B630CB4}"/>
              </a:ext>
            </a:extLst>
          </p:cNvPr>
          <p:cNvSpPr/>
          <p:nvPr/>
        </p:nvSpPr>
        <p:spPr>
          <a:xfrm>
            <a:off x="756920" y="7318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0F172A"/>
                </a:solidFill>
                <a:latin typeface="Trebuchet MS"/>
                <a:ea typeface="Trebuchet MS"/>
              </a:rPr>
              <a:t>From Day 1 ticket to sprint-end demo</a:t>
            </a: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1"/>
          <p:cNvSpPr/>
          <p:nvPr/>
        </p:nvSpPr>
        <p:spPr>
          <a:xfrm>
            <a:off x="594360" y="77724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latin typeface="Trebuchet MS"/>
                <a:ea typeface="Trebuchet MS"/>
              </a:rPr>
              <a:t>The golden rules of our branches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594360" y="1828800"/>
            <a:ext cx="3565800" cy="2869579"/>
          </a:xfrm>
          <a:prstGeom prst="rect">
            <a:avLst/>
          </a:prstGeom>
          <a:solidFill>
            <a:srgbClr val="0F1B2D"/>
          </a:solidFill>
          <a:ln w="12700">
            <a:solidFill>
              <a:srgbClr val="334155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960120" y="2240280"/>
            <a:ext cx="914040" cy="914040"/>
          </a:xfrm>
          <a:prstGeom prst="ellipse">
            <a:avLst/>
          </a:prstGeom>
          <a:solidFill>
            <a:srgbClr val="22C55E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Image 0" descr="preencoded.png"/>
          <p:cNvPicPr/>
          <p:nvPr/>
        </p:nvPicPr>
        <p:blipFill>
          <a:blip r:embed="rId3"/>
          <a:stretch/>
        </p:blipFill>
        <p:spPr>
          <a:xfrm>
            <a:off x="1197720" y="247788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91" name="Text 4"/>
          <p:cNvSpPr/>
          <p:nvPr/>
        </p:nvSpPr>
        <p:spPr>
          <a:xfrm>
            <a:off x="2011680" y="22860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22C55E"/>
                </a:solidFill>
                <a:latin typeface="Consolas"/>
                <a:ea typeface="Consolas"/>
              </a:rPr>
              <a:t>main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2011680" y="27615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94A3B8"/>
                </a:solidFill>
                <a:latin typeface="Calibri"/>
                <a:ea typeface="Calibri"/>
              </a:rPr>
              <a:t>= Production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960120" y="3353296"/>
            <a:ext cx="283464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960120" y="3503240"/>
            <a:ext cx="2834280" cy="10265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50" b="0" strike="noStrike" spc="-1" dirty="0">
                <a:solidFill>
                  <a:srgbClr val="CBD5E1"/>
                </a:solidFill>
                <a:latin typeface="Calibri"/>
                <a:ea typeface="Calibri"/>
              </a:rPr>
              <a:t>main always reflects exactly what is live in production. If it is on main, it is shipped.</a:t>
            </a:r>
            <a:endParaRPr lang="en-US" sz="14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4453200" y="1828800"/>
            <a:ext cx="3565800" cy="2869579"/>
          </a:xfrm>
          <a:prstGeom prst="rect">
            <a:avLst/>
          </a:prstGeom>
          <a:solidFill>
            <a:srgbClr val="0F1B2D"/>
          </a:solidFill>
          <a:ln w="12700">
            <a:solidFill>
              <a:srgbClr val="334155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4818960" y="2240280"/>
            <a:ext cx="914040" cy="914040"/>
          </a:xfrm>
          <a:prstGeom prst="ellipse">
            <a:avLst/>
          </a:prstGeom>
          <a:solidFill>
            <a:srgbClr val="F59E0B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Image 1" descr="preencoded.png"/>
          <p:cNvPicPr/>
          <p:nvPr/>
        </p:nvPicPr>
        <p:blipFill>
          <a:blip r:embed="rId4"/>
          <a:stretch/>
        </p:blipFill>
        <p:spPr>
          <a:xfrm>
            <a:off x="5056560" y="247788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98" name="Text 10"/>
          <p:cNvSpPr/>
          <p:nvPr/>
        </p:nvSpPr>
        <p:spPr>
          <a:xfrm>
            <a:off x="5870520" y="22860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59E0B"/>
                </a:solidFill>
                <a:latin typeface="Consolas"/>
                <a:ea typeface="Consolas"/>
              </a:rPr>
              <a:t>release/*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5870520" y="27615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94A3B8"/>
                </a:solidFill>
                <a:latin typeface="Calibri"/>
                <a:ea typeface="Calibri"/>
              </a:rPr>
              <a:t>= UAT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4818600" y="3353296"/>
            <a:ext cx="283464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4818960" y="3503240"/>
            <a:ext cx="2834280" cy="10265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BD5E1"/>
                </a:solidFill>
                <a:latin typeface="Calibri"/>
                <a:ea typeface="Calibri"/>
              </a:rPr>
              <a:t>The active release branch reflects the code currently under test in UAT — nothing more, nothing less.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4"/>
          <p:cNvSpPr/>
          <p:nvPr/>
        </p:nvSpPr>
        <p:spPr>
          <a:xfrm>
            <a:off x="8312040" y="1828800"/>
            <a:ext cx="3565800" cy="2869579"/>
          </a:xfrm>
          <a:prstGeom prst="rect">
            <a:avLst/>
          </a:prstGeom>
          <a:solidFill>
            <a:srgbClr val="0F1B2D"/>
          </a:solidFill>
          <a:ln w="12700">
            <a:solidFill>
              <a:srgbClr val="334155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5"/>
          <p:cNvSpPr/>
          <p:nvPr/>
        </p:nvSpPr>
        <p:spPr>
          <a:xfrm>
            <a:off x="8677800" y="2240280"/>
            <a:ext cx="914040" cy="914040"/>
          </a:xfrm>
          <a:prstGeom prst="ellipse">
            <a:avLst/>
          </a:prstGeom>
          <a:solidFill>
            <a:srgbClr val="14B8A6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Image 2" descr="preencoded.png"/>
          <p:cNvPicPr/>
          <p:nvPr/>
        </p:nvPicPr>
        <p:blipFill>
          <a:blip r:embed="rId5"/>
          <a:stretch/>
        </p:blipFill>
        <p:spPr>
          <a:xfrm>
            <a:off x="8915400" y="247788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105" name="Text 16"/>
          <p:cNvSpPr/>
          <p:nvPr/>
        </p:nvSpPr>
        <p:spPr>
          <a:xfrm>
            <a:off x="9729360" y="22860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14B8A6"/>
                </a:solidFill>
                <a:latin typeface="Consolas"/>
                <a:ea typeface="Consolas"/>
              </a:rPr>
              <a:t>Protected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9729360" y="27615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94A3B8"/>
                </a:solidFill>
                <a:latin typeface="Calibri"/>
                <a:ea typeface="Calibri"/>
              </a:rPr>
              <a:t>No deletions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8"/>
          <p:cNvSpPr/>
          <p:nvPr/>
        </p:nvSpPr>
        <p:spPr>
          <a:xfrm>
            <a:off x="8677440" y="3353296"/>
            <a:ext cx="283464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9"/>
          <p:cNvSpPr/>
          <p:nvPr/>
        </p:nvSpPr>
        <p:spPr>
          <a:xfrm>
            <a:off x="8677800" y="3503240"/>
            <a:ext cx="2834280" cy="10265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BD5E1"/>
                </a:solidFill>
                <a:latin typeface="Calibri"/>
                <a:ea typeface="Calibri"/>
              </a:rPr>
              <a:t>No one has permission to delete main or develop. Both are protected from force-push and force-delete.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640080" y="5029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14B8A6"/>
                </a:solidFill>
                <a:latin typeface="Calibri"/>
                <a:ea typeface="Calibri"/>
              </a:rPr>
              <a:t>PILLAR 02 · BRANCH MODEL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94360" y="77724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How code flows through branches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868680" y="1965960"/>
            <a:ext cx="6766200" cy="914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868680" y="1965960"/>
            <a:ext cx="118440" cy="9140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1252800" y="2277000"/>
            <a:ext cx="292320" cy="29232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1737360" y="1965960"/>
            <a:ext cx="4205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F172A"/>
                </a:solidFill>
                <a:latin typeface="Consolas"/>
                <a:ea typeface="Consolas"/>
              </a:rPr>
              <a:t>feature/*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1737360" y="24598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64748B"/>
                </a:solidFill>
                <a:latin typeface="Calibri"/>
                <a:ea typeface="Calibri"/>
              </a:rPr>
              <a:t>Where each engineer builds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5852160" y="2167200"/>
            <a:ext cx="1554120" cy="51156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5852160" y="2167200"/>
            <a:ext cx="1554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97">
                <a:solidFill>
                  <a:srgbClr val="FFFFFF"/>
                </a:solidFill>
                <a:latin typeface="Calibri"/>
                <a:ea typeface="Calibri"/>
              </a:rPr>
              <a:t>LOCAL / DEV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3063240" y="2962440"/>
            <a:ext cx="360" cy="1080"/>
          </a:xfrm>
          <a:prstGeom prst="line">
            <a:avLst/>
          </a:prstGeom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920" rIns="90000" bIns="-439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0"/>
          <p:cNvSpPr/>
          <p:nvPr/>
        </p:nvSpPr>
        <p:spPr>
          <a:xfrm>
            <a:off x="868680" y="3044880"/>
            <a:ext cx="6766200" cy="914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868680" y="3044880"/>
            <a:ext cx="118440" cy="9140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1252800" y="3355920"/>
            <a:ext cx="292320" cy="29232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1737360" y="3044880"/>
            <a:ext cx="4205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F172A"/>
                </a:solidFill>
                <a:latin typeface="Consolas"/>
                <a:ea typeface="Consolas"/>
              </a:rPr>
              <a:t>develop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1737360" y="35388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64748B"/>
                </a:solidFill>
                <a:latin typeface="Calibri"/>
                <a:ea typeface="Calibri"/>
              </a:rPr>
              <a:t>Latest integrated team code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5852160" y="3246120"/>
            <a:ext cx="1554120" cy="5115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5852160" y="3246120"/>
            <a:ext cx="1554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97">
                <a:solidFill>
                  <a:srgbClr val="FFFFFF"/>
                </a:solidFill>
                <a:latin typeface="Calibri"/>
                <a:ea typeface="Calibri"/>
              </a:rPr>
              <a:t>INTEGRATION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7"/>
          <p:cNvSpPr/>
          <p:nvPr/>
        </p:nvSpPr>
        <p:spPr>
          <a:xfrm>
            <a:off x="3063240" y="4041360"/>
            <a:ext cx="360" cy="1080"/>
          </a:xfrm>
          <a:prstGeom prst="line">
            <a:avLst/>
          </a:prstGeom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920" rIns="90000" bIns="-439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8"/>
          <p:cNvSpPr/>
          <p:nvPr/>
        </p:nvSpPr>
        <p:spPr>
          <a:xfrm>
            <a:off x="868680" y="4123800"/>
            <a:ext cx="6766200" cy="914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9"/>
          <p:cNvSpPr/>
          <p:nvPr/>
        </p:nvSpPr>
        <p:spPr>
          <a:xfrm>
            <a:off x="868680" y="4123800"/>
            <a:ext cx="118440" cy="9140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1252800" y="4434840"/>
            <a:ext cx="292320" cy="2923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1"/>
          <p:cNvSpPr/>
          <p:nvPr/>
        </p:nvSpPr>
        <p:spPr>
          <a:xfrm>
            <a:off x="1737360" y="4123800"/>
            <a:ext cx="4205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 dirty="0">
                <a:solidFill>
                  <a:srgbClr val="0F172A"/>
                </a:solidFill>
                <a:latin typeface="Consolas"/>
                <a:ea typeface="Consolas"/>
              </a:rPr>
              <a:t>release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1737360" y="4617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64748B"/>
                </a:solidFill>
                <a:latin typeface="Calibri"/>
                <a:ea typeface="Calibri"/>
              </a:rPr>
              <a:t>Deployed by Jules / Harness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3"/>
          <p:cNvSpPr/>
          <p:nvPr/>
        </p:nvSpPr>
        <p:spPr>
          <a:xfrm>
            <a:off x="5852160" y="4325040"/>
            <a:ext cx="1554120" cy="5115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4"/>
          <p:cNvSpPr/>
          <p:nvPr/>
        </p:nvSpPr>
        <p:spPr>
          <a:xfrm>
            <a:off x="5852160" y="4325040"/>
            <a:ext cx="1554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97">
                <a:solidFill>
                  <a:srgbClr val="FFFFFF"/>
                </a:solidFill>
                <a:latin typeface="Calibri"/>
                <a:ea typeface="Calibri"/>
              </a:rPr>
              <a:t>UAT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25"/>
          <p:cNvSpPr/>
          <p:nvPr/>
        </p:nvSpPr>
        <p:spPr>
          <a:xfrm>
            <a:off x="3063240" y="5120640"/>
            <a:ext cx="360" cy="720"/>
          </a:xfrm>
          <a:prstGeom prst="line">
            <a:avLst/>
          </a:prstGeom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26"/>
          <p:cNvSpPr/>
          <p:nvPr/>
        </p:nvSpPr>
        <p:spPr>
          <a:xfrm>
            <a:off x="868680" y="5203080"/>
            <a:ext cx="6766200" cy="914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7"/>
          <p:cNvSpPr/>
          <p:nvPr/>
        </p:nvSpPr>
        <p:spPr>
          <a:xfrm>
            <a:off x="868680" y="5203080"/>
            <a:ext cx="118440" cy="91404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28"/>
          <p:cNvSpPr/>
          <p:nvPr/>
        </p:nvSpPr>
        <p:spPr>
          <a:xfrm>
            <a:off x="1252800" y="5513760"/>
            <a:ext cx="292320" cy="29232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29"/>
          <p:cNvSpPr/>
          <p:nvPr/>
        </p:nvSpPr>
        <p:spPr>
          <a:xfrm>
            <a:off x="1737360" y="5203080"/>
            <a:ext cx="4205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F172A"/>
                </a:solidFill>
                <a:latin typeface="Consolas"/>
                <a:ea typeface="Consolas"/>
              </a:rPr>
              <a:t>main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30"/>
          <p:cNvSpPr/>
          <p:nvPr/>
        </p:nvSpPr>
        <p:spPr>
          <a:xfrm>
            <a:off x="1737360" y="56966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64748B"/>
                </a:solidFill>
                <a:latin typeface="Calibri"/>
                <a:ea typeface="Calibri"/>
              </a:rPr>
              <a:t>Live, shipped code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31"/>
          <p:cNvSpPr/>
          <p:nvPr/>
        </p:nvSpPr>
        <p:spPr>
          <a:xfrm>
            <a:off x="5852160" y="5403960"/>
            <a:ext cx="1554120" cy="5115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32"/>
          <p:cNvSpPr/>
          <p:nvPr/>
        </p:nvSpPr>
        <p:spPr>
          <a:xfrm>
            <a:off x="5852160" y="5403960"/>
            <a:ext cx="1554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97">
                <a:solidFill>
                  <a:srgbClr val="FFFFFF"/>
                </a:solidFill>
                <a:latin typeface="Calibri"/>
                <a:ea typeface="Calibri"/>
              </a:rPr>
              <a:t>PRODUCTION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33"/>
          <p:cNvSpPr/>
          <p:nvPr/>
        </p:nvSpPr>
        <p:spPr>
          <a:xfrm>
            <a:off x="1398960" y="2880360"/>
            <a:ext cx="360" cy="164520"/>
          </a:xfrm>
          <a:prstGeom prst="line">
            <a:avLst/>
          </a:prstGeom>
          <a:ln w="31750">
            <a:solidFill>
              <a:srgbClr val="14B8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34"/>
          <p:cNvSpPr/>
          <p:nvPr/>
        </p:nvSpPr>
        <p:spPr>
          <a:xfrm>
            <a:off x="1398960" y="3959280"/>
            <a:ext cx="360" cy="164520"/>
          </a:xfrm>
          <a:prstGeom prst="line">
            <a:avLst/>
          </a:prstGeom>
          <a:ln w="3175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35"/>
          <p:cNvSpPr/>
          <p:nvPr/>
        </p:nvSpPr>
        <p:spPr>
          <a:xfrm>
            <a:off x="1398960" y="5038200"/>
            <a:ext cx="360" cy="164520"/>
          </a:xfrm>
          <a:prstGeom prst="line">
            <a:avLst/>
          </a:prstGeom>
          <a:ln w="31750">
            <a:solidFill>
              <a:srgbClr val="22C55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36"/>
          <p:cNvSpPr/>
          <p:nvPr/>
        </p:nvSpPr>
        <p:spPr>
          <a:xfrm>
            <a:off x="8092440" y="1965960"/>
            <a:ext cx="3520080" cy="4343040"/>
          </a:xfrm>
          <a:prstGeom prst="rect">
            <a:avLst/>
          </a:prstGeom>
          <a:solidFill>
            <a:srgbClr val="0F1B2D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37"/>
          <p:cNvSpPr/>
          <p:nvPr/>
        </p:nvSpPr>
        <p:spPr>
          <a:xfrm>
            <a:off x="8412480" y="21945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Trebuchet MS"/>
                <a:ea typeface="Trebuchet MS"/>
              </a:rPr>
              <a:t>Reading the ladder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38"/>
          <p:cNvSpPr/>
          <p:nvPr/>
        </p:nvSpPr>
        <p:spPr>
          <a:xfrm>
            <a:off x="8412480" y="2797920"/>
            <a:ext cx="127800" cy="1278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39"/>
          <p:cNvSpPr/>
          <p:nvPr/>
        </p:nvSpPr>
        <p:spPr>
          <a:xfrm>
            <a:off x="8659440" y="269748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Each step down = a promotion.  </a:t>
            </a:r>
            <a:r>
              <a:rPr lang="en-US" sz="1250" b="0" strike="noStrike" spc="-1">
                <a:solidFill>
                  <a:srgbClr val="94A3B8"/>
                </a:solidFill>
                <a:latin typeface="Calibri"/>
                <a:ea typeface="Calibri"/>
              </a:rPr>
              <a:t>Code earns its way forward — never the reverse.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40"/>
          <p:cNvSpPr/>
          <p:nvPr/>
        </p:nvSpPr>
        <p:spPr>
          <a:xfrm>
            <a:off x="8412480" y="3666600"/>
            <a:ext cx="127800" cy="1278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41"/>
          <p:cNvSpPr/>
          <p:nvPr/>
        </p:nvSpPr>
        <p:spPr>
          <a:xfrm>
            <a:off x="8659440" y="356616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develop is the team's truth.  </a:t>
            </a:r>
            <a:r>
              <a:rPr lang="en-US" sz="1250" b="0" strike="noStrike" spc="-1">
                <a:solidFill>
                  <a:srgbClr val="94A3B8"/>
                </a:solidFill>
                <a:latin typeface="Calibri"/>
                <a:ea typeface="Calibri"/>
              </a:rPr>
              <a:t>All feature work merges here first, via PR.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42"/>
          <p:cNvSpPr/>
          <p:nvPr/>
        </p:nvSpPr>
        <p:spPr>
          <a:xfrm>
            <a:off x="8412480" y="4535280"/>
            <a:ext cx="127800" cy="1278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43"/>
          <p:cNvSpPr/>
          <p:nvPr/>
        </p:nvSpPr>
        <p:spPr>
          <a:xfrm>
            <a:off x="8659440" y="443484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release/&lt;date&gt; is cut from develop  </a:t>
            </a:r>
            <a:r>
              <a:rPr lang="en-US" sz="1250" b="0" strike="noStrike" spc="-1">
                <a:solidFill>
                  <a:srgbClr val="94A3B8"/>
                </a:solidFill>
                <a:latin typeface="Calibri"/>
                <a:ea typeface="Calibri"/>
              </a:rPr>
              <a:t>and is the only branch deployed to UAT.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44"/>
          <p:cNvSpPr/>
          <p:nvPr/>
        </p:nvSpPr>
        <p:spPr>
          <a:xfrm>
            <a:off x="8412480" y="5403960"/>
            <a:ext cx="127800" cy="1278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45"/>
          <p:cNvSpPr/>
          <p:nvPr/>
        </p:nvSpPr>
        <p:spPr>
          <a:xfrm>
            <a:off x="8659440" y="530352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main is the destination.  </a:t>
            </a:r>
            <a:r>
              <a:rPr lang="en-US" sz="1250" b="0" strike="noStrike" spc="-1">
                <a:solidFill>
                  <a:srgbClr val="94A3B8"/>
                </a:solidFill>
                <a:latin typeface="Calibri"/>
                <a:ea typeface="Calibri"/>
              </a:rPr>
              <a:t>After a successful prod release, the release branch merges back into main.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640080" y="5029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14B8A6"/>
                </a:solidFill>
                <a:latin typeface="Calibri"/>
                <a:ea typeface="Calibri"/>
              </a:rPr>
              <a:t>PILLAR 03 · GIT LIFECYCLE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594360" y="77724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The daily development flow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594360" y="1965960"/>
            <a:ext cx="2669760" cy="402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960120" y="2377440"/>
            <a:ext cx="868320" cy="868320"/>
          </a:xfrm>
          <a:prstGeom prst="ellipse">
            <a:avLst/>
          </a:prstGeom>
          <a:solidFill>
            <a:srgbClr val="14B8A6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9" name="Image 0" descr="preencoded.png"/>
          <p:cNvPicPr/>
          <p:nvPr/>
        </p:nvPicPr>
        <p:blipFill>
          <a:blip r:embed="rId3"/>
          <a:stretch/>
        </p:blipFill>
        <p:spPr>
          <a:xfrm>
            <a:off x="1185840" y="260316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60" name="Text 4"/>
          <p:cNvSpPr/>
          <p:nvPr/>
        </p:nvSpPr>
        <p:spPr>
          <a:xfrm>
            <a:off x="2350080" y="22860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E2E8F0"/>
                </a:solidFill>
                <a:latin typeface="Trebuchet MS"/>
                <a:ea typeface="Trebuchet MS"/>
              </a:rPr>
              <a:t>1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960120" y="352044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Start from develop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960120" y="4297680"/>
            <a:ext cx="2029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64748B"/>
                </a:solidFill>
                <a:latin typeface="Calibri"/>
                <a:ea typeface="Calibri"/>
              </a:rPr>
              <a:t>When a project or sprint begins, pull the latest code from the develop branch.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3282480" y="3977640"/>
            <a:ext cx="210240" cy="360"/>
          </a:xfrm>
          <a:prstGeom prst="line">
            <a:avLst/>
          </a:prstGeom>
          <a:ln w="31750">
            <a:solidFill>
              <a:srgbClr val="14B8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8"/>
          <p:cNvSpPr/>
          <p:nvPr/>
        </p:nvSpPr>
        <p:spPr>
          <a:xfrm>
            <a:off x="3511440" y="1965960"/>
            <a:ext cx="2669760" cy="402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3877200" y="2377440"/>
            <a:ext cx="868320" cy="868320"/>
          </a:xfrm>
          <a:prstGeom prst="ellipse">
            <a:avLst/>
          </a:prstGeom>
          <a:solidFill>
            <a:srgbClr val="0F1B2D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Image 1" descr="preencoded.png"/>
          <p:cNvPicPr/>
          <p:nvPr/>
        </p:nvPicPr>
        <p:blipFill>
          <a:blip r:embed="rId4"/>
          <a:stretch/>
        </p:blipFill>
        <p:spPr>
          <a:xfrm>
            <a:off x="4102920" y="260316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67" name="Text 10"/>
          <p:cNvSpPr/>
          <p:nvPr/>
        </p:nvSpPr>
        <p:spPr>
          <a:xfrm>
            <a:off x="5266800" y="22860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E2E8F0"/>
                </a:solidFill>
                <a:latin typeface="Trebuchet MS"/>
                <a:ea typeface="Trebuchet MS"/>
              </a:rPr>
              <a:t>2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3877200" y="352044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Branch off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3877200" y="4297680"/>
            <a:ext cx="2029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64748B"/>
                </a:solidFill>
                <a:latin typeface="Calibri"/>
                <a:ea typeface="Calibri"/>
              </a:rPr>
              <a:t>Each developer creates their own feature branch and works only on that branch.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6199560" y="3977640"/>
            <a:ext cx="210240" cy="360"/>
          </a:xfrm>
          <a:prstGeom prst="line">
            <a:avLst/>
          </a:prstGeom>
          <a:ln w="31750">
            <a:solidFill>
              <a:srgbClr val="0F1B2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4"/>
          <p:cNvSpPr/>
          <p:nvPr/>
        </p:nvSpPr>
        <p:spPr>
          <a:xfrm>
            <a:off x="6428160" y="1965960"/>
            <a:ext cx="2669760" cy="402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5"/>
          <p:cNvSpPr/>
          <p:nvPr/>
        </p:nvSpPr>
        <p:spPr>
          <a:xfrm>
            <a:off x="6793920" y="2377440"/>
            <a:ext cx="868320" cy="868320"/>
          </a:xfrm>
          <a:prstGeom prst="ellipse">
            <a:avLst/>
          </a:prstGeom>
          <a:solidFill>
            <a:srgbClr val="22D3EE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Image 2" descr="preencoded.png"/>
          <p:cNvPicPr/>
          <p:nvPr/>
        </p:nvPicPr>
        <p:blipFill>
          <a:blip r:embed="rId5"/>
          <a:stretch/>
        </p:blipFill>
        <p:spPr>
          <a:xfrm>
            <a:off x="7020000" y="260316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74" name="Text 16"/>
          <p:cNvSpPr/>
          <p:nvPr/>
        </p:nvSpPr>
        <p:spPr>
          <a:xfrm>
            <a:off x="8183880" y="22860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E2E8F0"/>
                </a:solidFill>
                <a:latin typeface="Trebuchet MS"/>
                <a:ea typeface="Trebuchet MS"/>
              </a:rPr>
              <a:t>3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6793920" y="352044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Check in daily (WIP)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8"/>
          <p:cNvSpPr/>
          <p:nvPr/>
        </p:nvSpPr>
        <p:spPr>
          <a:xfrm>
            <a:off x="6793920" y="4297680"/>
            <a:ext cx="2029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64748B"/>
                </a:solidFill>
                <a:latin typeface="Calibri"/>
                <a:ea typeface="Calibri"/>
              </a:rPr>
              <a:t>At end of day, push your in-progress feature branch — never risk a day's work to a system crash.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9116280" y="3977640"/>
            <a:ext cx="210600" cy="360"/>
          </a:xfrm>
          <a:prstGeom prst="line">
            <a:avLst/>
          </a:prstGeom>
          <a:ln w="31750">
            <a:solidFill>
              <a:srgbClr val="22D3E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0"/>
          <p:cNvSpPr/>
          <p:nvPr/>
        </p:nvSpPr>
        <p:spPr>
          <a:xfrm>
            <a:off x="9345240" y="1965960"/>
            <a:ext cx="2669760" cy="402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1"/>
          <p:cNvSpPr/>
          <p:nvPr/>
        </p:nvSpPr>
        <p:spPr>
          <a:xfrm>
            <a:off x="9711000" y="2377440"/>
            <a:ext cx="868320" cy="868320"/>
          </a:xfrm>
          <a:prstGeom prst="ellipse">
            <a:avLst/>
          </a:prstGeom>
          <a:solidFill>
            <a:srgbClr val="22C55E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0" name="Image 3" descr="preencoded.png"/>
          <p:cNvPicPr/>
          <p:nvPr/>
        </p:nvPicPr>
        <p:blipFill>
          <a:blip r:embed="rId6"/>
          <a:stretch/>
        </p:blipFill>
        <p:spPr>
          <a:xfrm>
            <a:off x="9936720" y="260316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81" name="Text 22"/>
          <p:cNvSpPr/>
          <p:nvPr/>
        </p:nvSpPr>
        <p:spPr>
          <a:xfrm>
            <a:off x="11100960" y="22860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E2E8F0"/>
                </a:solidFill>
                <a:latin typeface="Trebuchet MS"/>
                <a:ea typeface="Trebuchet MS"/>
              </a:rPr>
              <a:t>4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9711000" y="352044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Raise PR to develop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4"/>
          <p:cNvSpPr/>
          <p:nvPr/>
        </p:nvSpPr>
        <p:spPr>
          <a:xfrm>
            <a:off x="9711000" y="4297680"/>
            <a:ext cx="2029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64748B"/>
                </a:solidFill>
                <a:latin typeface="Calibri"/>
                <a:ea typeface="Calibri"/>
              </a:rPr>
              <a:t>Once the feature is complete, open a pull request from your feature branch into develop.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640080" y="5029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14B8A6"/>
                </a:solidFill>
                <a:latin typeface="Calibri"/>
                <a:ea typeface="Calibri"/>
              </a:rPr>
              <a:t>PILLAR 03 · PULL REQUEST QUALITY GATES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94360" y="77724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Raising a PR — the author's checklist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594360" y="14173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64748B"/>
                </a:solidFill>
                <a:latin typeface="Calibri"/>
                <a:ea typeface="Calibri"/>
              </a:rPr>
              <a:t>Before a pull request to develop is ready for review, the author owns all of the following: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594360" y="1965960"/>
            <a:ext cx="6766200" cy="868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4"/>
          <p:cNvSpPr/>
          <p:nvPr/>
        </p:nvSpPr>
        <p:spPr>
          <a:xfrm>
            <a:off x="777240" y="2107800"/>
            <a:ext cx="585000" cy="585000"/>
          </a:xfrm>
          <a:prstGeom prst="ellipse">
            <a:avLst/>
          </a:prstGeom>
          <a:solidFill>
            <a:srgbClr val="14B8A6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9" name="Image 0" descr="preencoded.png"/>
          <p:cNvPicPr/>
          <p:nvPr/>
        </p:nvPicPr>
        <p:blipFill>
          <a:blip r:embed="rId3"/>
          <a:stretch/>
        </p:blipFill>
        <p:spPr>
          <a:xfrm>
            <a:off x="923400" y="22539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90" name="Text 5"/>
          <p:cNvSpPr/>
          <p:nvPr/>
        </p:nvSpPr>
        <p:spPr>
          <a:xfrm>
            <a:off x="1554480" y="207576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Resolve all SonarQube issues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6"/>
          <p:cNvSpPr/>
          <p:nvPr/>
        </p:nvSpPr>
        <p:spPr>
          <a:xfrm>
            <a:off x="1554480" y="242316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4748B"/>
                </a:solidFill>
                <a:latin typeface="Calibri"/>
                <a:ea typeface="Calibri"/>
              </a:rPr>
              <a:t>No outstanding code-smell or reliability issues on the new code.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594360" y="2999160"/>
            <a:ext cx="6766200" cy="868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8"/>
          <p:cNvSpPr/>
          <p:nvPr/>
        </p:nvSpPr>
        <p:spPr>
          <a:xfrm>
            <a:off x="777240" y="3141000"/>
            <a:ext cx="585000" cy="585000"/>
          </a:xfrm>
          <a:prstGeom prst="ellipse">
            <a:avLst/>
          </a:prstGeom>
          <a:solidFill>
            <a:srgbClr val="0F1B2D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4" name="Image 1" descr="preencoded.png"/>
          <p:cNvPicPr/>
          <p:nvPr/>
        </p:nvPicPr>
        <p:blipFill>
          <a:blip r:embed="rId4"/>
          <a:stretch/>
        </p:blipFill>
        <p:spPr>
          <a:xfrm>
            <a:off x="923400" y="32871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95" name="Text 9"/>
          <p:cNvSpPr/>
          <p:nvPr/>
        </p:nvSpPr>
        <p:spPr>
          <a:xfrm>
            <a:off x="1554480" y="310896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Fix security vulnerabilities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1554480" y="345636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4748B"/>
                </a:solidFill>
                <a:latin typeface="Calibri"/>
                <a:ea typeface="Calibri"/>
              </a:rPr>
              <a:t>Every flagged vulnerability is remediated before review.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594360" y="4032360"/>
            <a:ext cx="6766200" cy="868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777240" y="4174200"/>
            <a:ext cx="585000" cy="585000"/>
          </a:xfrm>
          <a:prstGeom prst="ellipse">
            <a:avLst/>
          </a:prstGeom>
          <a:solidFill>
            <a:srgbClr val="22D3EE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Image 2" descr="preencoded.png"/>
          <p:cNvPicPr/>
          <p:nvPr/>
        </p:nvPicPr>
        <p:blipFill>
          <a:blip r:embed="rId5"/>
          <a:stretch/>
        </p:blipFill>
        <p:spPr>
          <a:xfrm>
            <a:off x="923400" y="43207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00" name="Text 13"/>
          <p:cNvSpPr/>
          <p:nvPr/>
        </p:nvSpPr>
        <p:spPr>
          <a:xfrm>
            <a:off x="1554480" y="414216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Rebase on latest develop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1554480" y="448956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4748B"/>
                </a:solidFill>
                <a:latin typeface="Calibri"/>
                <a:ea typeface="Calibri"/>
              </a:rPr>
              <a:t>Rebase on top of the newest develop and resolve all merge conflicts.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594360" y="5065920"/>
            <a:ext cx="6766200" cy="868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777240" y="5207400"/>
            <a:ext cx="585000" cy="585000"/>
          </a:xfrm>
          <a:prstGeom prst="ellipse">
            <a:avLst/>
          </a:prstGeom>
          <a:solidFill>
            <a:srgbClr val="22C55E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4" name="Image 3" descr="preencoded.png"/>
          <p:cNvPicPr/>
          <p:nvPr/>
        </p:nvPicPr>
        <p:blipFill>
          <a:blip r:embed="rId6"/>
          <a:stretch/>
        </p:blipFill>
        <p:spPr>
          <a:xfrm>
            <a:off x="923400" y="53539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05" name="Text 17"/>
          <p:cNvSpPr/>
          <p:nvPr/>
        </p:nvSpPr>
        <p:spPr>
          <a:xfrm>
            <a:off x="1554480" y="517536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Hit coverage targets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8"/>
          <p:cNvSpPr/>
          <p:nvPr/>
        </p:nvSpPr>
        <p:spPr>
          <a:xfrm>
            <a:off x="1554480" y="552312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4748B"/>
                </a:solidFill>
                <a:latin typeface="Calibri"/>
                <a:ea typeface="Calibri"/>
              </a:rPr>
              <a:t>New code above 90%, existing code maintained above 80%.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9"/>
          <p:cNvSpPr/>
          <p:nvPr/>
        </p:nvSpPr>
        <p:spPr>
          <a:xfrm>
            <a:off x="7726680" y="1965960"/>
            <a:ext cx="3885840" cy="1874160"/>
          </a:xfrm>
          <a:prstGeom prst="rect">
            <a:avLst/>
          </a:prstGeom>
          <a:solidFill>
            <a:srgbClr val="0F1B2D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0"/>
          <p:cNvSpPr/>
          <p:nvPr/>
        </p:nvSpPr>
        <p:spPr>
          <a:xfrm>
            <a:off x="8001000" y="2103120"/>
            <a:ext cx="3337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94A3B8"/>
                </a:solidFill>
                <a:latin typeface="Calibri"/>
                <a:ea typeface="Calibri"/>
              </a:rPr>
              <a:t>COVERAGE GATES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8001000" y="2432160"/>
            <a:ext cx="1691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22C55E"/>
                </a:solidFill>
                <a:latin typeface="Trebuchet MS"/>
                <a:ea typeface="Trebuchet MS"/>
              </a:rPr>
              <a:t>&gt;90%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2"/>
          <p:cNvSpPr/>
          <p:nvPr/>
        </p:nvSpPr>
        <p:spPr>
          <a:xfrm>
            <a:off x="8019360" y="3127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New code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3"/>
          <p:cNvSpPr/>
          <p:nvPr/>
        </p:nvSpPr>
        <p:spPr>
          <a:xfrm>
            <a:off x="9784080" y="2432160"/>
            <a:ext cx="1691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22D3EE"/>
                </a:solidFill>
                <a:latin typeface="Trebuchet MS"/>
                <a:ea typeface="Trebuchet MS"/>
              </a:rPr>
              <a:t>&gt;80%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4"/>
          <p:cNvSpPr/>
          <p:nvPr/>
        </p:nvSpPr>
        <p:spPr>
          <a:xfrm>
            <a:off x="9802440" y="3127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Existing code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5"/>
          <p:cNvSpPr/>
          <p:nvPr/>
        </p:nvSpPr>
        <p:spPr>
          <a:xfrm>
            <a:off x="7726680" y="3977640"/>
            <a:ext cx="3885840" cy="2331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6"/>
          <p:cNvSpPr/>
          <p:nvPr/>
        </p:nvSpPr>
        <p:spPr>
          <a:xfrm>
            <a:off x="8001000" y="4206240"/>
            <a:ext cx="639720" cy="639720"/>
          </a:xfrm>
          <a:prstGeom prst="ellipse">
            <a:avLst/>
          </a:prstGeom>
          <a:solidFill>
            <a:srgbClr val="F59E0B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Image 4" descr="preencoded.png"/>
          <p:cNvPicPr/>
          <p:nvPr/>
        </p:nvPicPr>
        <p:blipFill>
          <a:blip r:embed="rId7"/>
          <a:stretch/>
        </p:blipFill>
        <p:spPr>
          <a:xfrm>
            <a:off x="8165520" y="43707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16" name="Text 27"/>
          <p:cNvSpPr/>
          <p:nvPr/>
        </p:nvSpPr>
        <p:spPr>
          <a:xfrm>
            <a:off x="8778240" y="42246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PR description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8"/>
          <p:cNvSpPr/>
          <p:nvPr/>
        </p:nvSpPr>
        <p:spPr>
          <a:xfrm>
            <a:off x="8001000" y="4892040"/>
            <a:ext cx="3337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64748B"/>
                </a:solidFill>
                <a:latin typeface="Calibri"/>
                <a:ea typeface="Calibri"/>
              </a:rPr>
              <a:t>Attach a screenshot of the Sonar dashboard showing a clean status.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9"/>
          <p:cNvSpPr/>
          <p:nvPr/>
        </p:nvSpPr>
        <p:spPr>
          <a:xfrm>
            <a:off x="8001000" y="5440680"/>
            <a:ext cx="333756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0"/>
          <p:cNvSpPr/>
          <p:nvPr/>
        </p:nvSpPr>
        <p:spPr>
          <a:xfrm>
            <a:off x="8001000" y="5532120"/>
            <a:ext cx="3337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F172A"/>
                </a:solidFill>
                <a:latin typeface="Calibri"/>
                <a:ea typeface="Calibri"/>
              </a:rPr>
              <a:t>Reviewers </a:t>
            </a:r>
            <a:r>
              <a:rPr lang="en-US" sz="1300" b="0" strike="noStrike" spc="-1">
                <a:solidFill>
                  <a:srgbClr val="64748B"/>
                </a:solidFill>
                <a:latin typeface="Calibri"/>
                <a:ea typeface="Calibri"/>
              </a:rPr>
              <a:t>check the Sonar statistics first, then review the code.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640080" y="5029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14B8A6"/>
                </a:solidFill>
                <a:latin typeface="Calibri"/>
                <a:ea typeface="Calibri"/>
              </a:rPr>
              <a:t>PILLAR 03 · RELEASE &amp; DEPLOYMENT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594360" y="77724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Cutting, freezing &amp; shipping a release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"/>
          <p:cNvSpPr/>
          <p:nvPr/>
        </p:nvSpPr>
        <p:spPr>
          <a:xfrm>
            <a:off x="594360" y="2011680"/>
            <a:ext cx="2669760" cy="338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594360" y="2011680"/>
            <a:ext cx="2669760" cy="910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4"/>
          <p:cNvSpPr/>
          <p:nvPr/>
        </p:nvSpPr>
        <p:spPr>
          <a:xfrm>
            <a:off x="960120" y="2377440"/>
            <a:ext cx="822600" cy="822600"/>
          </a:xfrm>
          <a:prstGeom prst="ellipse">
            <a:avLst/>
          </a:prstGeom>
          <a:solidFill>
            <a:srgbClr val="14B8A6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5" name="Image 0" descr="preencoded.png"/>
          <p:cNvPicPr/>
          <p:nvPr/>
        </p:nvPicPr>
        <p:blipFill>
          <a:blip r:embed="rId3"/>
          <a:stretch/>
        </p:blipFill>
        <p:spPr>
          <a:xfrm>
            <a:off x="1173960" y="259128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26" name="Text 5"/>
          <p:cNvSpPr/>
          <p:nvPr/>
        </p:nvSpPr>
        <p:spPr>
          <a:xfrm>
            <a:off x="1920240" y="2468880"/>
            <a:ext cx="1206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14B8A6"/>
                </a:solidFill>
                <a:latin typeface="Calibri"/>
                <a:ea typeface="Calibri"/>
              </a:rPr>
              <a:t>STEP 1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960120" y="3429000"/>
            <a:ext cx="2029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Cut the release branch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960120" y="4114800"/>
            <a:ext cx="20296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4748B"/>
                </a:solidFill>
                <a:latin typeface="Calibri"/>
                <a:ea typeface="Calibri"/>
              </a:rPr>
              <a:t>After the approved PR merges to develop, cut a dated release branch.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960120" y="4892040"/>
            <a:ext cx="1938240" cy="365400"/>
          </a:xfrm>
          <a:prstGeom prst="roundRect">
            <a:avLst>
              <a:gd name="adj" fmla="val 15000"/>
            </a:avLst>
          </a:prstGeom>
          <a:solidFill>
            <a:srgbClr val="0F1B2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960120" y="489204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22D3EE"/>
                </a:solidFill>
                <a:latin typeface="Consolas"/>
                <a:ea typeface="Consolas"/>
              </a:rPr>
              <a:t>release/10-june-2026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3282480" y="3703320"/>
            <a:ext cx="210240" cy="360"/>
          </a:xfrm>
          <a:prstGeom prst="line">
            <a:avLst/>
          </a:prstGeom>
          <a:ln w="31750">
            <a:solidFill>
              <a:srgbClr val="14B8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3511440" y="2011680"/>
            <a:ext cx="2669760" cy="338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3511440" y="2011680"/>
            <a:ext cx="2669760" cy="910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3877200" y="2377440"/>
            <a:ext cx="822600" cy="822600"/>
          </a:xfrm>
          <a:prstGeom prst="ellipse">
            <a:avLst/>
          </a:prstGeom>
          <a:solidFill>
            <a:srgbClr val="F59E0B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Image 1" descr="preencoded.png"/>
          <p:cNvPicPr/>
          <p:nvPr/>
        </p:nvPicPr>
        <p:blipFill>
          <a:blip r:embed="rId4"/>
          <a:stretch/>
        </p:blipFill>
        <p:spPr>
          <a:xfrm>
            <a:off x="4091040" y="259128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36" name="Text 14"/>
          <p:cNvSpPr/>
          <p:nvPr/>
        </p:nvSpPr>
        <p:spPr>
          <a:xfrm>
            <a:off x="4837320" y="2468880"/>
            <a:ext cx="1206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F59E0B"/>
                </a:solidFill>
                <a:latin typeface="Calibri"/>
                <a:ea typeface="Calibri"/>
              </a:rPr>
              <a:t>STEP 2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3877200" y="3429000"/>
            <a:ext cx="2029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Deploy to UAT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6"/>
          <p:cNvSpPr/>
          <p:nvPr/>
        </p:nvSpPr>
        <p:spPr>
          <a:xfrm>
            <a:off x="3877200" y="4114800"/>
            <a:ext cx="20296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4748B"/>
                </a:solidFill>
                <a:latin typeface="Calibri"/>
                <a:ea typeface="Calibri"/>
              </a:rPr>
              <a:t>The Jules / Harness pipeline deploys only the release branch to the UAT environment.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7"/>
          <p:cNvSpPr/>
          <p:nvPr/>
        </p:nvSpPr>
        <p:spPr>
          <a:xfrm>
            <a:off x="6199560" y="3703320"/>
            <a:ext cx="210240" cy="360"/>
          </a:xfrm>
          <a:prstGeom prst="line">
            <a:avLst/>
          </a:prstGeom>
          <a:ln w="3175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6428160" y="2011680"/>
            <a:ext cx="2669760" cy="338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9"/>
          <p:cNvSpPr/>
          <p:nvPr/>
        </p:nvSpPr>
        <p:spPr>
          <a:xfrm>
            <a:off x="6428160" y="2011680"/>
            <a:ext cx="2669760" cy="91080"/>
          </a:xfrm>
          <a:prstGeom prst="rect">
            <a:avLst/>
          </a:prstGeom>
          <a:solidFill>
            <a:srgbClr val="0F1B2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20"/>
          <p:cNvSpPr/>
          <p:nvPr/>
        </p:nvSpPr>
        <p:spPr>
          <a:xfrm>
            <a:off x="6793920" y="2377440"/>
            <a:ext cx="822600" cy="822600"/>
          </a:xfrm>
          <a:prstGeom prst="ellipse">
            <a:avLst/>
          </a:prstGeom>
          <a:solidFill>
            <a:srgbClr val="0F1B2D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3" name="Image 2" descr="preencoded.png"/>
          <p:cNvPicPr/>
          <p:nvPr/>
        </p:nvPicPr>
        <p:blipFill>
          <a:blip r:embed="rId5"/>
          <a:stretch/>
        </p:blipFill>
        <p:spPr>
          <a:xfrm>
            <a:off x="7008120" y="259128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44" name="Text 21"/>
          <p:cNvSpPr/>
          <p:nvPr/>
        </p:nvSpPr>
        <p:spPr>
          <a:xfrm>
            <a:off x="7754040" y="2468880"/>
            <a:ext cx="1206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0F1B2D"/>
                </a:solidFill>
                <a:latin typeface="Calibri"/>
                <a:ea typeface="Calibri"/>
              </a:rPr>
              <a:t>STEP 3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2"/>
          <p:cNvSpPr/>
          <p:nvPr/>
        </p:nvSpPr>
        <p:spPr>
          <a:xfrm>
            <a:off x="6793920" y="3429000"/>
            <a:ext cx="2029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Code freeze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6793920" y="4114800"/>
            <a:ext cx="20296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4748B"/>
                </a:solidFill>
                <a:latin typeface="Calibri"/>
                <a:ea typeface="Calibri"/>
              </a:rPr>
              <a:t>Two days before production, the release branch is locked — no further commits are allowed.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4"/>
          <p:cNvSpPr/>
          <p:nvPr/>
        </p:nvSpPr>
        <p:spPr>
          <a:xfrm>
            <a:off x="9116280" y="3703320"/>
            <a:ext cx="210600" cy="360"/>
          </a:xfrm>
          <a:prstGeom prst="line">
            <a:avLst/>
          </a:prstGeom>
          <a:ln w="31750">
            <a:solidFill>
              <a:srgbClr val="0F1B2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5"/>
          <p:cNvSpPr/>
          <p:nvPr/>
        </p:nvSpPr>
        <p:spPr>
          <a:xfrm>
            <a:off x="9345240" y="2011680"/>
            <a:ext cx="2669760" cy="338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6"/>
          <p:cNvSpPr/>
          <p:nvPr/>
        </p:nvSpPr>
        <p:spPr>
          <a:xfrm>
            <a:off x="9345240" y="2011680"/>
            <a:ext cx="2669760" cy="9108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27"/>
          <p:cNvSpPr/>
          <p:nvPr/>
        </p:nvSpPr>
        <p:spPr>
          <a:xfrm>
            <a:off x="9711000" y="2377440"/>
            <a:ext cx="822600" cy="822600"/>
          </a:xfrm>
          <a:prstGeom prst="ellipse">
            <a:avLst/>
          </a:prstGeom>
          <a:solidFill>
            <a:srgbClr val="22C55E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1" name="Image 3" descr="preencoded.png"/>
          <p:cNvPicPr/>
          <p:nvPr/>
        </p:nvPicPr>
        <p:blipFill>
          <a:blip r:embed="rId6"/>
          <a:stretch/>
        </p:blipFill>
        <p:spPr>
          <a:xfrm>
            <a:off x="9924840" y="259128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52" name="Text 28"/>
          <p:cNvSpPr/>
          <p:nvPr/>
        </p:nvSpPr>
        <p:spPr>
          <a:xfrm>
            <a:off x="10671120" y="2468880"/>
            <a:ext cx="1206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22C55E"/>
                </a:solidFill>
                <a:latin typeface="Calibri"/>
                <a:ea typeface="Calibri"/>
              </a:rPr>
              <a:t>STEP 4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29"/>
          <p:cNvSpPr/>
          <p:nvPr/>
        </p:nvSpPr>
        <p:spPr>
          <a:xfrm>
            <a:off x="9711000" y="3429000"/>
            <a:ext cx="2029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F172A"/>
                </a:solidFill>
                <a:latin typeface="Trebuchet MS"/>
                <a:ea typeface="Trebuchet MS"/>
              </a:rPr>
              <a:t>Ship &amp; merge back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0"/>
          <p:cNvSpPr/>
          <p:nvPr/>
        </p:nvSpPr>
        <p:spPr>
          <a:xfrm>
            <a:off x="9711000" y="4114800"/>
            <a:ext cx="20296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4748B"/>
                </a:solidFill>
                <a:latin typeface="Calibri"/>
                <a:ea typeface="Calibri"/>
              </a:rPr>
              <a:t>Push the release to production; once verified healthy, merge the release branch back into main.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1"/>
          <p:cNvSpPr/>
          <p:nvPr/>
        </p:nvSpPr>
        <p:spPr>
          <a:xfrm>
            <a:off x="594360" y="5715000"/>
            <a:ext cx="11018160" cy="776880"/>
          </a:xfrm>
          <a:prstGeom prst="rect">
            <a:avLst/>
          </a:prstGeom>
          <a:solidFill>
            <a:srgbClr val="FFFBEB"/>
          </a:solidFill>
          <a:ln w="152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32"/>
          <p:cNvSpPr/>
          <p:nvPr/>
        </p:nvSpPr>
        <p:spPr>
          <a:xfrm>
            <a:off x="822960" y="5852160"/>
            <a:ext cx="502560" cy="502560"/>
          </a:xfrm>
          <a:prstGeom prst="ellipse">
            <a:avLst/>
          </a:prstGeom>
          <a:solidFill>
            <a:srgbClr val="F59E0B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7" name="Image 4" descr="preencoded.png"/>
          <p:cNvPicPr/>
          <p:nvPr/>
        </p:nvPicPr>
        <p:blipFill>
          <a:blip r:embed="rId5"/>
          <a:stretch/>
        </p:blipFill>
        <p:spPr>
          <a:xfrm>
            <a:off x="960120" y="598932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258" name="Text 33"/>
          <p:cNvSpPr/>
          <p:nvPr/>
        </p:nvSpPr>
        <p:spPr>
          <a:xfrm>
            <a:off x="1508760" y="5715000"/>
            <a:ext cx="99666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92400E"/>
                </a:solidFill>
                <a:latin typeface="Calibri"/>
                <a:ea typeface="Calibri"/>
              </a:rPr>
              <a:t>Code freeze is a hard stop.  </a:t>
            </a:r>
            <a:r>
              <a:rPr lang="en-US" sz="1350" b="0" strike="noStrike" spc="-1">
                <a:solidFill>
                  <a:srgbClr val="78350F"/>
                </a:solidFill>
                <a:latin typeface="Calibri"/>
                <a:ea typeface="Calibri"/>
              </a:rPr>
              <a:t>From 2 days before the production release, no one commits to the release branch until it has shipped.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640080" y="548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22D3EE"/>
                </a:solidFill>
                <a:latin typeface="Calibri"/>
                <a:ea typeface="Calibri"/>
              </a:rPr>
              <a:t>IN SUMMARY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594360" y="841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 dirty="0">
                <a:latin typeface="Trebuchet MS"/>
                <a:ea typeface="Trebuchet MS"/>
              </a:rPr>
              <a:t>Principles</a:t>
            </a:r>
            <a:r>
              <a:rPr lang="en-US" sz="3200" b="1" strike="noStrike" spc="-1" dirty="0">
                <a:solidFill>
                  <a:srgbClr val="FFFFFF"/>
                </a:solidFill>
                <a:latin typeface="Trebuchet MS"/>
                <a:ea typeface="Trebuchet MS"/>
              </a:rPr>
              <a:t> to remember</a:t>
            </a: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594360" y="1828800"/>
            <a:ext cx="3520080" cy="1874160"/>
          </a:xfrm>
          <a:prstGeom prst="rect">
            <a:avLst/>
          </a:prstGeom>
          <a:solidFill>
            <a:srgbClr val="0F1B2D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3"/>
          <p:cNvSpPr/>
          <p:nvPr/>
        </p:nvSpPr>
        <p:spPr>
          <a:xfrm>
            <a:off x="887040" y="2121480"/>
            <a:ext cx="639720" cy="639720"/>
          </a:xfrm>
          <a:prstGeom prst="ellipse">
            <a:avLst/>
          </a:prstGeom>
          <a:solidFill>
            <a:srgbClr val="22C55E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3" name="Image 0" descr="preencoded.png"/>
          <p:cNvPicPr/>
          <p:nvPr/>
        </p:nvPicPr>
        <p:blipFill>
          <a:blip r:embed="rId3"/>
          <a:stretch/>
        </p:blipFill>
        <p:spPr>
          <a:xfrm>
            <a:off x="1051560" y="22860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64" name="Text 4"/>
          <p:cNvSpPr/>
          <p:nvPr/>
        </p:nvSpPr>
        <p:spPr>
          <a:xfrm>
            <a:off x="1691640" y="208476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Trebuchet MS"/>
                <a:ea typeface="Trebuchet MS"/>
              </a:rPr>
              <a:t>main is sacred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887040" y="29077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CBD5E1"/>
                </a:solidFill>
                <a:latin typeface="Calibri"/>
                <a:ea typeface="Calibri"/>
              </a:rPr>
              <a:t>It always mirrors production. Only verified releases merge back in.</a:t>
            </a:r>
            <a:endParaRPr lang="en-US" sz="13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6"/>
          <p:cNvSpPr/>
          <p:nvPr/>
        </p:nvSpPr>
        <p:spPr>
          <a:xfrm>
            <a:off x="4370760" y="1828800"/>
            <a:ext cx="3520080" cy="1874160"/>
          </a:xfrm>
          <a:prstGeom prst="rect">
            <a:avLst/>
          </a:prstGeom>
          <a:solidFill>
            <a:srgbClr val="0F1B2D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7"/>
          <p:cNvSpPr/>
          <p:nvPr/>
        </p:nvSpPr>
        <p:spPr>
          <a:xfrm>
            <a:off x="4663440" y="2121480"/>
            <a:ext cx="639720" cy="639720"/>
          </a:xfrm>
          <a:prstGeom prst="ellipse">
            <a:avLst/>
          </a:prstGeom>
          <a:solidFill>
            <a:srgbClr val="14B8A6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8" name="Image 1" descr="preencoded.png"/>
          <p:cNvPicPr/>
          <p:nvPr/>
        </p:nvPicPr>
        <p:blipFill>
          <a:blip r:embed="rId4"/>
          <a:stretch/>
        </p:blipFill>
        <p:spPr>
          <a:xfrm>
            <a:off x="4827960" y="22860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69" name="Text 8"/>
          <p:cNvSpPr/>
          <p:nvPr/>
        </p:nvSpPr>
        <p:spPr>
          <a:xfrm>
            <a:off x="5468040" y="208476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Trebuchet MS"/>
                <a:ea typeface="Trebuchet MS"/>
              </a:rPr>
              <a:t>Protected by default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9"/>
          <p:cNvSpPr/>
          <p:nvPr/>
        </p:nvSpPr>
        <p:spPr>
          <a:xfrm>
            <a:off x="4663440" y="29077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BD5E1"/>
                </a:solidFill>
                <a:latin typeface="Calibri"/>
                <a:ea typeface="Calibri"/>
              </a:rPr>
              <a:t>main and develop can never be deleted or force-pushed.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8147160" y="1828800"/>
            <a:ext cx="3520080" cy="1874160"/>
          </a:xfrm>
          <a:prstGeom prst="rect">
            <a:avLst/>
          </a:prstGeom>
          <a:solidFill>
            <a:srgbClr val="0F1B2D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8439840" y="2121480"/>
            <a:ext cx="639720" cy="639720"/>
          </a:xfrm>
          <a:prstGeom prst="ellipse">
            <a:avLst/>
          </a:prstGeom>
          <a:solidFill>
            <a:srgbClr val="22D3EE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3" name="Image 2" descr="preencoded.png"/>
          <p:cNvPicPr/>
          <p:nvPr/>
        </p:nvPicPr>
        <p:blipFill>
          <a:blip r:embed="rId5"/>
          <a:stretch/>
        </p:blipFill>
        <p:spPr>
          <a:xfrm>
            <a:off x="8604360" y="22860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74" name="Text 12"/>
          <p:cNvSpPr/>
          <p:nvPr/>
        </p:nvSpPr>
        <p:spPr>
          <a:xfrm>
            <a:off x="9244440" y="208476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Trebuchet MS"/>
                <a:ea typeface="Trebuchet MS"/>
              </a:rPr>
              <a:t>Quality gates are non-negotiable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13"/>
          <p:cNvSpPr/>
          <p:nvPr/>
        </p:nvSpPr>
        <p:spPr>
          <a:xfrm>
            <a:off x="8439840" y="29077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CBD5E1"/>
                </a:solidFill>
                <a:latin typeface="Calibri"/>
                <a:ea typeface="Calibri"/>
              </a:rPr>
              <a:t>Sonar clean, zero vulnerabilities, coverage met — every PR, every time.</a:t>
            </a:r>
            <a:endParaRPr lang="en-US" sz="13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14"/>
          <p:cNvSpPr/>
          <p:nvPr/>
        </p:nvSpPr>
        <p:spPr>
          <a:xfrm>
            <a:off x="594360" y="3931920"/>
            <a:ext cx="3520080" cy="1874160"/>
          </a:xfrm>
          <a:prstGeom prst="rect">
            <a:avLst/>
          </a:prstGeom>
          <a:solidFill>
            <a:srgbClr val="0F1B2D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15"/>
          <p:cNvSpPr/>
          <p:nvPr/>
        </p:nvSpPr>
        <p:spPr>
          <a:xfrm>
            <a:off x="887040" y="4224600"/>
            <a:ext cx="639720" cy="639720"/>
          </a:xfrm>
          <a:prstGeom prst="ellipse">
            <a:avLst/>
          </a:prstGeom>
          <a:solidFill>
            <a:srgbClr val="F59E0B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8" name="Image 3" descr="preencoded.png"/>
          <p:cNvPicPr/>
          <p:nvPr/>
        </p:nvPicPr>
        <p:blipFill>
          <a:blip r:embed="rId6"/>
          <a:stretch/>
        </p:blipFill>
        <p:spPr>
          <a:xfrm>
            <a:off x="1051560" y="43891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79" name="Text 16"/>
          <p:cNvSpPr/>
          <p:nvPr/>
        </p:nvSpPr>
        <p:spPr>
          <a:xfrm>
            <a:off x="1691640" y="418788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Trebuchet MS"/>
                <a:ea typeface="Trebuchet MS"/>
              </a:rPr>
              <a:t>Check in daily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7"/>
          <p:cNvSpPr/>
          <p:nvPr/>
        </p:nvSpPr>
        <p:spPr>
          <a:xfrm>
            <a:off x="887040" y="501084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BD5E1"/>
                </a:solidFill>
                <a:latin typeface="Calibri"/>
                <a:ea typeface="Calibri"/>
              </a:rPr>
              <a:t>End-of-day WIP pushes mean a crashed laptop never costs a day's work.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18"/>
          <p:cNvSpPr/>
          <p:nvPr/>
        </p:nvSpPr>
        <p:spPr>
          <a:xfrm>
            <a:off x="4370760" y="3931920"/>
            <a:ext cx="3520080" cy="1874160"/>
          </a:xfrm>
          <a:prstGeom prst="rect">
            <a:avLst/>
          </a:prstGeom>
          <a:solidFill>
            <a:srgbClr val="0F1B2D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19"/>
          <p:cNvSpPr/>
          <p:nvPr/>
        </p:nvSpPr>
        <p:spPr>
          <a:xfrm>
            <a:off x="4663440" y="4224600"/>
            <a:ext cx="639720" cy="639720"/>
          </a:xfrm>
          <a:prstGeom prst="ellipse">
            <a:avLst/>
          </a:prstGeom>
          <a:solidFill>
            <a:srgbClr val="A78BFA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3" name="Image 4" descr="preencoded.png"/>
          <p:cNvPicPr/>
          <p:nvPr/>
        </p:nvPicPr>
        <p:blipFill>
          <a:blip r:embed="rId7"/>
          <a:stretch/>
        </p:blipFill>
        <p:spPr>
          <a:xfrm>
            <a:off x="4827960" y="43891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84" name="Text 20"/>
          <p:cNvSpPr/>
          <p:nvPr/>
        </p:nvSpPr>
        <p:spPr>
          <a:xfrm>
            <a:off x="5468040" y="418788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Trebuchet MS"/>
                <a:ea typeface="Trebuchet MS"/>
              </a:rPr>
              <a:t>One release branch → UAT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4663440" y="501084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BD5E1"/>
                </a:solidFill>
                <a:latin typeface="Calibri"/>
                <a:ea typeface="Calibri"/>
              </a:rPr>
              <a:t>Only release/&lt;date&gt; is deployed to UAT by Jules / Harness.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22"/>
          <p:cNvSpPr/>
          <p:nvPr/>
        </p:nvSpPr>
        <p:spPr>
          <a:xfrm>
            <a:off x="8147160" y="3931920"/>
            <a:ext cx="3520080" cy="1874160"/>
          </a:xfrm>
          <a:prstGeom prst="rect">
            <a:avLst/>
          </a:prstGeom>
          <a:solidFill>
            <a:srgbClr val="0F1B2D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23"/>
          <p:cNvSpPr/>
          <p:nvPr/>
        </p:nvSpPr>
        <p:spPr>
          <a:xfrm>
            <a:off x="8439840" y="4224600"/>
            <a:ext cx="639720" cy="639720"/>
          </a:xfrm>
          <a:prstGeom prst="ellipse">
            <a:avLst/>
          </a:prstGeom>
          <a:solidFill>
            <a:srgbClr val="F472B6"/>
          </a:solidFill>
          <a:ln w="0">
            <a:noFill/>
          </a:ln>
          <a:effectLst>
            <a:outerShdw blurRad="114480" dist="38160" dir="5400000" algn="bl" rotWithShape="0">
              <a:srgbClr val="0F172A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Image 5" descr="preencoded.png"/>
          <p:cNvPicPr/>
          <p:nvPr/>
        </p:nvPicPr>
        <p:blipFill>
          <a:blip r:embed="rId8"/>
          <a:stretch/>
        </p:blipFill>
        <p:spPr>
          <a:xfrm>
            <a:off x="8604360" y="43891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89" name="Text 24"/>
          <p:cNvSpPr/>
          <p:nvPr/>
        </p:nvSpPr>
        <p:spPr>
          <a:xfrm>
            <a:off x="9244440" y="418788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Trebuchet MS"/>
                <a:ea typeface="Trebuchet MS"/>
              </a:rPr>
              <a:t>Freeze, ship, merge back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25"/>
          <p:cNvSpPr/>
          <p:nvPr/>
        </p:nvSpPr>
        <p:spPr>
          <a:xfrm>
            <a:off x="8439840" y="501084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BD5E1"/>
                </a:solidFill>
                <a:latin typeface="Calibri"/>
                <a:ea typeface="Calibri"/>
              </a:rPr>
              <a:t>Lock 2 days out, promote to prod, then merge the release into main.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865</Words>
  <Application>Microsoft Office PowerPoint</Application>
  <PresentationFormat>Widescreen</PresentationFormat>
  <Paragraphs>132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Consolas</vt:lpstr>
      <vt:lpstr>Symbol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ANIL CH</dc:creator>
  <cp:lastModifiedBy>Anil K Chilukuri</cp:lastModifiedBy>
  <cp:revision>1</cp:revision>
  <dcterms:modified xsi:type="dcterms:W3CDTF">2026-06-04T05:58:27Z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2026-06-04T02:28:06Z</dcterms:created>
  <dc:creator>Engineering</dc:creator>
  <dc:description/>
  <dc:language>en-US</dc:language>
  <cp:lastModifiedBy>Engineering</cp:lastModifiedBy>
  <dcterms:modified xsi:type="dcterms:W3CDTF">2026-06-04T02:28:06Z</dcterms:modified>
  <cp:revision>1</cp:revision>
  <dc:subject>PptxGenJS Presentation</dc:subject>
  <dc:title>Development Process &amp; Git Workflow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On-screen Show (16:9)</vt:lpwstr>
  </property>
  <property fmtid="{D5CDD505-2E9C-101B-9397-08002B2CF9AE}" pid="4" name="Slides">
    <vt:r8>9</vt:r8>
  </property>
</Properties>
</file>