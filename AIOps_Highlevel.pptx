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3900" y="838349"/>
            <a:ext cx="876300" cy="876300"/>
          </a:xfrm>
          <a:prstGeom prst="roundRect">
            <a:avLst>
              <a:gd name="adj" fmla="val 23913"/>
            </a:avLst>
          </a:prstGeom>
          <a:solidFill>
            <a:srgbClr val="1E3A8A"/>
          </a:solidFill>
          <a:ln/>
          <a:effectLst>
            <a:outerShdw sx="100000" sy="100000" kx="0" ky="0" algn="bl" rotWithShape="0" blurRad="381000" dist="171450" dir="5400000">
              <a:srgbClr val="0F766E">
                <a:alpha val="4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1047899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7850" y="533400"/>
            <a:ext cx="108592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336" kern="0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PLATFORM · EXECUTIVE BRIEF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847850" y="781050"/>
            <a:ext cx="10859274" cy="659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12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Operate Smarter. Resolve Faster.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847850" y="1459855"/>
            <a:ext cx="10791825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unified, agent-driven platform for incident response, change governance &amp; problem management — built on the LLM Suite.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15740360" y="960388"/>
            <a:ext cx="52208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0A10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16411129" y="903238"/>
            <a:ext cx="1152971" cy="300930"/>
          </a:xfrm>
          <a:prstGeom prst="roundRect">
            <a:avLst>
              <a:gd name="adj" fmla="val 189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8754" y="950863"/>
            <a:ext cx="981521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900" b="1" spc="54" kern="0" dirty="0">
                <a:solidFill>
                  <a:srgbClr val="C241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v0.5 · Draft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407580" y="1204168"/>
            <a:ext cx="215652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0A10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 </a:t>
            </a:r>
            <a:pPr algn="r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Engineering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5407580" y="1426964"/>
            <a:ext cx="215652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80000"/>
              </a:lnSpc>
              <a:buNone/>
            </a:pPr>
            <a:r>
              <a:rPr lang="en-US" sz="975" b="1" dirty="0">
                <a:solidFill>
                  <a:srgbClr val="0A10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HORIZON </a:t>
            </a:r>
            <a:pPr algn="r" indent="0" marL="0">
              <a:lnSpc>
                <a:spcPct val="180000"/>
              </a:lnSpc>
              <a:buNone/>
            </a:pPr>
            <a:r>
              <a:rPr lang="en-US" sz="97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FY26 Roadmap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723900" y="2305496"/>
            <a:ext cx="4987528" cy="1628775"/>
          </a:xfrm>
          <a:prstGeom prst="roundRect">
            <a:avLst>
              <a:gd name="adj" fmla="val 9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0125" y="2767459"/>
            <a:ext cx="704850" cy="704850"/>
          </a:xfrm>
          <a:prstGeom prst="roundRect">
            <a:avLst>
              <a:gd name="adj" fmla="val 21622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948434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14525" y="2681734"/>
            <a:ext cx="188699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spc="-9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−63 </a:t>
            </a:r>
            <a:pPr algn="l" indent="0" marL="0">
              <a:lnSpc>
                <a:spcPct val="100000"/>
              </a:lnSpc>
              <a:buNone/>
            </a:pPr>
            <a:r>
              <a:rPr lang="en-US" sz="1650" b="1" spc="-90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1914525" y="3215134"/>
            <a:ext cx="188699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MEAN TIME TO RESOLVE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14525" y="3405634"/>
            <a:ext cx="1886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▼ 42 min → 16 min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01928" y="2305496"/>
            <a:ext cx="6483995" cy="1628775"/>
          </a:xfrm>
          <a:prstGeom prst="roundRect">
            <a:avLst>
              <a:gd name="adj" fmla="val 9357"/>
            </a:avLst>
          </a:prstGeom>
          <a:solidFill>
            <a:srgbClr val="0A0E1F"/>
          </a:solidFill>
          <a:ln w="9525">
            <a:solidFill>
              <a:srgbClr val="1E254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97203" y="2543621"/>
            <a:ext cx="60702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264" kern="0" dirty="0">
                <a:solidFill>
                  <a:srgbClr val="14B8A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NORTH STAR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6197203" y="2772221"/>
            <a:ext cx="607024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reactive ops to </a:t>
            </a:r>
            <a:pPr algn="l" indent="0" marL="0">
              <a:lnSpc>
                <a:spcPct val="125000"/>
              </a:lnSpc>
              <a:buNone/>
            </a:pPr>
            <a:r>
              <a:rPr lang="en-US" sz="1800" b="1" spc="-22" kern="0" dirty="0">
                <a:solidFill>
                  <a:srgbClr val="14B8A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autonomous, governed resolution </a:t>
            </a:r>
            <a:pPr algn="l" indent="0" marL="0">
              <a:lnSpc>
                <a:spcPct val="125000"/>
              </a:lnSpc>
              <a:buNone/>
            </a:pPr>
            <a:r>
              <a:rPr lang="en-US" sz="1800" b="1" spc="-2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at enterprise scale.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197203" y="3496121"/>
            <a:ext cx="60702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Unify signal · ground reasoning · automate action — with policy &amp; audit at every step.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12576423" y="2305496"/>
            <a:ext cx="4987528" cy="1628775"/>
          </a:xfrm>
          <a:prstGeom prst="roundRect">
            <a:avLst>
              <a:gd name="adj" fmla="val 93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2852648" y="2767459"/>
            <a:ext cx="704850" cy="704850"/>
          </a:xfrm>
          <a:prstGeom prst="roundRect">
            <a:avLst>
              <a:gd name="adj" fmla="val 21622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623" y="2948434"/>
            <a:ext cx="342900" cy="3429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767048" y="2681734"/>
            <a:ext cx="18536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spc="-90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99.95 </a:t>
            </a:r>
            <a:pPr algn="l" indent="0" marL="0">
              <a:lnSpc>
                <a:spcPct val="100000"/>
              </a:lnSpc>
              <a:buNone/>
            </a:pPr>
            <a:r>
              <a:rPr lang="en-US" sz="1650" b="1" spc="-90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3600" dirty="0"/>
          </a:p>
        </p:txBody>
      </p:sp>
      <p:sp>
        <p:nvSpPr>
          <p:cNvPr id="27" name="Text 22"/>
          <p:cNvSpPr/>
          <p:nvPr/>
        </p:nvSpPr>
        <p:spPr>
          <a:xfrm>
            <a:off x="13767048" y="3215134"/>
            <a:ext cx="18536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GOVERNED ACTIONS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3767048" y="3405634"/>
            <a:ext cx="18536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▲ policy-checked · audited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23900" y="4220021"/>
            <a:ext cx="471130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-25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pillars · </a:t>
            </a:r>
            <a:pPr algn="l" indent="0" marL="0">
              <a:buNone/>
            </a:pPr>
            <a:r>
              <a:rPr lang="en-US" sz="2100" b="1" spc="-25" kern="0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operating model</a:t>
            </a:r>
            <a:endParaRPr lang="en-US" sz="2100" dirty="0"/>
          </a:p>
        </p:txBody>
      </p:sp>
      <p:sp>
        <p:nvSpPr>
          <p:cNvPr id="30" name="Text 25"/>
          <p:cNvSpPr/>
          <p:nvPr/>
        </p:nvSpPr>
        <p:spPr>
          <a:xfrm>
            <a:off x="14983718" y="4443859"/>
            <a:ext cx="26577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 PILLARS · FY26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23900" y="4772471"/>
            <a:ext cx="4081463" cy="3971479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81075" y="5010596"/>
            <a:ext cx="9197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1E3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01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981075" y="5296346"/>
            <a:ext cx="3586163" cy="906810"/>
          </a:xfrm>
          <a:prstGeom prst="roundRect">
            <a:avLst>
              <a:gd name="adj" fmla="val 12605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156" y="5368677"/>
            <a:ext cx="762000" cy="7620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81075" y="6336506"/>
            <a:ext cx="367412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9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Autonomous Agents</a:t>
            </a:r>
            <a:endParaRPr lang="en-US" sz="1575" dirty="0"/>
          </a:p>
        </p:txBody>
      </p:sp>
      <p:sp>
        <p:nvSpPr>
          <p:cNvPr id="36" name="Text 30"/>
          <p:cNvSpPr/>
          <p:nvPr/>
        </p:nvSpPr>
        <p:spPr>
          <a:xfrm>
            <a:off x="981075" y="6709767"/>
            <a:ext cx="367412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Always-on agents detect, triage and resolve operational events without human kick-off.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81075" y="726221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7290792"/>
            <a:ext cx="95250" cy="9525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228725" y="7252692"/>
            <a:ext cx="155614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&amp; deduplication</a:t>
            </a:r>
            <a:endParaRPr lang="en-US" sz="975" dirty="0"/>
          </a:p>
        </p:txBody>
      </p:sp>
      <p:sp>
        <p:nvSpPr>
          <p:cNvPr id="40" name="Shape 33"/>
          <p:cNvSpPr/>
          <p:nvPr/>
        </p:nvSpPr>
        <p:spPr>
          <a:xfrm>
            <a:off x="981075" y="751165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7540228"/>
            <a:ext cx="95250" cy="9525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228725" y="7502128"/>
            <a:ext cx="13290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Self-healing batch jobs</a:t>
            </a:r>
            <a:endParaRPr lang="en-US" sz="975" dirty="0"/>
          </a:p>
        </p:txBody>
      </p:sp>
      <p:sp>
        <p:nvSpPr>
          <p:cNvPr id="43" name="Shape 35"/>
          <p:cNvSpPr/>
          <p:nvPr/>
        </p:nvSpPr>
        <p:spPr>
          <a:xfrm>
            <a:off x="981075" y="776108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7789664"/>
            <a:ext cx="95250" cy="9525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228725" y="7751564"/>
            <a:ext cx="1803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Multi-signal root-cause analysis</a:t>
            </a:r>
            <a:endParaRPr lang="en-US" sz="975" dirty="0"/>
          </a:p>
        </p:txBody>
      </p:sp>
      <p:sp>
        <p:nvSpPr>
          <p:cNvPr id="46" name="Shape 37"/>
          <p:cNvSpPr/>
          <p:nvPr/>
        </p:nvSpPr>
        <p:spPr>
          <a:xfrm>
            <a:off x="981075" y="8048625"/>
            <a:ext cx="35671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38"/>
          <p:cNvSpPr/>
          <p:nvPr/>
        </p:nvSpPr>
        <p:spPr>
          <a:xfrm>
            <a:off x="981075" y="8172450"/>
            <a:ext cx="3949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1E3A8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3×</a:t>
            </a:r>
            <a:endParaRPr lang="en-US" sz="1950" dirty="0"/>
          </a:p>
        </p:txBody>
      </p:sp>
      <p:sp>
        <p:nvSpPr>
          <p:cNvPr id="48" name="Text 39"/>
          <p:cNvSpPr/>
          <p:nvPr/>
        </p:nvSpPr>
        <p:spPr>
          <a:xfrm>
            <a:off x="1376065" y="8353425"/>
            <a:ext cx="94788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MTTR</a:t>
            </a:r>
            <a:endParaRPr lang="en-US" sz="825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5788" y="8253412"/>
            <a:ext cx="152400" cy="152400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4976813" y="4772471"/>
            <a:ext cx="4081463" cy="3971479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5233988" y="5010596"/>
            <a:ext cx="9197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02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5233988" y="5296346"/>
            <a:ext cx="3586163" cy="906810"/>
          </a:xfrm>
          <a:prstGeom prst="roundRect">
            <a:avLst>
              <a:gd name="adj" fmla="val 12605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6069" y="5368677"/>
            <a:ext cx="762000" cy="76200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5233988" y="6336506"/>
            <a:ext cx="367412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9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Platform Services</a:t>
            </a:r>
            <a:endParaRPr lang="en-US" sz="1575" dirty="0"/>
          </a:p>
        </p:txBody>
      </p:sp>
      <p:sp>
        <p:nvSpPr>
          <p:cNvPr id="55" name="Text 44"/>
          <p:cNvSpPr/>
          <p:nvPr/>
        </p:nvSpPr>
        <p:spPr>
          <a:xfrm>
            <a:off x="5233988" y="6709767"/>
            <a:ext cx="367412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backbone connects observability, ticketing &amp; change data into a real-time signal layer.</a:t>
            </a:r>
            <a:endParaRPr lang="en-US" sz="1050" dirty="0"/>
          </a:p>
        </p:txBody>
      </p:sp>
      <p:sp>
        <p:nvSpPr>
          <p:cNvPr id="56" name="Shape 45"/>
          <p:cNvSpPr/>
          <p:nvPr/>
        </p:nvSpPr>
        <p:spPr>
          <a:xfrm>
            <a:off x="5233988" y="726221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62563" y="7290792"/>
            <a:ext cx="95250" cy="9525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5481638" y="7252692"/>
            <a:ext cx="17560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incident &amp; change feed</a:t>
            </a:r>
            <a:endParaRPr lang="en-US" sz="975" dirty="0"/>
          </a:p>
        </p:txBody>
      </p:sp>
      <p:sp>
        <p:nvSpPr>
          <p:cNvPr id="59" name="Shape 47"/>
          <p:cNvSpPr/>
          <p:nvPr/>
        </p:nvSpPr>
        <p:spPr>
          <a:xfrm>
            <a:off x="5233988" y="751165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2563" y="7540228"/>
            <a:ext cx="95250" cy="9525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5481638" y="7502128"/>
            <a:ext cx="14667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Vector-grounded retrieval</a:t>
            </a:r>
            <a:endParaRPr lang="en-US" sz="975" dirty="0"/>
          </a:p>
        </p:txBody>
      </p:sp>
      <p:sp>
        <p:nvSpPr>
          <p:cNvPr id="62" name="Shape 49"/>
          <p:cNvSpPr/>
          <p:nvPr/>
        </p:nvSpPr>
        <p:spPr>
          <a:xfrm>
            <a:off x="5233988" y="776108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/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2563" y="7789664"/>
            <a:ext cx="95250" cy="9525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5481638" y="7751564"/>
            <a:ext cx="13497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Idempotent action APIs</a:t>
            </a:r>
            <a:endParaRPr lang="en-US" sz="975" dirty="0"/>
          </a:p>
        </p:txBody>
      </p:sp>
      <p:sp>
        <p:nvSpPr>
          <p:cNvPr id="65" name="Shape 51"/>
          <p:cNvSpPr/>
          <p:nvPr/>
        </p:nvSpPr>
        <p:spPr>
          <a:xfrm>
            <a:off x="5233988" y="8048625"/>
            <a:ext cx="35671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52"/>
          <p:cNvSpPr/>
          <p:nvPr/>
        </p:nvSpPr>
        <p:spPr>
          <a:xfrm>
            <a:off x="5233988" y="8172450"/>
            <a:ext cx="6207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0F766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24/7</a:t>
            </a:r>
            <a:endParaRPr lang="en-US" sz="1950" dirty="0"/>
          </a:p>
        </p:txBody>
      </p:sp>
      <p:sp>
        <p:nvSpPr>
          <p:cNvPr id="67" name="Text 53"/>
          <p:cNvSpPr/>
          <p:nvPr/>
        </p:nvSpPr>
        <p:spPr>
          <a:xfrm>
            <a:off x="5854750" y="8353425"/>
            <a:ext cx="8142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ALWAYS-ON</a:t>
            </a:r>
            <a:endParaRPr lang="en-US" sz="825" dirty="0"/>
          </a:p>
        </p:txBody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8700" y="8253412"/>
            <a:ext cx="152400" cy="152400"/>
          </a:xfrm>
          <a:prstGeom prst="rect">
            <a:avLst/>
          </a:prstGeom>
        </p:spPr>
      </p:pic>
      <p:sp>
        <p:nvSpPr>
          <p:cNvPr id="69" name="Shape 54"/>
          <p:cNvSpPr/>
          <p:nvPr/>
        </p:nvSpPr>
        <p:spPr>
          <a:xfrm>
            <a:off x="9229725" y="4772471"/>
            <a:ext cx="4081463" cy="3971479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9486900" y="5010596"/>
            <a:ext cx="9197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C241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03</a:t>
            </a:r>
            <a:endParaRPr lang="en-US" sz="900" dirty="0"/>
          </a:p>
        </p:txBody>
      </p:sp>
      <p:sp>
        <p:nvSpPr>
          <p:cNvPr id="71" name="Shape 56"/>
          <p:cNvSpPr/>
          <p:nvPr/>
        </p:nvSpPr>
        <p:spPr>
          <a:xfrm>
            <a:off x="9486900" y="5296346"/>
            <a:ext cx="3586163" cy="906810"/>
          </a:xfrm>
          <a:prstGeom prst="roundRect">
            <a:avLst>
              <a:gd name="adj" fmla="val 12605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98981" y="5368677"/>
            <a:ext cx="762000" cy="762000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9486900" y="6336506"/>
            <a:ext cx="367412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9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Persona Experience</a:t>
            </a:r>
            <a:endParaRPr lang="en-US" sz="1575" dirty="0"/>
          </a:p>
        </p:txBody>
      </p:sp>
      <p:sp>
        <p:nvSpPr>
          <p:cNvPr id="74" name="Text 58"/>
          <p:cNvSpPr/>
          <p:nvPr/>
        </p:nvSpPr>
        <p:spPr>
          <a:xfrm>
            <a:off x="9486900" y="6709767"/>
            <a:ext cx="367412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Tailored surfaces in IDE, chat &amp; AIOps console — meeting engineers where work happens.</a:t>
            </a:r>
            <a:endParaRPr lang="en-US" sz="1050" dirty="0"/>
          </a:p>
        </p:txBody>
      </p:sp>
      <p:sp>
        <p:nvSpPr>
          <p:cNvPr id="75" name="Shape 59"/>
          <p:cNvSpPr/>
          <p:nvPr/>
        </p:nvSpPr>
        <p:spPr>
          <a:xfrm>
            <a:off x="9486900" y="726221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/>
        </p:spPr>
      </p:sp>
      <p:pic>
        <p:nvPicPr>
          <p:cNvPr id="7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15475" y="7290792"/>
            <a:ext cx="95250" cy="95250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9734550" y="7252692"/>
            <a:ext cx="12875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SRE / On-call console</a:t>
            </a:r>
            <a:endParaRPr lang="en-US" sz="975" dirty="0"/>
          </a:p>
        </p:txBody>
      </p:sp>
      <p:sp>
        <p:nvSpPr>
          <p:cNvPr id="78" name="Shape 61"/>
          <p:cNvSpPr/>
          <p:nvPr/>
        </p:nvSpPr>
        <p:spPr>
          <a:xfrm>
            <a:off x="9486900" y="751165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/>
        </p:spPr>
      </p:sp>
      <p:pic>
        <p:nvPicPr>
          <p:cNvPr id="7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15475" y="7540228"/>
            <a:ext cx="95250" cy="95250"/>
          </a:xfrm>
          <a:prstGeom prst="rect">
            <a:avLst/>
          </a:prstGeom>
        </p:spPr>
      </p:pic>
      <p:sp>
        <p:nvSpPr>
          <p:cNvPr id="80" name="Text 62"/>
          <p:cNvSpPr/>
          <p:nvPr/>
        </p:nvSpPr>
        <p:spPr>
          <a:xfrm>
            <a:off x="9734550" y="7502128"/>
            <a:ext cx="1239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In-IDE incident assist</a:t>
            </a:r>
            <a:endParaRPr lang="en-US" sz="975" dirty="0"/>
          </a:p>
        </p:txBody>
      </p:sp>
      <p:sp>
        <p:nvSpPr>
          <p:cNvPr id="81" name="Shape 63"/>
          <p:cNvSpPr/>
          <p:nvPr/>
        </p:nvSpPr>
        <p:spPr>
          <a:xfrm>
            <a:off x="9486900" y="776108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/>
        </p:spPr>
      </p:sp>
      <p:pic>
        <p:nvPicPr>
          <p:cNvPr id="8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15475" y="7789664"/>
            <a:ext cx="95250" cy="95250"/>
          </a:xfrm>
          <a:prstGeom prst="rect">
            <a:avLst/>
          </a:prstGeom>
        </p:spPr>
      </p:pic>
      <p:sp>
        <p:nvSpPr>
          <p:cNvPr id="83" name="Text 64"/>
          <p:cNvSpPr/>
          <p:nvPr/>
        </p:nvSpPr>
        <p:spPr>
          <a:xfrm>
            <a:off x="9734550" y="7751564"/>
            <a:ext cx="1783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Executive operating dashboard</a:t>
            </a:r>
            <a:endParaRPr lang="en-US" sz="975" dirty="0"/>
          </a:p>
        </p:txBody>
      </p:sp>
      <p:sp>
        <p:nvSpPr>
          <p:cNvPr id="84" name="Shape 65"/>
          <p:cNvSpPr/>
          <p:nvPr/>
        </p:nvSpPr>
        <p:spPr>
          <a:xfrm>
            <a:off x="9486900" y="8048625"/>
            <a:ext cx="35671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66"/>
          <p:cNvSpPr/>
          <p:nvPr/>
        </p:nvSpPr>
        <p:spPr>
          <a:xfrm>
            <a:off x="9486900" y="8172450"/>
            <a:ext cx="63281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C241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3.8×</a:t>
            </a:r>
            <a:endParaRPr lang="en-US" sz="1950" dirty="0"/>
          </a:p>
        </p:txBody>
      </p:sp>
      <p:sp>
        <p:nvSpPr>
          <p:cNvPr id="86" name="Text 67"/>
          <p:cNvSpPr/>
          <p:nvPr/>
        </p:nvSpPr>
        <p:spPr>
          <a:xfrm>
            <a:off x="10119717" y="8353425"/>
            <a:ext cx="9411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THROUGHPUT</a:t>
            </a:r>
            <a:endParaRPr lang="en-US" sz="825" dirty="0"/>
          </a:p>
        </p:txBody>
      </p:sp>
      <p:pic>
        <p:nvPicPr>
          <p:cNvPr id="8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01613" y="8253412"/>
            <a:ext cx="152400" cy="152400"/>
          </a:xfrm>
          <a:prstGeom prst="rect">
            <a:avLst/>
          </a:prstGeom>
        </p:spPr>
      </p:pic>
      <p:sp>
        <p:nvSpPr>
          <p:cNvPr id="88" name="Shape 68"/>
          <p:cNvSpPr/>
          <p:nvPr/>
        </p:nvSpPr>
        <p:spPr>
          <a:xfrm>
            <a:off x="13482638" y="4772471"/>
            <a:ext cx="4081463" cy="3971479"/>
          </a:xfrm>
          <a:prstGeom prst="roundRect">
            <a:avLst>
              <a:gd name="adj" fmla="val 38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9" name="Text 69"/>
          <p:cNvSpPr/>
          <p:nvPr/>
        </p:nvSpPr>
        <p:spPr>
          <a:xfrm>
            <a:off x="13739813" y="5010596"/>
            <a:ext cx="9197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0478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 04</a:t>
            </a:r>
            <a:endParaRPr lang="en-US" sz="900" dirty="0"/>
          </a:p>
        </p:txBody>
      </p:sp>
      <p:sp>
        <p:nvSpPr>
          <p:cNvPr id="90" name="Shape 70"/>
          <p:cNvSpPr/>
          <p:nvPr/>
        </p:nvSpPr>
        <p:spPr>
          <a:xfrm>
            <a:off x="13739813" y="5296346"/>
            <a:ext cx="3586163" cy="906810"/>
          </a:xfrm>
          <a:prstGeom prst="roundRect">
            <a:avLst>
              <a:gd name="adj" fmla="val 12605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pic>
        <p:nvPicPr>
          <p:cNvPr id="9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151894" y="5368677"/>
            <a:ext cx="762000" cy="762000"/>
          </a:xfrm>
          <a:prstGeom prst="rect">
            <a:avLst/>
          </a:prstGeom>
        </p:spPr>
      </p:pic>
      <p:sp>
        <p:nvSpPr>
          <p:cNvPr id="92" name="Text 71"/>
          <p:cNvSpPr/>
          <p:nvPr/>
        </p:nvSpPr>
        <p:spPr>
          <a:xfrm>
            <a:off x="13739813" y="6336506"/>
            <a:ext cx="3674126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spc="-19" kern="0" dirty="0">
                <a:solidFill>
                  <a:srgbClr val="0A102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 &amp; Governance</a:t>
            </a:r>
            <a:endParaRPr lang="en-US" sz="1575" dirty="0"/>
          </a:p>
        </p:txBody>
      </p:sp>
      <p:sp>
        <p:nvSpPr>
          <p:cNvPr id="93" name="Text 72"/>
          <p:cNvSpPr/>
          <p:nvPr/>
        </p:nvSpPr>
        <p:spPr>
          <a:xfrm>
            <a:off x="13739813" y="6709767"/>
            <a:ext cx="367412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agent action is policy-checked, audited &amp; reversible — by design.</a:t>
            </a:r>
            <a:endParaRPr lang="en-US" sz="1050" dirty="0"/>
          </a:p>
        </p:txBody>
      </p:sp>
      <p:sp>
        <p:nvSpPr>
          <p:cNvPr id="94" name="Shape 73"/>
          <p:cNvSpPr/>
          <p:nvPr/>
        </p:nvSpPr>
        <p:spPr>
          <a:xfrm>
            <a:off x="13739813" y="726221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/>
        </p:spPr>
      </p:sp>
      <p:pic>
        <p:nvPicPr>
          <p:cNvPr id="9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768388" y="7290792"/>
            <a:ext cx="95250" cy="95250"/>
          </a:xfrm>
          <a:prstGeom prst="rect">
            <a:avLst/>
          </a:prstGeom>
        </p:spPr>
      </p:pic>
      <p:sp>
        <p:nvSpPr>
          <p:cNvPr id="96" name="Text 74"/>
          <p:cNvSpPr/>
          <p:nvPr/>
        </p:nvSpPr>
        <p:spPr>
          <a:xfrm>
            <a:off x="13987463" y="7252692"/>
            <a:ext cx="15975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Policy-aware change gating</a:t>
            </a:r>
            <a:endParaRPr lang="en-US" sz="975" dirty="0"/>
          </a:p>
        </p:txBody>
      </p:sp>
      <p:sp>
        <p:nvSpPr>
          <p:cNvPr id="97" name="Shape 75"/>
          <p:cNvSpPr/>
          <p:nvPr/>
        </p:nvSpPr>
        <p:spPr>
          <a:xfrm>
            <a:off x="13739813" y="7511653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/>
        </p:spPr>
      </p:sp>
      <p:pic>
        <p:nvPicPr>
          <p:cNvPr id="9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768388" y="7540228"/>
            <a:ext cx="95250" cy="95250"/>
          </a:xfrm>
          <a:prstGeom prst="rect">
            <a:avLst/>
          </a:prstGeom>
        </p:spPr>
      </p:pic>
      <p:sp>
        <p:nvSpPr>
          <p:cNvPr id="99" name="Text 76"/>
          <p:cNvSpPr/>
          <p:nvPr/>
        </p:nvSpPr>
        <p:spPr>
          <a:xfrm>
            <a:off x="13987463" y="7502128"/>
            <a:ext cx="13013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 audit &amp; replay trail</a:t>
            </a:r>
            <a:endParaRPr lang="en-US" sz="975" dirty="0"/>
          </a:p>
        </p:txBody>
      </p:sp>
      <p:sp>
        <p:nvSpPr>
          <p:cNvPr id="100" name="Shape 77"/>
          <p:cNvSpPr/>
          <p:nvPr/>
        </p:nvSpPr>
        <p:spPr>
          <a:xfrm>
            <a:off x="13739813" y="7761089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/>
        </p:spPr>
      </p:sp>
      <p:pic>
        <p:nvPicPr>
          <p:cNvPr id="10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768388" y="7789664"/>
            <a:ext cx="95250" cy="95250"/>
          </a:xfrm>
          <a:prstGeom prst="rect">
            <a:avLst/>
          </a:prstGeom>
        </p:spPr>
      </p:pic>
      <p:sp>
        <p:nvSpPr>
          <p:cNvPr id="102" name="Text 78"/>
          <p:cNvSpPr/>
          <p:nvPr/>
        </p:nvSpPr>
        <p:spPr>
          <a:xfrm>
            <a:off x="13987463" y="7751564"/>
            <a:ext cx="15695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Human-in-loop for high-risk</a:t>
            </a:r>
            <a:endParaRPr lang="en-US" sz="975" dirty="0"/>
          </a:p>
        </p:txBody>
      </p:sp>
      <p:sp>
        <p:nvSpPr>
          <p:cNvPr id="103" name="Shape 79"/>
          <p:cNvSpPr/>
          <p:nvPr/>
        </p:nvSpPr>
        <p:spPr>
          <a:xfrm>
            <a:off x="13739813" y="8048625"/>
            <a:ext cx="3567113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4" name="Text 80"/>
          <p:cNvSpPr/>
          <p:nvPr/>
        </p:nvSpPr>
        <p:spPr>
          <a:xfrm>
            <a:off x="13739813" y="8172450"/>
            <a:ext cx="79965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0478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1950" dirty="0"/>
          </a:p>
        </p:txBody>
      </p:sp>
      <p:sp>
        <p:nvSpPr>
          <p:cNvPr id="105" name="Text 81"/>
          <p:cNvSpPr/>
          <p:nvPr/>
        </p:nvSpPr>
        <p:spPr>
          <a:xfrm>
            <a:off x="14539466" y="8353425"/>
            <a:ext cx="6299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AUDITED</a:t>
            </a:r>
            <a:endParaRPr lang="en-US" sz="825" dirty="0"/>
          </a:p>
        </p:txBody>
      </p:sp>
      <p:pic>
        <p:nvPicPr>
          <p:cNvPr id="10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154525" y="8253412"/>
            <a:ext cx="152400" cy="152400"/>
          </a:xfrm>
          <a:prstGeom prst="rect">
            <a:avLst/>
          </a:prstGeom>
        </p:spPr>
      </p:pic>
      <p:sp>
        <p:nvSpPr>
          <p:cNvPr id="107" name="Shape 82"/>
          <p:cNvSpPr/>
          <p:nvPr/>
        </p:nvSpPr>
        <p:spPr>
          <a:xfrm>
            <a:off x="723900" y="8953500"/>
            <a:ext cx="16840200" cy="685800"/>
          </a:xfrm>
          <a:prstGeom prst="roundRect">
            <a:avLst>
              <a:gd name="adj" fmla="val 22222"/>
            </a:avLst>
          </a:prstGeom>
          <a:solidFill>
            <a:srgbClr val="0A0E1F"/>
          </a:solidFill>
          <a:ln w="9525">
            <a:solidFill>
              <a:srgbClr val="1E2545"/>
            </a:solidFill>
            <a:prstDash val="solid"/>
          </a:ln>
        </p:spPr>
      </p:sp>
      <p:sp>
        <p:nvSpPr>
          <p:cNvPr id="108" name="Shape 83"/>
          <p:cNvSpPr/>
          <p:nvPr/>
        </p:nvSpPr>
        <p:spPr>
          <a:xfrm>
            <a:off x="2178993" y="9220200"/>
            <a:ext cx="9525" cy="1524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0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0125" y="9220200"/>
            <a:ext cx="152400" cy="152400"/>
          </a:xfrm>
          <a:prstGeom prst="rect">
            <a:avLst/>
          </a:prstGeom>
        </p:spPr>
      </p:pic>
      <p:sp>
        <p:nvSpPr>
          <p:cNvPr id="110" name="Text 84"/>
          <p:cNvSpPr/>
          <p:nvPr/>
        </p:nvSpPr>
        <p:spPr>
          <a:xfrm>
            <a:off x="1247775" y="9239250"/>
            <a:ext cx="7978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31" kern="0" dirty="0">
                <a:solidFill>
                  <a:srgbClr val="14B8A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BUILT ON</a:t>
            </a:r>
            <a:endParaRPr lang="en-US" sz="825" dirty="0"/>
          </a:p>
        </p:txBody>
      </p:sp>
      <p:sp>
        <p:nvSpPr>
          <p:cNvPr id="111" name="Shape 85"/>
          <p:cNvSpPr/>
          <p:nvPr/>
        </p:nvSpPr>
        <p:spPr>
          <a:xfrm>
            <a:off x="2398068" y="9163050"/>
            <a:ext cx="659160" cy="266700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2" name="Text 86"/>
          <p:cNvSpPr/>
          <p:nvPr/>
        </p:nvSpPr>
        <p:spPr>
          <a:xfrm>
            <a:off x="2521893" y="9220200"/>
            <a:ext cx="4877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900" dirty="0"/>
          </a:p>
        </p:txBody>
      </p:sp>
      <p:sp>
        <p:nvSpPr>
          <p:cNvPr id="113" name="Shape 87"/>
          <p:cNvSpPr/>
          <p:nvPr/>
        </p:nvSpPr>
        <p:spPr>
          <a:xfrm>
            <a:off x="3133427" y="9163050"/>
            <a:ext cx="864989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4" name="Text 88"/>
          <p:cNvSpPr/>
          <p:nvPr/>
        </p:nvSpPr>
        <p:spPr>
          <a:xfrm>
            <a:off x="3257252" y="9220200"/>
            <a:ext cx="6935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Suite</a:t>
            </a:r>
            <a:endParaRPr lang="en-US" sz="900" dirty="0"/>
          </a:p>
        </p:txBody>
      </p:sp>
      <p:sp>
        <p:nvSpPr>
          <p:cNvPr id="115" name="Shape 89"/>
          <p:cNvSpPr/>
          <p:nvPr/>
        </p:nvSpPr>
        <p:spPr>
          <a:xfrm>
            <a:off x="4074616" y="9163050"/>
            <a:ext cx="796379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6" name="Text 90"/>
          <p:cNvSpPr/>
          <p:nvPr/>
        </p:nvSpPr>
        <p:spPr>
          <a:xfrm>
            <a:off x="4198441" y="9220200"/>
            <a:ext cx="6249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900" dirty="0"/>
          </a:p>
        </p:txBody>
      </p:sp>
      <p:sp>
        <p:nvSpPr>
          <p:cNvPr id="117" name="Shape 91"/>
          <p:cNvSpPr/>
          <p:nvPr/>
        </p:nvSpPr>
        <p:spPr>
          <a:xfrm>
            <a:off x="4947196" y="9163050"/>
            <a:ext cx="727770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8" name="Text 92"/>
          <p:cNvSpPr/>
          <p:nvPr/>
        </p:nvSpPr>
        <p:spPr>
          <a:xfrm>
            <a:off x="5071021" y="9220200"/>
            <a:ext cx="5563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900" dirty="0"/>
          </a:p>
        </p:txBody>
      </p:sp>
      <p:sp>
        <p:nvSpPr>
          <p:cNvPr id="119" name="Shape 93"/>
          <p:cNvSpPr/>
          <p:nvPr/>
        </p:nvSpPr>
        <p:spPr>
          <a:xfrm>
            <a:off x="5751165" y="9163050"/>
            <a:ext cx="1207889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0" name="Text 94"/>
          <p:cNvSpPr/>
          <p:nvPr/>
        </p:nvSpPr>
        <p:spPr>
          <a:xfrm>
            <a:off x="5874990" y="9220200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 Kit</a:t>
            </a:r>
            <a:endParaRPr lang="en-US" sz="900" dirty="0"/>
          </a:p>
        </p:txBody>
      </p:sp>
      <p:sp>
        <p:nvSpPr>
          <p:cNvPr id="121" name="Shape 95"/>
          <p:cNvSpPr/>
          <p:nvPr/>
        </p:nvSpPr>
        <p:spPr>
          <a:xfrm>
            <a:off x="7035254" y="9163050"/>
            <a:ext cx="1413570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2" name="Text 96"/>
          <p:cNvSpPr/>
          <p:nvPr/>
        </p:nvSpPr>
        <p:spPr>
          <a:xfrm>
            <a:off x="7159079" y="9220200"/>
            <a:ext cx="124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 Runtime</a:t>
            </a:r>
            <a:endParaRPr lang="en-US" sz="900" dirty="0"/>
          </a:p>
        </p:txBody>
      </p:sp>
      <p:sp>
        <p:nvSpPr>
          <p:cNvPr id="123" name="Shape 97"/>
          <p:cNvSpPr/>
          <p:nvPr/>
        </p:nvSpPr>
        <p:spPr>
          <a:xfrm>
            <a:off x="8525024" y="9163050"/>
            <a:ext cx="1344960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4" name="Text 98"/>
          <p:cNvSpPr/>
          <p:nvPr/>
        </p:nvSpPr>
        <p:spPr>
          <a:xfrm>
            <a:off x="8648849" y="9220200"/>
            <a:ext cx="11735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Managed Postgres</a:t>
            </a:r>
            <a:endParaRPr lang="en-US" sz="900" dirty="0"/>
          </a:p>
        </p:txBody>
      </p:sp>
      <p:sp>
        <p:nvSpPr>
          <p:cNvPr id="125" name="Shape 99"/>
          <p:cNvSpPr/>
          <p:nvPr/>
        </p:nvSpPr>
        <p:spPr>
          <a:xfrm>
            <a:off x="9946184" y="9163050"/>
            <a:ext cx="864989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6" name="Text 100"/>
          <p:cNvSpPr/>
          <p:nvPr/>
        </p:nvSpPr>
        <p:spPr>
          <a:xfrm>
            <a:off x="10070009" y="9220200"/>
            <a:ext cx="6935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DB</a:t>
            </a:r>
            <a:endParaRPr lang="en-US" sz="900" dirty="0"/>
          </a:p>
        </p:txBody>
      </p:sp>
      <p:sp>
        <p:nvSpPr>
          <p:cNvPr id="127" name="Shape 101"/>
          <p:cNvSpPr/>
          <p:nvPr/>
        </p:nvSpPr>
        <p:spPr>
          <a:xfrm>
            <a:off x="10887373" y="9163050"/>
            <a:ext cx="1207889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8" name="Text 102"/>
          <p:cNvSpPr/>
          <p:nvPr/>
        </p:nvSpPr>
        <p:spPr>
          <a:xfrm>
            <a:off x="11011198" y="9220200"/>
            <a:ext cx="1036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Storage</a:t>
            </a:r>
            <a:endParaRPr lang="en-US" sz="900" dirty="0"/>
          </a:p>
        </p:txBody>
      </p:sp>
      <p:sp>
        <p:nvSpPr>
          <p:cNvPr id="129" name="Shape 103"/>
          <p:cNvSpPr/>
          <p:nvPr/>
        </p:nvSpPr>
        <p:spPr>
          <a:xfrm>
            <a:off x="15521583" y="9134475"/>
            <a:ext cx="1766292" cy="323850"/>
          </a:xfrm>
          <a:prstGeom prst="roundRect">
            <a:avLst>
              <a:gd name="adj" fmla="val 23529"/>
            </a:avLst>
          </a:prstGeom>
          <a:solidFill>
            <a:srgbClr val="C2410C"/>
          </a:solidFill>
          <a:ln/>
        </p:spPr>
      </p:sp>
      <p:pic>
        <p:nvPicPr>
          <p:cNvPr id="13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673983" y="9229725"/>
            <a:ext cx="133350" cy="133350"/>
          </a:xfrm>
          <a:prstGeom prst="rect">
            <a:avLst/>
          </a:prstGeom>
        </p:spPr>
      </p:pic>
      <p:sp>
        <p:nvSpPr>
          <p:cNvPr id="131" name="Text 104"/>
          <p:cNvSpPr/>
          <p:nvPr/>
        </p:nvSpPr>
        <p:spPr>
          <a:xfrm>
            <a:off x="15902583" y="9229725"/>
            <a:ext cx="13090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132" name="Shape 105"/>
          <p:cNvSpPr/>
          <p:nvPr/>
        </p:nvSpPr>
        <p:spPr>
          <a:xfrm>
            <a:off x="723900" y="9791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/>
        </p:spPr>
      </p:sp>
      <p:sp>
        <p:nvSpPr>
          <p:cNvPr id="133" name="Text 106"/>
          <p:cNvSpPr/>
          <p:nvPr/>
        </p:nvSpPr>
        <p:spPr>
          <a:xfrm>
            <a:off x="876300" y="9772650"/>
            <a:ext cx="453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825" dirty="0"/>
          </a:p>
        </p:txBody>
      </p:sp>
      <p:sp>
        <p:nvSpPr>
          <p:cNvPr id="134" name="Shape 107"/>
          <p:cNvSpPr/>
          <p:nvPr/>
        </p:nvSpPr>
        <p:spPr>
          <a:xfrm>
            <a:off x="1425029" y="9791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35" name="Text 108"/>
          <p:cNvSpPr/>
          <p:nvPr/>
        </p:nvSpPr>
        <p:spPr>
          <a:xfrm>
            <a:off x="1577429" y="9772650"/>
            <a:ext cx="5792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825" dirty="0"/>
          </a:p>
        </p:txBody>
      </p:sp>
      <p:sp>
        <p:nvSpPr>
          <p:cNvPr id="136" name="Shape 109"/>
          <p:cNvSpPr/>
          <p:nvPr/>
        </p:nvSpPr>
        <p:spPr>
          <a:xfrm>
            <a:off x="2251918" y="9791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/>
        </p:spPr>
      </p:sp>
      <p:sp>
        <p:nvSpPr>
          <p:cNvPr id="137" name="Text 110"/>
          <p:cNvSpPr/>
          <p:nvPr/>
        </p:nvSpPr>
        <p:spPr>
          <a:xfrm>
            <a:off x="2404318" y="9772650"/>
            <a:ext cx="704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lang="en-US" sz="825" dirty="0"/>
          </a:p>
        </p:txBody>
      </p:sp>
      <p:sp>
        <p:nvSpPr>
          <p:cNvPr id="138" name="Shape 111"/>
          <p:cNvSpPr/>
          <p:nvPr/>
        </p:nvSpPr>
        <p:spPr>
          <a:xfrm>
            <a:off x="3204418" y="9791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139" name="Text 112"/>
          <p:cNvSpPr/>
          <p:nvPr/>
        </p:nvSpPr>
        <p:spPr>
          <a:xfrm>
            <a:off x="3356818" y="9772650"/>
            <a:ext cx="39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341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</a:t>
            </a:r>
            <a:endParaRPr lang="en-US" sz="825" dirty="0"/>
          </a:p>
        </p:txBody>
      </p:sp>
      <p:sp>
        <p:nvSpPr>
          <p:cNvPr id="140" name="Text 113"/>
          <p:cNvSpPr/>
          <p:nvPr/>
        </p:nvSpPr>
        <p:spPr>
          <a:xfrm>
            <a:off x="14232136" y="9772650"/>
            <a:ext cx="34319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executive brief · v0.5 · platform engineering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2026-05-05T15:26:18Z</dcterms:created>
  <dcterms:modified xsi:type="dcterms:W3CDTF">2026-05-05T15:26:18Z</dcterms:modified>
</cp:coreProperties>
</file>