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85329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266700" dist="114300" dir="5400000">
              <a:srgbClr val="2D3796">
                <a:alpha val="5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75" y="628204"/>
            <a:ext cx="323850" cy="3238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90650" y="457200"/>
            <a:ext cx="7284244" cy="152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3"/>
          <p:cNvSpPr/>
          <p:nvPr/>
        </p:nvSpPr>
        <p:spPr>
          <a:xfrm>
            <a:off x="1390650" y="457200"/>
            <a:ext cx="75027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ARCHITECTURE · EXECUTIVE VIEW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390650" y="647700"/>
            <a:ext cx="7502771" cy="513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65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Reference Architecture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09600" y="1180207"/>
            <a:ext cx="92221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 agent-driven platform for incident response, change governance, and problem management — built on the enterprise LLM Suite.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732323" y="1042095"/>
            <a:ext cx="5963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16477357" y="1003995"/>
            <a:ext cx="1201043" cy="242888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11" name="Text 8"/>
          <p:cNvSpPr/>
          <p:nvPr/>
        </p:nvSpPr>
        <p:spPr>
          <a:xfrm>
            <a:off x="16496407" y="1032570"/>
            <a:ext cx="10867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75" b="1" spc="78" kern="0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— Draft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5447615" y="1246882"/>
            <a:ext cx="22307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 </a:t>
            </a:r>
            <a:pPr algn="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Engineering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5447615" y="1432620"/>
            <a:ext cx="22307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</a:t>
            </a:r>
            <a:pPr algn="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 2026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609600" y="1989832"/>
            <a:ext cx="4167188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52400" dist="57150" dir="5400000">
              <a:srgbClr val="0F173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1525" y="2113657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1D4ED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218432"/>
            <a:ext cx="209550" cy="2095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23975" y="2123182"/>
            <a:ext cx="12983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‑62%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323975" y="2389882"/>
            <a:ext cx="12983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Mean time to resolve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910138" y="1989832"/>
            <a:ext cx="4167188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52400" dist="57150" dir="5400000">
              <a:srgbClr val="0F1734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72063" y="2113657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838" y="2218432"/>
            <a:ext cx="209550" cy="2095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24513" y="2123182"/>
            <a:ext cx="1602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3.1×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624513" y="2389882"/>
            <a:ext cx="16021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change throughput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210675" y="1989832"/>
            <a:ext cx="4167188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52400" dist="57150" dir="5400000">
              <a:srgbClr val="0F1734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72600" y="2113657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580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375" y="2218432"/>
            <a:ext cx="209550" cy="2095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925050" y="2123182"/>
            <a:ext cx="1374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925050" y="2389882"/>
            <a:ext cx="137487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Governed by AI policy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3511213" y="1989832"/>
            <a:ext cx="4167188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52400" dist="57150" dir="5400000">
              <a:srgbClr val="0F1734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3673138" y="2113657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15803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7913" y="2218432"/>
            <a:ext cx="209550" cy="2095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225588" y="2123182"/>
            <a:ext cx="14015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24×7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14225588" y="2389882"/>
            <a:ext cx="14015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Autonomous coverage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09600" y="2808982"/>
            <a:ext cx="1905000" cy="60665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66700" dist="114300" dir="5400000">
              <a:srgbClr val="6D28D9">
                <a:alpha val="35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14375" y="3028057"/>
            <a:ext cx="16954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162" kern="0" dirty="0">
                <a:solidFill>
                  <a:srgbClr val="6D2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CHANNELS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52475" y="3304282"/>
            <a:ext cx="1619250" cy="639812"/>
          </a:xfrm>
          <a:prstGeom prst="roundRect">
            <a:avLst>
              <a:gd name="adj" fmla="val 17865"/>
            </a:avLst>
          </a:prstGeom>
          <a:solidFill>
            <a:srgbClr val="FFFFFF"/>
          </a:solidFill>
          <a:ln w="9525">
            <a:solidFill>
              <a:srgbClr val="F1EBF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76300" y="3433614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3528864"/>
            <a:ext cx="190500" cy="1905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371600" y="3409057"/>
            <a:ext cx="9525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371600" y="3588097"/>
            <a:ext cx="952500" cy="289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SRE · NOC · Eng leads</a:t>
            </a:r>
            <a:endParaRPr lang="en-US" sz="825" dirty="0"/>
          </a:p>
        </p:txBody>
      </p:sp>
      <p:sp>
        <p:nvSpPr>
          <p:cNvPr id="41" name="Shape 33"/>
          <p:cNvSpPr/>
          <p:nvPr/>
        </p:nvSpPr>
        <p:spPr>
          <a:xfrm>
            <a:off x="752475" y="4058394"/>
            <a:ext cx="16192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F1EBFE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76300" y="416316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4258419"/>
            <a:ext cx="190500" cy="1905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371600" y="4201269"/>
            <a:ext cx="62373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1371600" y="4380309"/>
            <a:ext cx="623739" cy="16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Inline assist</a:t>
            </a:r>
            <a:endParaRPr lang="en-US" sz="825" dirty="0"/>
          </a:p>
        </p:txBody>
      </p:sp>
      <p:sp>
        <p:nvSpPr>
          <p:cNvPr id="46" name="Shape 37"/>
          <p:cNvSpPr/>
          <p:nvPr/>
        </p:nvSpPr>
        <p:spPr>
          <a:xfrm>
            <a:off x="752475" y="4763244"/>
            <a:ext cx="16192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F1EBFE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876300" y="486801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4963269"/>
            <a:ext cx="190500" cy="19050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371600" y="4906119"/>
            <a:ext cx="79251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</a:t>
            </a:r>
            <a:endParaRPr lang="en-US" sz="1050" dirty="0"/>
          </a:p>
        </p:txBody>
      </p:sp>
      <p:sp>
        <p:nvSpPr>
          <p:cNvPr id="50" name="Text 40"/>
          <p:cNvSpPr/>
          <p:nvPr/>
        </p:nvSpPr>
        <p:spPr>
          <a:xfrm>
            <a:off x="1371600" y="5085159"/>
            <a:ext cx="792510" cy="16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Chat assistants</a:t>
            </a:r>
            <a:endParaRPr lang="en-US" sz="825" dirty="0"/>
          </a:p>
        </p:txBody>
      </p:sp>
      <p:sp>
        <p:nvSpPr>
          <p:cNvPr id="51" name="Shape 41"/>
          <p:cNvSpPr/>
          <p:nvPr/>
        </p:nvSpPr>
        <p:spPr>
          <a:xfrm>
            <a:off x="752475" y="5468094"/>
            <a:ext cx="161925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F1EBFE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876300" y="557286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5668119"/>
            <a:ext cx="190500" cy="19050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371600" y="5610969"/>
            <a:ext cx="679996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UI</a:t>
            </a:r>
            <a:endParaRPr lang="en-US" sz="1050" dirty="0"/>
          </a:p>
        </p:txBody>
      </p:sp>
      <p:sp>
        <p:nvSpPr>
          <p:cNvPr id="55" name="Text 44"/>
          <p:cNvSpPr/>
          <p:nvPr/>
        </p:nvSpPr>
        <p:spPr>
          <a:xfrm>
            <a:off x="1371600" y="5790009"/>
            <a:ext cx="679996" cy="16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 console</a:t>
            </a:r>
            <a:endParaRPr lang="en-US" sz="825" dirty="0"/>
          </a:p>
        </p:txBody>
      </p:sp>
      <p:sp>
        <p:nvSpPr>
          <p:cNvPr id="56" name="Shape 45"/>
          <p:cNvSpPr/>
          <p:nvPr/>
        </p:nvSpPr>
        <p:spPr>
          <a:xfrm>
            <a:off x="2667000" y="2808982"/>
            <a:ext cx="12192000" cy="1851422"/>
          </a:xfrm>
          <a:prstGeom prst="roundRect">
            <a:avLst>
              <a:gd name="adj" fmla="val 8232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34">
                <a:alpha val="4000"/>
              </a:srgbClr>
            </a:outerShdw>
          </a:effectLst>
        </p:spPr>
      </p:sp>
      <p:sp>
        <p:nvSpPr>
          <p:cNvPr id="57" name="Shape 46"/>
          <p:cNvSpPr/>
          <p:nvPr/>
        </p:nvSpPr>
        <p:spPr>
          <a:xfrm>
            <a:off x="2867025" y="2989957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1D4ED8"/>
          </a:solidFill>
          <a:ln/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3700" y="3056632"/>
            <a:ext cx="171450" cy="17145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3267075" y="3032820"/>
            <a:ext cx="8127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AGENTS</a:t>
            </a:r>
            <a:endParaRPr lang="en-US" sz="1200" dirty="0"/>
          </a:p>
        </p:txBody>
      </p:sp>
      <p:sp>
        <p:nvSpPr>
          <p:cNvPr id="60" name="Shape 48"/>
          <p:cNvSpPr/>
          <p:nvPr/>
        </p:nvSpPr>
        <p:spPr>
          <a:xfrm>
            <a:off x="14003536" y="3047107"/>
            <a:ext cx="655439" cy="19050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61" name="Text 49"/>
          <p:cNvSpPr/>
          <p:nvPr/>
        </p:nvSpPr>
        <p:spPr>
          <a:xfrm>
            <a:off x="14079736" y="3075682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active</a:t>
            </a:r>
            <a:endParaRPr lang="en-US" sz="825" dirty="0"/>
          </a:p>
        </p:txBody>
      </p:sp>
      <p:sp>
        <p:nvSpPr>
          <p:cNvPr id="62" name="Shape 50"/>
          <p:cNvSpPr/>
          <p:nvPr/>
        </p:nvSpPr>
        <p:spPr>
          <a:xfrm>
            <a:off x="2867025" y="3428107"/>
            <a:ext cx="3854351" cy="1051322"/>
          </a:xfrm>
          <a:prstGeom prst="roundRect">
            <a:avLst>
              <a:gd name="adj" fmla="val 10872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3009900" y="3570982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33350" dist="57150" dir="5400000">
              <a:srgbClr val="1D4ED8">
                <a:alpha val="40000"/>
              </a:srgbClr>
            </a:outerShdw>
          </a:effectLst>
        </p:spPr>
      </p:sp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625" y="3656707"/>
            <a:ext cx="190500" cy="190500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3467100" y="3607891"/>
            <a:ext cx="1008162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Triage</a:t>
            </a:r>
            <a:endParaRPr lang="en-US" sz="1125" dirty="0"/>
          </a:p>
        </p:txBody>
      </p:sp>
      <p:sp>
        <p:nvSpPr>
          <p:cNvPr id="66" name="Text 53"/>
          <p:cNvSpPr/>
          <p:nvPr/>
        </p:nvSpPr>
        <p:spPr>
          <a:xfrm>
            <a:off x="3467100" y="3772198"/>
            <a:ext cx="10081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 · realtime</a:t>
            </a:r>
            <a:endParaRPr lang="en-US" sz="750" dirty="0"/>
          </a:p>
        </p:txBody>
      </p:sp>
      <p:sp>
        <p:nvSpPr>
          <p:cNvPr id="67" name="Text 54"/>
          <p:cNvSpPr/>
          <p:nvPr/>
        </p:nvSpPr>
        <p:spPr>
          <a:xfrm>
            <a:off x="3009900" y="4028182"/>
            <a:ext cx="3675659" cy="346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Classifies, dedupes and routes incoming alerts; opens incidents with context.</a:t>
            </a:r>
            <a:endParaRPr lang="en-US" sz="900" dirty="0"/>
          </a:p>
        </p:txBody>
      </p:sp>
      <p:sp>
        <p:nvSpPr>
          <p:cNvPr id="68" name="Shape 55"/>
          <p:cNvSpPr/>
          <p:nvPr/>
        </p:nvSpPr>
        <p:spPr>
          <a:xfrm>
            <a:off x="6835676" y="3428107"/>
            <a:ext cx="3854500" cy="1051322"/>
          </a:xfrm>
          <a:prstGeom prst="roundRect">
            <a:avLst>
              <a:gd name="adj" fmla="val 10872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6978551" y="3570982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33350" dist="57150" dir="5400000">
              <a:srgbClr val="1D4ED8">
                <a:alpha val="40000"/>
              </a:srgbClr>
            </a:outerShdw>
          </a:effectLst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4276" y="3656707"/>
            <a:ext cx="190500" cy="190500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7435751" y="3607891"/>
            <a:ext cx="95637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Job</a:t>
            </a:r>
            <a:endParaRPr lang="en-US" sz="1125" dirty="0"/>
          </a:p>
        </p:txBody>
      </p:sp>
      <p:sp>
        <p:nvSpPr>
          <p:cNvPr id="72" name="Text 58"/>
          <p:cNvSpPr/>
          <p:nvPr/>
        </p:nvSpPr>
        <p:spPr>
          <a:xfrm>
            <a:off x="7435751" y="3772198"/>
            <a:ext cx="9563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 · scheduled</a:t>
            </a:r>
            <a:endParaRPr lang="en-US" sz="750" dirty="0"/>
          </a:p>
        </p:txBody>
      </p:sp>
      <p:sp>
        <p:nvSpPr>
          <p:cNvPr id="73" name="Text 59"/>
          <p:cNvSpPr/>
          <p:nvPr/>
        </p:nvSpPr>
        <p:spPr>
          <a:xfrm>
            <a:off x="6978551" y="4028182"/>
            <a:ext cx="3675812" cy="346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Watches batch pipelines; auto-restarts, escalates on chronic failure patterns.</a:t>
            </a:r>
            <a:endParaRPr lang="en-US" sz="900" dirty="0"/>
          </a:p>
        </p:txBody>
      </p:sp>
      <p:sp>
        <p:nvSpPr>
          <p:cNvPr id="74" name="Shape 60"/>
          <p:cNvSpPr/>
          <p:nvPr/>
        </p:nvSpPr>
        <p:spPr>
          <a:xfrm>
            <a:off x="10804475" y="3428107"/>
            <a:ext cx="3854351" cy="1051322"/>
          </a:xfrm>
          <a:prstGeom prst="roundRect">
            <a:avLst>
              <a:gd name="adj" fmla="val 10872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75" name="Shape 61"/>
          <p:cNvSpPr/>
          <p:nvPr/>
        </p:nvSpPr>
        <p:spPr>
          <a:xfrm>
            <a:off x="10947350" y="3570982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33350" dist="57150" dir="5400000">
              <a:srgbClr val="1D4ED8">
                <a:alpha val="40000"/>
              </a:srgbClr>
            </a:outerShdw>
          </a:effectLst>
        </p:spPr>
      </p:sp>
      <p:pic>
        <p:nvPicPr>
          <p:cNvPr id="7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33075" y="3656707"/>
            <a:ext cx="190500" cy="190500"/>
          </a:xfrm>
          <a:prstGeom prst="rect">
            <a:avLst/>
          </a:prstGeom>
        </p:spPr>
      </p:pic>
      <p:sp>
        <p:nvSpPr>
          <p:cNvPr id="77" name="Text 62"/>
          <p:cNvSpPr/>
          <p:nvPr/>
        </p:nvSpPr>
        <p:spPr>
          <a:xfrm>
            <a:off x="11404550" y="3607891"/>
            <a:ext cx="108212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Root-Cause</a:t>
            </a:r>
            <a:endParaRPr lang="en-US" sz="1125" dirty="0"/>
          </a:p>
        </p:txBody>
      </p:sp>
      <p:sp>
        <p:nvSpPr>
          <p:cNvPr id="78" name="Text 63"/>
          <p:cNvSpPr/>
          <p:nvPr/>
        </p:nvSpPr>
        <p:spPr>
          <a:xfrm>
            <a:off x="11404550" y="3772198"/>
            <a:ext cx="10821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 · deep-reason</a:t>
            </a:r>
            <a:endParaRPr lang="en-US" sz="750" dirty="0"/>
          </a:p>
        </p:txBody>
      </p:sp>
      <p:sp>
        <p:nvSpPr>
          <p:cNvPr id="79" name="Text 64"/>
          <p:cNvSpPr/>
          <p:nvPr/>
        </p:nvSpPr>
        <p:spPr>
          <a:xfrm>
            <a:off x="10947350" y="4028182"/>
            <a:ext cx="3675659" cy="346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Correlates traces, deploys and changes to surface the most likely cause.</a:t>
            </a:r>
            <a:endParaRPr lang="en-US" sz="900" dirty="0"/>
          </a:p>
        </p:txBody>
      </p:sp>
      <p:sp>
        <p:nvSpPr>
          <p:cNvPr id="80" name="Shape 65"/>
          <p:cNvSpPr/>
          <p:nvPr/>
        </p:nvSpPr>
        <p:spPr>
          <a:xfrm>
            <a:off x="2667000" y="4793754"/>
            <a:ext cx="121920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34">
                <a:alpha val="4000"/>
              </a:srgbClr>
            </a:outerShdw>
          </a:effectLst>
        </p:spPr>
      </p:sp>
      <p:sp>
        <p:nvSpPr>
          <p:cNvPr id="81" name="Shape 66"/>
          <p:cNvSpPr/>
          <p:nvPr/>
        </p:nvSpPr>
        <p:spPr>
          <a:xfrm>
            <a:off x="2867025" y="4974729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0891B2"/>
          </a:solidFill>
          <a:ln/>
        </p:spPr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3700" y="5041404"/>
            <a:ext cx="171450" cy="171450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3267075" y="5017591"/>
            <a:ext cx="9776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SERVICES</a:t>
            </a:r>
            <a:endParaRPr lang="en-US" sz="1200" dirty="0"/>
          </a:p>
        </p:txBody>
      </p:sp>
      <p:sp>
        <p:nvSpPr>
          <p:cNvPr id="84" name="Shape 68"/>
          <p:cNvSpPr/>
          <p:nvPr/>
        </p:nvSpPr>
        <p:spPr>
          <a:xfrm>
            <a:off x="13877925" y="5031879"/>
            <a:ext cx="781050" cy="19050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85" name="Text 69"/>
          <p:cNvSpPr/>
          <p:nvPr/>
        </p:nvSpPr>
        <p:spPr>
          <a:xfrm>
            <a:off x="13954125" y="5060454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91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plane</a:t>
            </a:r>
            <a:endParaRPr lang="en-US" sz="825" dirty="0"/>
          </a:p>
        </p:txBody>
      </p:sp>
      <p:sp>
        <p:nvSpPr>
          <p:cNvPr id="86" name="Shape 70"/>
          <p:cNvSpPr/>
          <p:nvPr/>
        </p:nvSpPr>
        <p:spPr>
          <a:xfrm>
            <a:off x="2867025" y="5412879"/>
            <a:ext cx="5838825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E1F4F8"/>
            </a:solidFill>
            <a:prstDash val="solid"/>
          </a:ln>
        </p:spPr>
      </p:sp>
      <p:sp>
        <p:nvSpPr>
          <p:cNvPr id="87" name="Shape 71"/>
          <p:cNvSpPr/>
          <p:nvPr/>
        </p:nvSpPr>
        <p:spPr>
          <a:xfrm>
            <a:off x="2990850" y="551765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95250" dist="38100" dir="5400000">
              <a:srgbClr val="0891B2">
                <a:alpha val="40000"/>
              </a:srgbClr>
            </a:outerShdw>
          </a:effectLst>
        </p:spPr>
      </p:sp>
      <p:pic>
        <p:nvPicPr>
          <p:cNvPr id="8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67050" y="5593854"/>
            <a:ext cx="152400" cy="152400"/>
          </a:xfrm>
          <a:prstGeom prst="rect">
            <a:avLst/>
          </a:prstGeom>
        </p:spPr>
      </p:pic>
      <p:sp>
        <p:nvSpPr>
          <p:cNvPr id="89" name="Text 72"/>
          <p:cNvSpPr/>
          <p:nvPr/>
        </p:nvSpPr>
        <p:spPr>
          <a:xfrm>
            <a:off x="3409950" y="5526584"/>
            <a:ext cx="1674763" cy="180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Incidents</a:t>
            </a:r>
            <a:endParaRPr lang="en-US" sz="975" dirty="0"/>
          </a:p>
        </p:txBody>
      </p:sp>
      <p:sp>
        <p:nvSpPr>
          <p:cNvPr id="90" name="Text 73"/>
          <p:cNvSpPr/>
          <p:nvPr/>
        </p:nvSpPr>
        <p:spPr>
          <a:xfrm>
            <a:off x="3409950" y="5687913"/>
            <a:ext cx="1674763" cy="16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 + ticketing live signal</a:t>
            </a:r>
            <a:endParaRPr lang="en-US" sz="825" dirty="0"/>
          </a:p>
        </p:txBody>
      </p:sp>
      <p:sp>
        <p:nvSpPr>
          <p:cNvPr id="91" name="Shape 74"/>
          <p:cNvSpPr/>
          <p:nvPr/>
        </p:nvSpPr>
        <p:spPr>
          <a:xfrm>
            <a:off x="8820150" y="5412879"/>
            <a:ext cx="5838825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E1F4F8"/>
            </a:solidFill>
            <a:prstDash val="solid"/>
          </a:ln>
        </p:spPr>
      </p:sp>
      <p:sp>
        <p:nvSpPr>
          <p:cNvPr id="92" name="Shape 75"/>
          <p:cNvSpPr/>
          <p:nvPr/>
        </p:nvSpPr>
        <p:spPr>
          <a:xfrm>
            <a:off x="8943975" y="5517654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95250" dist="38100" dir="5400000">
              <a:srgbClr val="0891B2">
                <a:alpha val="40000"/>
              </a:srgbClr>
            </a:outerShdw>
          </a:effectLst>
        </p:spPr>
      </p:sp>
      <p:pic>
        <p:nvPicPr>
          <p:cNvPr id="9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20175" y="5593854"/>
            <a:ext cx="152400" cy="152400"/>
          </a:xfrm>
          <a:prstGeom prst="rect">
            <a:avLst/>
          </a:prstGeom>
        </p:spPr>
      </p:pic>
      <p:sp>
        <p:nvSpPr>
          <p:cNvPr id="94" name="Text 76"/>
          <p:cNvSpPr/>
          <p:nvPr/>
        </p:nvSpPr>
        <p:spPr>
          <a:xfrm>
            <a:off x="9363075" y="5526584"/>
            <a:ext cx="1823591" cy="180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Changes</a:t>
            </a:r>
            <a:endParaRPr lang="en-US" sz="975" dirty="0"/>
          </a:p>
        </p:txBody>
      </p:sp>
      <p:sp>
        <p:nvSpPr>
          <p:cNvPr id="95" name="Text 77"/>
          <p:cNvSpPr/>
          <p:nvPr/>
        </p:nvSpPr>
        <p:spPr>
          <a:xfrm>
            <a:off x="9363075" y="5687913"/>
            <a:ext cx="1823591" cy="16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Recent deploys, configs, feature flags</a:t>
            </a:r>
            <a:endParaRPr lang="en-US" sz="825" dirty="0"/>
          </a:p>
        </p:txBody>
      </p:sp>
      <p:sp>
        <p:nvSpPr>
          <p:cNvPr id="96" name="Shape 78"/>
          <p:cNvSpPr/>
          <p:nvPr/>
        </p:nvSpPr>
        <p:spPr>
          <a:xfrm>
            <a:off x="2667000" y="6241554"/>
            <a:ext cx="12192000" cy="2633960"/>
          </a:xfrm>
          <a:prstGeom prst="roundRect">
            <a:avLst>
              <a:gd name="adj" fmla="val 578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34">
                <a:alpha val="4000"/>
              </a:srgbClr>
            </a:outerShdw>
          </a:effectLst>
        </p:spPr>
      </p:sp>
      <p:sp>
        <p:nvSpPr>
          <p:cNvPr id="97" name="Shape 79"/>
          <p:cNvSpPr/>
          <p:nvPr/>
        </p:nvSpPr>
        <p:spPr>
          <a:xfrm>
            <a:off x="2867025" y="6422529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DB2777"/>
          </a:solidFill>
          <a:ln/>
        </p:spPr>
      </p:sp>
      <p:pic>
        <p:nvPicPr>
          <p:cNvPr id="9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33700" y="6489204"/>
            <a:ext cx="171450" cy="171450"/>
          </a:xfrm>
          <a:prstGeom prst="rect">
            <a:avLst/>
          </a:prstGeom>
        </p:spPr>
      </p:pic>
      <p:sp>
        <p:nvSpPr>
          <p:cNvPr id="99" name="Text 80"/>
          <p:cNvSpPr/>
          <p:nvPr/>
        </p:nvSpPr>
        <p:spPr>
          <a:xfrm>
            <a:off x="3267075" y="6465391"/>
            <a:ext cx="22316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OUTCOMES | PERSONA</a:t>
            </a:r>
            <a:endParaRPr lang="en-US" sz="1200" dirty="0"/>
          </a:p>
        </p:txBody>
      </p:sp>
      <p:sp>
        <p:nvSpPr>
          <p:cNvPr id="100" name="Shape 81"/>
          <p:cNvSpPr/>
          <p:nvPr/>
        </p:nvSpPr>
        <p:spPr>
          <a:xfrm>
            <a:off x="14003536" y="6479679"/>
            <a:ext cx="655439" cy="19050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01" name="Text 82"/>
          <p:cNvSpPr/>
          <p:nvPr/>
        </p:nvSpPr>
        <p:spPr>
          <a:xfrm>
            <a:off x="14079736" y="6508254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themes</a:t>
            </a:r>
            <a:endParaRPr lang="en-US" sz="825" dirty="0"/>
          </a:p>
        </p:txBody>
      </p:sp>
      <p:sp>
        <p:nvSpPr>
          <p:cNvPr id="102" name="Shape 83"/>
          <p:cNvSpPr/>
          <p:nvPr/>
        </p:nvSpPr>
        <p:spPr>
          <a:xfrm>
            <a:off x="2867025" y="6860679"/>
            <a:ext cx="3867150" cy="1052959"/>
          </a:xfrm>
          <a:prstGeom prst="roundRect">
            <a:avLst>
              <a:gd name="adj" fmla="val 10855"/>
            </a:avLst>
          </a:prstGeom>
          <a:solidFill>
            <a:srgbClr val="FFFFFF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03" name="Shape 84"/>
          <p:cNvSpPr/>
          <p:nvPr/>
        </p:nvSpPr>
        <p:spPr>
          <a:xfrm>
            <a:off x="2990850" y="6984504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33350" dist="57150" dir="5400000">
              <a:srgbClr val="DB2777">
                <a:alpha val="40000"/>
              </a:srgbClr>
            </a:outerShdw>
          </a:effectLst>
        </p:spPr>
      </p:sp>
      <p:pic>
        <p:nvPicPr>
          <p:cNvPr id="10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76575" y="7070229"/>
            <a:ext cx="190500" cy="190500"/>
          </a:xfrm>
          <a:prstGeom prst="rect">
            <a:avLst/>
          </a:prstGeom>
        </p:spPr>
      </p:pic>
      <p:sp>
        <p:nvSpPr>
          <p:cNvPr id="105" name="Shape 85"/>
          <p:cNvSpPr/>
          <p:nvPr/>
        </p:nvSpPr>
        <p:spPr>
          <a:xfrm>
            <a:off x="6342757" y="7070229"/>
            <a:ext cx="267593" cy="190500"/>
          </a:xfrm>
          <a:prstGeom prst="roundRect">
            <a:avLst>
              <a:gd name="adj" fmla="val 30000"/>
            </a:avLst>
          </a:prstGeom>
          <a:solidFill>
            <a:srgbClr val="FDE6F0"/>
          </a:solidFill>
          <a:ln/>
        </p:spPr>
      </p:sp>
      <p:sp>
        <p:nvSpPr>
          <p:cNvPr id="106" name="Text 86"/>
          <p:cNvSpPr/>
          <p:nvPr/>
        </p:nvSpPr>
        <p:spPr>
          <a:xfrm>
            <a:off x="6409432" y="7098804"/>
            <a:ext cx="2104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07" name="Text 87"/>
          <p:cNvSpPr/>
          <p:nvPr/>
        </p:nvSpPr>
        <p:spPr>
          <a:xfrm>
            <a:off x="2990850" y="7422654"/>
            <a:ext cx="37280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Automated change governance</a:t>
            </a:r>
            <a:endParaRPr lang="en-US" sz="975" dirty="0"/>
          </a:p>
        </p:txBody>
      </p:sp>
      <p:sp>
        <p:nvSpPr>
          <p:cNvPr id="108" name="Text 88"/>
          <p:cNvSpPr/>
          <p:nvPr/>
        </p:nvSpPr>
        <p:spPr>
          <a:xfrm>
            <a:off x="2990850" y="7653635"/>
            <a:ext cx="3728085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gating with audit trail.</a:t>
            </a:r>
            <a:endParaRPr lang="en-US" sz="825" dirty="0"/>
          </a:p>
        </p:txBody>
      </p:sp>
      <p:sp>
        <p:nvSpPr>
          <p:cNvPr id="109" name="Shape 89"/>
          <p:cNvSpPr/>
          <p:nvPr/>
        </p:nvSpPr>
        <p:spPr>
          <a:xfrm>
            <a:off x="6829425" y="6860679"/>
            <a:ext cx="3867150" cy="1052959"/>
          </a:xfrm>
          <a:prstGeom prst="roundRect">
            <a:avLst>
              <a:gd name="adj" fmla="val 10855"/>
            </a:avLst>
          </a:prstGeom>
          <a:solidFill>
            <a:srgbClr val="FFFFFF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10" name="Shape 90"/>
          <p:cNvSpPr/>
          <p:nvPr/>
        </p:nvSpPr>
        <p:spPr>
          <a:xfrm>
            <a:off x="6953250" y="6984504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33350" dist="57150" dir="5400000">
              <a:srgbClr val="DB2777">
                <a:alpha val="40000"/>
              </a:srgbClr>
            </a:outerShdw>
          </a:effectLst>
        </p:spPr>
      </p:sp>
      <p:pic>
        <p:nvPicPr>
          <p:cNvPr id="11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38975" y="7070229"/>
            <a:ext cx="190500" cy="190500"/>
          </a:xfrm>
          <a:prstGeom prst="rect">
            <a:avLst/>
          </a:prstGeom>
        </p:spPr>
      </p:pic>
      <p:sp>
        <p:nvSpPr>
          <p:cNvPr id="112" name="Shape 91"/>
          <p:cNvSpPr/>
          <p:nvPr/>
        </p:nvSpPr>
        <p:spPr>
          <a:xfrm>
            <a:off x="10305157" y="7070229"/>
            <a:ext cx="267593" cy="190500"/>
          </a:xfrm>
          <a:prstGeom prst="roundRect">
            <a:avLst>
              <a:gd name="adj" fmla="val 30000"/>
            </a:avLst>
          </a:prstGeom>
          <a:solidFill>
            <a:srgbClr val="FDE6F0"/>
          </a:solidFill>
          <a:ln/>
        </p:spPr>
      </p:sp>
      <p:sp>
        <p:nvSpPr>
          <p:cNvPr id="113" name="Text 92"/>
          <p:cNvSpPr/>
          <p:nvPr/>
        </p:nvSpPr>
        <p:spPr>
          <a:xfrm>
            <a:off x="10371832" y="7098804"/>
            <a:ext cx="2104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114" name="Text 93"/>
          <p:cNvSpPr/>
          <p:nvPr/>
        </p:nvSpPr>
        <p:spPr>
          <a:xfrm>
            <a:off x="6953250" y="7422654"/>
            <a:ext cx="37280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event detection</a:t>
            </a:r>
            <a:endParaRPr lang="en-US" sz="975" dirty="0"/>
          </a:p>
        </p:txBody>
      </p:sp>
      <p:sp>
        <p:nvSpPr>
          <p:cNvPr id="115" name="Text 94"/>
          <p:cNvSpPr/>
          <p:nvPr/>
        </p:nvSpPr>
        <p:spPr>
          <a:xfrm>
            <a:off x="6953250" y="7653635"/>
            <a:ext cx="3728085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Resolve issues before users feel them.</a:t>
            </a:r>
            <a:endParaRPr lang="en-US" sz="825" dirty="0"/>
          </a:p>
        </p:txBody>
      </p:sp>
      <p:sp>
        <p:nvSpPr>
          <p:cNvPr id="116" name="Shape 95"/>
          <p:cNvSpPr/>
          <p:nvPr/>
        </p:nvSpPr>
        <p:spPr>
          <a:xfrm>
            <a:off x="10791825" y="6860679"/>
            <a:ext cx="3867150" cy="1052959"/>
          </a:xfrm>
          <a:prstGeom prst="roundRect">
            <a:avLst>
              <a:gd name="adj" fmla="val 10855"/>
            </a:avLst>
          </a:prstGeom>
          <a:solidFill>
            <a:srgbClr val="FFFFFF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17" name="Shape 96"/>
          <p:cNvSpPr/>
          <p:nvPr/>
        </p:nvSpPr>
        <p:spPr>
          <a:xfrm>
            <a:off x="10915650" y="6984504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33350" dist="57150" dir="5400000">
              <a:srgbClr val="DB2777">
                <a:alpha val="40000"/>
              </a:srgbClr>
            </a:outerShdw>
          </a:effectLst>
        </p:spPr>
      </p:sp>
      <p:pic>
        <p:nvPicPr>
          <p:cNvPr id="11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01375" y="7070229"/>
            <a:ext cx="190500" cy="190500"/>
          </a:xfrm>
          <a:prstGeom prst="rect">
            <a:avLst/>
          </a:prstGeom>
        </p:spPr>
      </p:pic>
      <p:sp>
        <p:nvSpPr>
          <p:cNvPr id="119" name="Shape 97"/>
          <p:cNvSpPr/>
          <p:nvPr/>
        </p:nvSpPr>
        <p:spPr>
          <a:xfrm>
            <a:off x="14267557" y="7070229"/>
            <a:ext cx="267593" cy="190500"/>
          </a:xfrm>
          <a:prstGeom prst="roundRect">
            <a:avLst>
              <a:gd name="adj" fmla="val 30000"/>
            </a:avLst>
          </a:prstGeom>
          <a:solidFill>
            <a:srgbClr val="FDE6F0"/>
          </a:solidFill>
          <a:ln/>
        </p:spPr>
      </p:sp>
      <p:sp>
        <p:nvSpPr>
          <p:cNvPr id="120" name="Text 98"/>
          <p:cNvSpPr/>
          <p:nvPr/>
        </p:nvSpPr>
        <p:spPr>
          <a:xfrm>
            <a:off x="14334232" y="7098804"/>
            <a:ext cx="2104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121" name="Text 99"/>
          <p:cNvSpPr/>
          <p:nvPr/>
        </p:nvSpPr>
        <p:spPr>
          <a:xfrm>
            <a:off x="10915650" y="7422654"/>
            <a:ext cx="37280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AI-led incident management</a:t>
            </a:r>
            <a:endParaRPr lang="en-US" sz="975" dirty="0"/>
          </a:p>
        </p:txBody>
      </p:sp>
      <p:sp>
        <p:nvSpPr>
          <p:cNvPr id="122" name="Text 100"/>
          <p:cNvSpPr/>
          <p:nvPr/>
        </p:nvSpPr>
        <p:spPr>
          <a:xfrm>
            <a:off x="10915650" y="7653635"/>
            <a:ext cx="3728085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Co-pilot drafts updates &amp; comms.</a:t>
            </a:r>
            <a:endParaRPr lang="en-US" sz="825" dirty="0"/>
          </a:p>
        </p:txBody>
      </p:sp>
      <p:sp>
        <p:nvSpPr>
          <p:cNvPr id="123" name="Shape 101"/>
          <p:cNvSpPr/>
          <p:nvPr/>
        </p:nvSpPr>
        <p:spPr>
          <a:xfrm>
            <a:off x="2867025" y="8008888"/>
            <a:ext cx="3867150" cy="1052959"/>
          </a:xfrm>
          <a:prstGeom prst="roundRect">
            <a:avLst>
              <a:gd name="adj" fmla="val 10855"/>
            </a:avLst>
          </a:prstGeom>
          <a:solidFill>
            <a:srgbClr val="FFFFFF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24" name="Shape 102"/>
          <p:cNvSpPr/>
          <p:nvPr/>
        </p:nvSpPr>
        <p:spPr>
          <a:xfrm>
            <a:off x="2990850" y="813271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33350" dist="57150" dir="5400000">
              <a:srgbClr val="DB2777">
                <a:alpha val="40000"/>
              </a:srgbClr>
            </a:outerShdw>
          </a:effectLst>
        </p:spPr>
      </p:sp>
      <p:pic>
        <p:nvPicPr>
          <p:cNvPr id="12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76575" y="8218438"/>
            <a:ext cx="190500" cy="190500"/>
          </a:xfrm>
          <a:prstGeom prst="rect">
            <a:avLst/>
          </a:prstGeom>
        </p:spPr>
      </p:pic>
      <p:sp>
        <p:nvSpPr>
          <p:cNvPr id="126" name="Shape 103"/>
          <p:cNvSpPr/>
          <p:nvPr/>
        </p:nvSpPr>
        <p:spPr>
          <a:xfrm>
            <a:off x="6342757" y="8218438"/>
            <a:ext cx="267593" cy="190500"/>
          </a:xfrm>
          <a:prstGeom prst="roundRect">
            <a:avLst>
              <a:gd name="adj" fmla="val 30000"/>
            </a:avLst>
          </a:prstGeom>
          <a:solidFill>
            <a:srgbClr val="FDE6F0"/>
          </a:solidFill>
          <a:ln/>
        </p:spPr>
      </p:sp>
      <p:sp>
        <p:nvSpPr>
          <p:cNvPr id="127" name="Text 104"/>
          <p:cNvSpPr/>
          <p:nvPr/>
        </p:nvSpPr>
        <p:spPr>
          <a:xfrm>
            <a:off x="6409432" y="8247013"/>
            <a:ext cx="2104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25" dirty="0"/>
          </a:p>
        </p:txBody>
      </p:sp>
      <p:sp>
        <p:nvSpPr>
          <p:cNvPr id="128" name="Text 105"/>
          <p:cNvSpPr/>
          <p:nvPr/>
        </p:nvSpPr>
        <p:spPr>
          <a:xfrm>
            <a:off x="2990850" y="8570863"/>
            <a:ext cx="37280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Production with reduced risk</a:t>
            </a:r>
            <a:endParaRPr lang="en-US" sz="975" dirty="0"/>
          </a:p>
        </p:txBody>
      </p:sp>
      <p:sp>
        <p:nvSpPr>
          <p:cNvPr id="129" name="Text 106"/>
          <p:cNvSpPr/>
          <p:nvPr/>
        </p:nvSpPr>
        <p:spPr>
          <a:xfrm>
            <a:off x="2990850" y="8801844"/>
            <a:ext cx="3728085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Ship with guardrails, not gates.</a:t>
            </a:r>
            <a:endParaRPr lang="en-US" sz="825" dirty="0"/>
          </a:p>
        </p:txBody>
      </p:sp>
      <p:sp>
        <p:nvSpPr>
          <p:cNvPr id="130" name="Shape 107"/>
          <p:cNvSpPr/>
          <p:nvPr/>
        </p:nvSpPr>
        <p:spPr>
          <a:xfrm>
            <a:off x="6829425" y="8008888"/>
            <a:ext cx="3867150" cy="1052959"/>
          </a:xfrm>
          <a:prstGeom prst="roundRect">
            <a:avLst>
              <a:gd name="adj" fmla="val 10855"/>
            </a:avLst>
          </a:prstGeom>
          <a:solidFill>
            <a:srgbClr val="FFFFFF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31" name="Shape 108"/>
          <p:cNvSpPr/>
          <p:nvPr/>
        </p:nvSpPr>
        <p:spPr>
          <a:xfrm>
            <a:off x="6953250" y="813271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33350" dist="57150" dir="5400000">
              <a:srgbClr val="DB2777">
                <a:alpha val="40000"/>
              </a:srgbClr>
            </a:outerShdw>
          </a:effectLst>
        </p:spPr>
      </p:sp>
      <p:pic>
        <p:nvPicPr>
          <p:cNvPr id="1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38975" y="8218438"/>
            <a:ext cx="190500" cy="190500"/>
          </a:xfrm>
          <a:prstGeom prst="rect">
            <a:avLst/>
          </a:prstGeom>
        </p:spPr>
      </p:pic>
      <p:sp>
        <p:nvSpPr>
          <p:cNvPr id="133" name="Shape 109"/>
          <p:cNvSpPr/>
          <p:nvPr/>
        </p:nvSpPr>
        <p:spPr>
          <a:xfrm>
            <a:off x="10305157" y="8218438"/>
            <a:ext cx="267593" cy="190500"/>
          </a:xfrm>
          <a:prstGeom prst="roundRect">
            <a:avLst>
              <a:gd name="adj" fmla="val 30000"/>
            </a:avLst>
          </a:prstGeom>
          <a:solidFill>
            <a:srgbClr val="FDE6F0"/>
          </a:solidFill>
          <a:ln/>
        </p:spPr>
      </p:sp>
      <p:sp>
        <p:nvSpPr>
          <p:cNvPr id="134" name="Text 110"/>
          <p:cNvSpPr/>
          <p:nvPr/>
        </p:nvSpPr>
        <p:spPr>
          <a:xfrm>
            <a:off x="10371832" y="8247013"/>
            <a:ext cx="2104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25" dirty="0"/>
          </a:p>
        </p:txBody>
      </p:sp>
      <p:sp>
        <p:nvSpPr>
          <p:cNvPr id="135" name="Text 111"/>
          <p:cNvSpPr/>
          <p:nvPr/>
        </p:nvSpPr>
        <p:spPr>
          <a:xfrm>
            <a:off x="6953250" y="8570863"/>
            <a:ext cx="37280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Optimized problem mgmt</a:t>
            </a:r>
            <a:endParaRPr lang="en-US" sz="975" dirty="0"/>
          </a:p>
        </p:txBody>
      </p:sp>
      <p:sp>
        <p:nvSpPr>
          <p:cNvPr id="136" name="Text 112"/>
          <p:cNvSpPr/>
          <p:nvPr/>
        </p:nvSpPr>
        <p:spPr>
          <a:xfrm>
            <a:off x="6953250" y="8801844"/>
            <a:ext cx="3728085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Cluster recurrences; fix the class.</a:t>
            </a:r>
            <a:endParaRPr lang="en-US" sz="825" dirty="0"/>
          </a:p>
        </p:txBody>
      </p:sp>
      <p:sp>
        <p:nvSpPr>
          <p:cNvPr id="137" name="Shape 113"/>
          <p:cNvSpPr/>
          <p:nvPr/>
        </p:nvSpPr>
        <p:spPr>
          <a:xfrm>
            <a:off x="10791825" y="8008888"/>
            <a:ext cx="3867150" cy="1052959"/>
          </a:xfrm>
          <a:prstGeom prst="roundRect">
            <a:avLst>
              <a:gd name="adj" fmla="val 10855"/>
            </a:avLst>
          </a:prstGeom>
          <a:solidFill>
            <a:srgbClr val="FFFFFF"/>
          </a:solidFill>
          <a:ln w="9525">
            <a:solidFill>
              <a:srgbClr val="FDE6F0"/>
            </a:solidFill>
            <a:prstDash val="solid"/>
          </a:ln>
        </p:spPr>
      </p:sp>
      <p:sp>
        <p:nvSpPr>
          <p:cNvPr id="138" name="Shape 114"/>
          <p:cNvSpPr/>
          <p:nvPr/>
        </p:nvSpPr>
        <p:spPr>
          <a:xfrm>
            <a:off x="10915650" y="8132713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2777"/>
          </a:solidFill>
          <a:ln/>
          <a:effectLst>
            <a:outerShdw sx="100000" sy="100000" kx="0" ky="0" algn="bl" rotWithShape="0" blurRad="133350" dist="57150" dir="5400000">
              <a:srgbClr val="DB2777">
                <a:alpha val="40000"/>
              </a:srgbClr>
            </a:outerShdw>
          </a:effectLst>
        </p:spPr>
      </p:sp>
      <p:pic>
        <p:nvPicPr>
          <p:cNvPr id="13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01375" y="8218438"/>
            <a:ext cx="190500" cy="190500"/>
          </a:xfrm>
          <a:prstGeom prst="rect">
            <a:avLst/>
          </a:prstGeom>
        </p:spPr>
      </p:pic>
      <p:sp>
        <p:nvSpPr>
          <p:cNvPr id="140" name="Shape 115"/>
          <p:cNvSpPr/>
          <p:nvPr/>
        </p:nvSpPr>
        <p:spPr>
          <a:xfrm>
            <a:off x="14267557" y="8218438"/>
            <a:ext cx="267593" cy="190500"/>
          </a:xfrm>
          <a:prstGeom prst="roundRect">
            <a:avLst>
              <a:gd name="adj" fmla="val 30000"/>
            </a:avLst>
          </a:prstGeom>
          <a:solidFill>
            <a:srgbClr val="FDE6F0"/>
          </a:solidFill>
          <a:ln/>
        </p:spPr>
      </p:sp>
      <p:sp>
        <p:nvSpPr>
          <p:cNvPr id="141" name="Text 116"/>
          <p:cNvSpPr/>
          <p:nvPr/>
        </p:nvSpPr>
        <p:spPr>
          <a:xfrm>
            <a:off x="14334232" y="8247013"/>
            <a:ext cx="2104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DB277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25" dirty="0"/>
          </a:p>
        </p:txBody>
      </p:sp>
      <p:sp>
        <p:nvSpPr>
          <p:cNvPr id="142" name="Text 117"/>
          <p:cNvSpPr/>
          <p:nvPr/>
        </p:nvSpPr>
        <p:spPr>
          <a:xfrm>
            <a:off x="10915650" y="8570863"/>
            <a:ext cx="37280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learning loop</a:t>
            </a:r>
            <a:endParaRPr lang="en-US" sz="975" dirty="0"/>
          </a:p>
        </p:txBody>
      </p:sp>
      <p:sp>
        <p:nvSpPr>
          <p:cNvPr id="143" name="Text 118"/>
          <p:cNvSpPr/>
          <p:nvPr/>
        </p:nvSpPr>
        <p:spPr>
          <a:xfrm>
            <a:off x="10915650" y="8801844"/>
            <a:ext cx="3728085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Postmortems feed the agents.</a:t>
            </a:r>
            <a:endParaRPr lang="en-US" sz="825" dirty="0"/>
          </a:p>
        </p:txBody>
      </p:sp>
      <p:sp>
        <p:nvSpPr>
          <p:cNvPr id="144" name="Shape 119"/>
          <p:cNvSpPr/>
          <p:nvPr/>
        </p:nvSpPr>
        <p:spPr>
          <a:xfrm>
            <a:off x="15011400" y="2808982"/>
            <a:ext cx="2667000" cy="1733550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66700" dist="114300" dir="5400000">
              <a:srgbClr val="EA580C">
                <a:alpha val="35000"/>
              </a:srgbClr>
            </a:outerShdw>
          </a:effectLst>
        </p:spPr>
      </p:sp>
      <p:sp>
        <p:nvSpPr>
          <p:cNvPr id="145" name="Shape 120"/>
          <p:cNvSpPr/>
          <p:nvPr/>
        </p:nvSpPr>
        <p:spPr>
          <a:xfrm>
            <a:off x="15192375" y="2970907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EA580C"/>
          </a:solidFill>
          <a:ln/>
        </p:spPr>
      </p:sp>
      <p:pic>
        <p:nvPicPr>
          <p:cNvPr id="14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259050" y="3037582"/>
            <a:ext cx="171450" cy="171450"/>
          </a:xfrm>
          <a:prstGeom prst="rect">
            <a:avLst/>
          </a:prstGeom>
        </p:spPr>
      </p:pic>
      <p:sp>
        <p:nvSpPr>
          <p:cNvPr id="147" name="Text 121"/>
          <p:cNvSpPr/>
          <p:nvPr/>
        </p:nvSpPr>
        <p:spPr>
          <a:xfrm>
            <a:off x="15592425" y="3013770"/>
            <a:ext cx="8239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</a:t>
            </a:r>
            <a:endParaRPr lang="en-US" sz="1200" dirty="0"/>
          </a:p>
        </p:txBody>
      </p:sp>
      <p:sp>
        <p:nvSpPr>
          <p:cNvPr id="148" name="Shape 122"/>
          <p:cNvSpPr/>
          <p:nvPr/>
        </p:nvSpPr>
        <p:spPr>
          <a:xfrm>
            <a:off x="16779180" y="3028057"/>
            <a:ext cx="718245" cy="19050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149" name="Text 123"/>
          <p:cNvSpPr/>
          <p:nvPr/>
        </p:nvSpPr>
        <p:spPr>
          <a:xfrm>
            <a:off x="16855380" y="3056632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Suite</a:t>
            </a:r>
            <a:endParaRPr lang="en-US" sz="825" dirty="0"/>
          </a:p>
        </p:txBody>
      </p:sp>
      <p:sp>
        <p:nvSpPr>
          <p:cNvPr id="150" name="Shape 124"/>
          <p:cNvSpPr/>
          <p:nvPr/>
        </p:nvSpPr>
        <p:spPr>
          <a:xfrm>
            <a:off x="15192375" y="3409057"/>
            <a:ext cx="854273" cy="971550"/>
          </a:xfrm>
          <a:prstGeom prst="roundRect">
            <a:avLst>
              <a:gd name="adj" fmla="val 11150"/>
            </a:avLst>
          </a:prstGeom>
          <a:solidFill>
            <a:srgbClr val="FFFFFF"/>
          </a:solidFill>
          <a:ln w="9525">
            <a:solidFill>
              <a:srgbClr val="FEEADB"/>
            </a:solidFill>
            <a:prstDash val="solid"/>
          </a:ln>
        </p:spPr>
      </p:sp>
      <p:sp>
        <p:nvSpPr>
          <p:cNvPr id="151" name="Shape 125"/>
          <p:cNvSpPr/>
          <p:nvPr/>
        </p:nvSpPr>
        <p:spPr>
          <a:xfrm>
            <a:off x="15438537" y="3513832"/>
            <a:ext cx="361950" cy="36195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45000"/>
              </a:srgbClr>
            </a:outerShdw>
          </a:effectLst>
        </p:spPr>
      </p:sp>
      <p:sp>
        <p:nvSpPr>
          <p:cNvPr id="152" name="Text 126"/>
          <p:cNvSpPr/>
          <p:nvPr/>
        </p:nvSpPr>
        <p:spPr>
          <a:xfrm>
            <a:off x="15400437" y="3513832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050" dirty="0"/>
          </a:p>
        </p:txBody>
      </p:sp>
      <p:sp>
        <p:nvSpPr>
          <p:cNvPr id="153" name="Text 127"/>
          <p:cNvSpPr/>
          <p:nvPr/>
        </p:nvSpPr>
        <p:spPr>
          <a:xfrm>
            <a:off x="15278100" y="3932932"/>
            <a:ext cx="7590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Generative</a:t>
            </a:r>
            <a:endParaRPr lang="en-US" sz="900" dirty="0"/>
          </a:p>
        </p:txBody>
      </p:sp>
      <p:sp>
        <p:nvSpPr>
          <p:cNvPr id="154" name="Text 128"/>
          <p:cNvSpPr/>
          <p:nvPr/>
        </p:nvSpPr>
        <p:spPr>
          <a:xfrm>
            <a:off x="15406092" y="4152007"/>
            <a:ext cx="50303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750" dirty="0"/>
          </a:p>
        </p:txBody>
      </p:sp>
      <p:sp>
        <p:nvSpPr>
          <p:cNvPr id="155" name="Shape 129"/>
          <p:cNvSpPr/>
          <p:nvPr/>
        </p:nvSpPr>
        <p:spPr>
          <a:xfrm>
            <a:off x="16141898" y="3409057"/>
            <a:ext cx="822871" cy="971550"/>
          </a:xfrm>
          <a:prstGeom prst="roundRect">
            <a:avLst>
              <a:gd name="adj" fmla="val 11575"/>
            </a:avLst>
          </a:prstGeom>
          <a:solidFill>
            <a:srgbClr val="FFFFFF"/>
          </a:solidFill>
          <a:ln w="9525">
            <a:solidFill>
              <a:srgbClr val="FEEADB"/>
            </a:solidFill>
            <a:prstDash val="solid"/>
          </a:ln>
        </p:spPr>
      </p:sp>
      <p:sp>
        <p:nvSpPr>
          <p:cNvPr id="156" name="Shape 130"/>
          <p:cNvSpPr/>
          <p:nvPr/>
        </p:nvSpPr>
        <p:spPr>
          <a:xfrm>
            <a:off x="16372284" y="3513832"/>
            <a:ext cx="361950" cy="36195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45000"/>
              </a:srgbClr>
            </a:outerShdw>
          </a:effectLst>
        </p:spPr>
      </p:sp>
      <p:sp>
        <p:nvSpPr>
          <p:cNvPr id="157" name="Text 131"/>
          <p:cNvSpPr/>
          <p:nvPr/>
        </p:nvSpPr>
        <p:spPr>
          <a:xfrm>
            <a:off x="16334184" y="3513832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050" dirty="0"/>
          </a:p>
        </p:txBody>
      </p:sp>
      <p:sp>
        <p:nvSpPr>
          <p:cNvPr id="158" name="Text 132"/>
          <p:cNvSpPr/>
          <p:nvPr/>
        </p:nvSpPr>
        <p:spPr>
          <a:xfrm>
            <a:off x="16227623" y="3932932"/>
            <a:ext cx="72762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</a:t>
            </a:r>
            <a:endParaRPr lang="en-US" sz="900" dirty="0"/>
          </a:p>
        </p:txBody>
      </p:sp>
      <p:sp>
        <p:nvSpPr>
          <p:cNvPr id="159" name="Text 133"/>
          <p:cNvSpPr/>
          <p:nvPr/>
        </p:nvSpPr>
        <p:spPr>
          <a:xfrm>
            <a:off x="16431369" y="4152007"/>
            <a:ext cx="3201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</a:t>
            </a:r>
            <a:endParaRPr lang="en-US" sz="750" dirty="0"/>
          </a:p>
        </p:txBody>
      </p:sp>
      <p:sp>
        <p:nvSpPr>
          <p:cNvPr id="160" name="Shape 134"/>
          <p:cNvSpPr/>
          <p:nvPr/>
        </p:nvSpPr>
        <p:spPr>
          <a:xfrm>
            <a:off x="17060019" y="3409057"/>
            <a:ext cx="864989" cy="971550"/>
          </a:xfrm>
          <a:prstGeom prst="roundRect">
            <a:avLst>
              <a:gd name="adj" fmla="val 11012"/>
            </a:avLst>
          </a:prstGeom>
          <a:solidFill>
            <a:srgbClr val="FFFFFF"/>
          </a:solidFill>
          <a:ln w="9525">
            <a:solidFill>
              <a:srgbClr val="FEEADB"/>
            </a:solidFill>
            <a:prstDash val="solid"/>
          </a:ln>
        </p:spPr>
      </p:sp>
      <p:sp>
        <p:nvSpPr>
          <p:cNvPr id="161" name="Shape 135"/>
          <p:cNvSpPr/>
          <p:nvPr/>
        </p:nvSpPr>
        <p:spPr>
          <a:xfrm>
            <a:off x="17311539" y="3513832"/>
            <a:ext cx="361950" cy="36195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45000"/>
              </a:srgbClr>
            </a:outerShdw>
          </a:effectLst>
        </p:spPr>
      </p:sp>
      <p:sp>
        <p:nvSpPr>
          <p:cNvPr id="162" name="Text 136"/>
          <p:cNvSpPr/>
          <p:nvPr/>
        </p:nvSpPr>
        <p:spPr>
          <a:xfrm>
            <a:off x="17273439" y="3513832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1050" dirty="0"/>
          </a:p>
        </p:txBody>
      </p:sp>
      <p:sp>
        <p:nvSpPr>
          <p:cNvPr id="163" name="Text 137"/>
          <p:cNvSpPr/>
          <p:nvPr/>
        </p:nvSpPr>
        <p:spPr>
          <a:xfrm>
            <a:off x="17145744" y="3932932"/>
            <a:ext cx="7697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64" name="Text 138"/>
          <p:cNvSpPr/>
          <p:nvPr/>
        </p:nvSpPr>
        <p:spPr>
          <a:xfrm>
            <a:off x="17218075" y="4152007"/>
            <a:ext cx="6249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retrieval</a:t>
            </a:r>
            <a:endParaRPr lang="en-US" sz="750" dirty="0"/>
          </a:p>
        </p:txBody>
      </p:sp>
      <p:sp>
        <p:nvSpPr>
          <p:cNvPr id="165" name="Shape 139"/>
          <p:cNvSpPr/>
          <p:nvPr/>
        </p:nvSpPr>
        <p:spPr>
          <a:xfrm>
            <a:off x="15011400" y="4675882"/>
            <a:ext cx="2667000" cy="4199632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66700" dist="114300" dir="5400000">
              <a:srgbClr val="15803D">
                <a:alpha val="32000"/>
              </a:srgbClr>
            </a:outerShdw>
          </a:effectLst>
        </p:spPr>
      </p:sp>
      <p:sp>
        <p:nvSpPr>
          <p:cNvPr id="166" name="Shape 140"/>
          <p:cNvSpPr/>
          <p:nvPr/>
        </p:nvSpPr>
        <p:spPr>
          <a:xfrm>
            <a:off x="15173325" y="4885432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15803D"/>
          </a:solidFill>
          <a:ln/>
        </p:spPr>
      </p:sp>
      <p:pic>
        <p:nvPicPr>
          <p:cNvPr id="16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240000" y="4952107"/>
            <a:ext cx="171450" cy="171450"/>
          </a:xfrm>
          <a:prstGeom prst="rect">
            <a:avLst/>
          </a:prstGeom>
        </p:spPr>
      </p:pic>
      <p:sp>
        <p:nvSpPr>
          <p:cNvPr id="168" name="Text 141"/>
          <p:cNvSpPr/>
          <p:nvPr/>
        </p:nvSpPr>
        <p:spPr>
          <a:xfrm>
            <a:off x="15573375" y="4818757"/>
            <a:ext cx="139437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| CONNECTORS</a:t>
            </a:r>
            <a:endParaRPr lang="en-US" sz="1200" dirty="0"/>
          </a:p>
        </p:txBody>
      </p:sp>
      <p:sp>
        <p:nvSpPr>
          <p:cNvPr id="169" name="Shape 142"/>
          <p:cNvSpPr/>
          <p:nvPr/>
        </p:nvSpPr>
        <p:spPr>
          <a:xfrm>
            <a:off x="16986796" y="4875907"/>
            <a:ext cx="529679" cy="3238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70" name="Text 143"/>
          <p:cNvSpPr/>
          <p:nvPr/>
        </p:nvSpPr>
        <p:spPr>
          <a:xfrm>
            <a:off x="17062996" y="4904482"/>
            <a:ext cx="4534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58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groups</a:t>
            </a:r>
            <a:endParaRPr lang="en-US" sz="825" dirty="0"/>
          </a:p>
        </p:txBody>
      </p:sp>
      <p:sp>
        <p:nvSpPr>
          <p:cNvPr id="171" name="Shape 144"/>
          <p:cNvSpPr/>
          <p:nvPr/>
        </p:nvSpPr>
        <p:spPr>
          <a:xfrm>
            <a:off x="15173325" y="5466457"/>
            <a:ext cx="23431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72" name="Shape 145"/>
          <p:cNvSpPr/>
          <p:nvPr/>
        </p:nvSpPr>
        <p:spPr>
          <a:xfrm>
            <a:off x="15278100" y="555218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6D28D9"/>
          </a:solidFill>
          <a:ln/>
        </p:spPr>
      </p:sp>
      <p:pic>
        <p:nvPicPr>
          <p:cNvPr id="17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344775" y="5618857"/>
            <a:ext cx="152400" cy="152400"/>
          </a:xfrm>
          <a:prstGeom prst="rect">
            <a:avLst/>
          </a:prstGeom>
        </p:spPr>
      </p:pic>
      <p:sp>
        <p:nvSpPr>
          <p:cNvPr id="174" name="Text 146"/>
          <p:cNvSpPr/>
          <p:nvPr/>
        </p:nvSpPr>
        <p:spPr>
          <a:xfrm>
            <a:off x="15659100" y="5557242"/>
            <a:ext cx="1828800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Connect</a:t>
            </a:r>
            <a:endParaRPr lang="en-US" sz="900" dirty="0"/>
          </a:p>
        </p:txBody>
      </p:sp>
      <p:sp>
        <p:nvSpPr>
          <p:cNvPr id="175" name="Text 147"/>
          <p:cNvSpPr/>
          <p:nvPr/>
        </p:nvSpPr>
        <p:spPr>
          <a:xfrm>
            <a:off x="15659100" y="5707707"/>
            <a:ext cx="1828800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warehouse · lakehouse · vector</a:t>
            </a:r>
            <a:endParaRPr lang="en-US" sz="788" dirty="0"/>
          </a:p>
        </p:txBody>
      </p:sp>
      <p:sp>
        <p:nvSpPr>
          <p:cNvPr id="176" name="Shape 148"/>
          <p:cNvSpPr/>
          <p:nvPr/>
        </p:nvSpPr>
        <p:spPr>
          <a:xfrm>
            <a:off x="15173325" y="5999857"/>
            <a:ext cx="23431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77" name="Shape 149"/>
          <p:cNvSpPr/>
          <p:nvPr/>
        </p:nvSpPr>
        <p:spPr>
          <a:xfrm>
            <a:off x="15278100" y="608558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D4ED8"/>
          </a:solidFill>
          <a:ln/>
        </p:spPr>
      </p:sp>
      <p:pic>
        <p:nvPicPr>
          <p:cNvPr id="17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344775" y="6152257"/>
            <a:ext cx="152400" cy="152400"/>
          </a:xfrm>
          <a:prstGeom prst="rect">
            <a:avLst/>
          </a:prstGeom>
        </p:spPr>
      </p:pic>
      <p:sp>
        <p:nvSpPr>
          <p:cNvPr id="179" name="Text 150"/>
          <p:cNvSpPr/>
          <p:nvPr/>
        </p:nvSpPr>
        <p:spPr>
          <a:xfrm>
            <a:off x="15659100" y="6090642"/>
            <a:ext cx="1828800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/ RAG</a:t>
            </a:r>
            <a:endParaRPr lang="en-US" sz="900" dirty="0"/>
          </a:p>
        </p:txBody>
      </p:sp>
      <p:sp>
        <p:nvSpPr>
          <p:cNvPr id="180" name="Text 151"/>
          <p:cNvSpPr/>
          <p:nvPr/>
        </p:nvSpPr>
        <p:spPr>
          <a:xfrm>
            <a:off x="15659100" y="6241107"/>
            <a:ext cx="1828800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runbooks · postmortems · docs</a:t>
            </a:r>
            <a:endParaRPr lang="en-US" sz="788" dirty="0"/>
          </a:p>
        </p:txBody>
      </p:sp>
      <p:sp>
        <p:nvSpPr>
          <p:cNvPr id="181" name="Shape 152"/>
          <p:cNvSpPr/>
          <p:nvPr/>
        </p:nvSpPr>
        <p:spPr>
          <a:xfrm>
            <a:off x="15173325" y="6533257"/>
            <a:ext cx="23431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82" name="Shape 153"/>
          <p:cNvSpPr/>
          <p:nvPr/>
        </p:nvSpPr>
        <p:spPr>
          <a:xfrm>
            <a:off x="15278100" y="661898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pic>
        <p:nvPicPr>
          <p:cNvPr id="18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344775" y="6685657"/>
            <a:ext cx="152400" cy="152400"/>
          </a:xfrm>
          <a:prstGeom prst="rect">
            <a:avLst/>
          </a:prstGeom>
        </p:spPr>
      </p:pic>
      <p:sp>
        <p:nvSpPr>
          <p:cNvPr id="184" name="Text 154"/>
          <p:cNvSpPr/>
          <p:nvPr/>
        </p:nvSpPr>
        <p:spPr>
          <a:xfrm>
            <a:off x="15659100" y="6624042"/>
            <a:ext cx="1828800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185" name="Text 155"/>
          <p:cNvSpPr/>
          <p:nvPr/>
        </p:nvSpPr>
        <p:spPr>
          <a:xfrm>
            <a:off x="15659100" y="6774507"/>
            <a:ext cx="1828800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logs · traces · metrics · APM</a:t>
            </a:r>
            <a:endParaRPr lang="en-US" sz="788" dirty="0"/>
          </a:p>
        </p:txBody>
      </p:sp>
      <p:sp>
        <p:nvSpPr>
          <p:cNvPr id="186" name="Shape 156"/>
          <p:cNvSpPr/>
          <p:nvPr/>
        </p:nvSpPr>
        <p:spPr>
          <a:xfrm>
            <a:off x="15173325" y="7066657"/>
            <a:ext cx="23431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87" name="Shape 157"/>
          <p:cNvSpPr/>
          <p:nvPr/>
        </p:nvSpPr>
        <p:spPr>
          <a:xfrm>
            <a:off x="15278100" y="715238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DB2777"/>
          </a:solidFill>
          <a:ln/>
        </p:spPr>
      </p:sp>
      <p:pic>
        <p:nvPicPr>
          <p:cNvPr id="18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5344775" y="7219057"/>
            <a:ext cx="152400" cy="152400"/>
          </a:xfrm>
          <a:prstGeom prst="rect">
            <a:avLst/>
          </a:prstGeom>
        </p:spPr>
      </p:pic>
      <p:sp>
        <p:nvSpPr>
          <p:cNvPr id="189" name="Text 158"/>
          <p:cNvSpPr/>
          <p:nvPr/>
        </p:nvSpPr>
        <p:spPr>
          <a:xfrm>
            <a:off x="15659100" y="7157442"/>
            <a:ext cx="1828800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JET</a:t>
            </a:r>
            <a:endParaRPr lang="en-US" sz="900" dirty="0"/>
          </a:p>
        </p:txBody>
      </p:sp>
      <p:sp>
        <p:nvSpPr>
          <p:cNvPr id="190" name="Text 159"/>
          <p:cNvSpPr/>
          <p:nvPr/>
        </p:nvSpPr>
        <p:spPr>
          <a:xfrm>
            <a:off x="15659100" y="7307907"/>
            <a:ext cx="1828800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vcs · pipelines · DORA</a:t>
            </a:r>
            <a:endParaRPr lang="en-US" sz="788" dirty="0"/>
          </a:p>
        </p:txBody>
      </p:sp>
      <p:sp>
        <p:nvSpPr>
          <p:cNvPr id="191" name="Shape 160"/>
          <p:cNvSpPr/>
          <p:nvPr/>
        </p:nvSpPr>
        <p:spPr>
          <a:xfrm>
            <a:off x="15173325" y="7600057"/>
            <a:ext cx="234315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92" name="Shape 161"/>
          <p:cNvSpPr/>
          <p:nvPr/>
        </p:nvSpPr>
        <p:spPr>
          <a:xfrm>
            <a:off x="15278100" y="7685782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5803D"/>
          </a:solidFill>
          <a:ln/>
        </p:spPr>
      </p:sp>
      <p:pic>
        <p:nvPicPr>
          <p:cNvPr id="19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344775" y="7752457"/>
            <a:ext cx="152400" cy="152400"/>
          </a:xfrm>
          <a:prstGeom prst="rect">
            <a:avLst/>
          </a:prstGeom>
        </p:spPr>
      </p:pic>
      <p:sp>
        <p:nvSpPr>
          <p:cNvPr id="194" name="Text 162"/>
          <p:cNvSpPr/>
          <p:nvPr/>
        </p:nvSpPr>
        <p:spPr>
          <a:xfrm>
            <a:off x="15659100" y="7690842"/>
            <a:ext cx="1828800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4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Systems</a:t>
            </a:r>
            <a:endParaRPr lang="en-US" sz="900" dirty="0"/>
          </a:p>
        </p:txBody>
      </p:sp>
      <p:sp>
        <p:nvSpPr>
          <p:cNvPr id="195" name="Text 163"/>
          <p:cNvSpPr/>
          <p:nvPr/>
        </p:nvSpPr>
        <p:spPr>
          <a:xfrm>
            <a:off x="15659100" y="7841307"/>
            <a:ext cx="1828800" cy="163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itsm · arch · assets · portal</a:t>
            </a:r>
            <a:endParaRPr lang="en-US" sz="788" dirty="0"/>
          </a:p>
        </p:txBody>
      </p:sp>
      <p:sp>
        <p:nvSpPr>
          <p:cNvPr id="196" name="Shape 164"/>
          <p:cNvSpPr/>
          <p:nvPr/>
        </p:nvSpPr>
        <p:spPr>
          <a:xfrm>
            <a:off x="609600" y="9027914"/>
            <a:ext cx="17068800" cy="735211"/>
          </a:xfrm>
          <a:prstGeom prst="roundRect">
            <a:avLst>
              <a:gd name="adj" fmla="val 20729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90500" dist="76200" dir="5400000">
              <a:srgbClr val="B45309">
                <a:alpha val="28000"/>
              </a:srgbClr>
            </a:outerShdw>
          </a:effectLst>
        </p:spPr>
      </p:sp>
      <p:sp>
        <p:nvSpPr>
          <p:cNvPr id="197" name="Shape 165"/>
          <p:cNvSpPr/>
          <p:nvPr/>
        </p:nvSpPr>
        <p:spPr>
          <a:xfrm>
            <a:off x="2402979" y="9243120"/>
            <a:ext cx="9525" cy="304800"/>
          </a:xfrm>
          <a:prstGeom prst="rect">
            <a:avLst/>
          </a:prstGeom>
          <a:solidFill>
            <a:srgbClr val="EAEEF6"/>
          </a:solidFill>
          <a:ln/>
        </p:spPr>
      </p:sp>
      <p:sp>
        <p:nvSpPr>
          <p:cNvPr id="198" name="Shape 166"/>
          <p:cNvSpPr/>
          <p:nvPr/>
        </p:nvSpPr>
        <p:spPr>
          <a:xfrm>
            <a:off x="790575" y="924312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B45309"/>
          </a:solidFill>
          <a:ln/>
        </p:spPr>
      </p:sp>
      <p:pic>
        <p:nvPicPr>
          <p:cNvPr id="19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7250" y="9309795"/>
            <a:ext cx="171450" cy="171450"/>
          </a:xfrm>
          <a:prstGeom prst="rect">
            <a:avLst/>
          </a:prstGeom>
        </p:spPr>
      </p:pic>
      <p:sp>
        <p:nvSpPr>
          <p:cNvPr id="200" name="Text 167"/>
          <p:cNvSpPr/>
          <p:nvPr/>
        </p:nvSpPr>
        <p:spPr>
          <a:xfrm>
            <a:off x="1190625" y="9251752"/>
            <a:ext cx="10748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44" kern="0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201" name="Text 168"/>
          <p:cNvSpPr/>
          <p:nvPr/>
        </p:nvSpPr>
        <p:spPr>
          <a:xfrm>
            <a:off x="1190625" y="9415463"/>
            <a:ext cx="11552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spc="38" kern="0" dirty="0">
                <a:solidFill>
                  <a:srgbClr val="6B749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foundational platform</a:t>
            </a:r>
            <a:endParaRPr lang="en-US" sz="750" dirty="0"/>
          </a:p>
        </p:txBody>
      </p:sp>
      <p:sp>
        <p:nvSpPr>
          <p:cNvPr id="202" name="Shape 169"/>
          <p:cNvSpPr/>
          <p:nvPr/>
        </p:nvSpPr>
        <p:spPr>
          <a:xfrm>
            <a:off x="2564904" y="9262170"/>
            <a:ext cx="659160" cy="266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03" name="Text 170"/>
          <p:cNvSpPr/>
          <p:nvPr/>
        </p:nvSpPr>
        <p:spPr>
          <a:xfrm>
            <a:off x="2688729" y="9319320"/>
            <a:ext cx="487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900" dirty="0"/>
          </a:p>
        </p:txBody>
      </p:sp>
      <p:sp>
        <p:nvSpPr>
          <p:cNvPr id="204" name="Shape 171"/>
          <p:cNvSpPr/>
          <p:nvPr/>
        </p:nvSpPr>
        <p:spPr>
          <a:xfrm>
            <a:off x="3300264" y="9262170"/>
            <a:ext cx="796379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05" name="Text 172"/>
          <p:cNvSpPr/>
          <p:nvPr/>
        </p:nvSpPr>
        <p:spPr>
          <a:xfrm>
            <a:off x="3424089" y="9319320"/>
            <a:ext cx="6249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900" dirty="0"/>
          </a:p>
        </p:txBody>
      </p:sp>
      <p:sp>
        <p:nvSpPr>
          <p:cNvPr id="206" name="Shape 173"/>
          <p:cNvSpPr/>
          <p:nvPr/>
        </p:nvSpPr>
        <p:spPr>
          <a:xfrm>
            <a:off x="4172843" y="9262170"/>
            <a:ext cx="72777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07" name="Text 174"/>
          <p:cNvSpPr/>
          <p:nvPr/>
        </p:nvSpPr>
        <p:spPr>
          <a:xfrm>
            <a:off x="4296668" y="9319320"/>
            <a:ext cx="5563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900" dirty="0"/>
          </a:p>
        </p:txBody>
      </p:sp>
      <p:sp>
        <p:nvSpPr>
          <p:cNvPr id="208" name="Shape 175"/>
          <p:cNvSpPr/>
          <p:nvPr/>
        </p:nvSpPr>
        <p:spPr>
          <a:xfrm>
            <a:off x="4976813" y="9262170"/>
            <a:ext cx="1207889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09" name="Text 176"/>
          <p:cNvSpPr/>
          <p:nvPr/>
        </p:nvSpPr>
        <p:spPr>
          <a:xfrm>
            <a:off x="5100638" y="9319320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 Kit</a:t>
            </a:r>
            <a:endParaRPr lang="en-US" sz="900" dirty="0"/>
          </a:p>
        </p:txBody>
      </p:sp>
      <p:sp>
        <p:nvSpPr>
          <p:cNvPr id="210" name="Shape 177"/>
          <p:cNvSpPr/>
          <p:nvPr/>
        </p:nvSpPr>
        <p:spPr>
          <a:xfrm>
            <a:off x="6260902" y="9262170"/>
            <a:ext cx="141357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1" name="Text 178"/>
          <p:cNvSpPr/>
          <p:nvPr/>
        </p:nvSpPr>
        <p:spPr>
          <a:xfrm>
            <a:off x="6384727" y="9319320"/>
            <a:ext cx="124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 Runtime</a:t>
            </a:r>
            <a:endParaRPr lang="en-US" sz="900" dirty="0"/>
          </a:p>
        </p:txBody>
      </p:sp>
      <p:sp>
        <p:nvSpPr>
          <p:cNvPr id="212" name="Shape 179"/>
          <p:cNvSpPr/>
          <p:nvPr/>
        </p:nvSpPr>
        <p:spPr>
          <a:xfrm>
            <a:off x="7750671" y="9262170"/>
            <a:ext cx="134496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3" name="Text 180"/>
          <p:cNvSpPr/>
          <p:nvPr/>
        </p:nvSpPr>
        <p:spPr>
          <a:xfrm>
            <a:off x="7874496" y="9319320"/>
            <a:ext cx="11735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Managed Postgres</a:t>
            </a:r>
            <a:endParaRPr lang="en-US" sz="900" dirty="0"/>
          </a:p>
        </p:txBody>
      </p:sp>
      <p:sp>
        <p:nvSpPr>
          <p:cNvPr id="214" name="Shape 181"/>
          <p:cNvSpPr/>
          <p:nvPr/>
        </p:nvSpPr>
        <p:spPr>
          <a:xfrm>
            <a:off x="9171831" y="9262170"/>
            <a:ext cx="12763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5" name="Text 182"/>
          <p:cNvSpPr/>
          <p:nvPr/>
        </p:nvSpPr>
        <p:spPr>
          <a:xfrm>
            <a:off x="9295656" y="9319320"/>
            <a:ext cx="1104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In-Memory Cache</a:t>
            </a:r>
            <a:endParaRPr lang="en-US" sz="900" dirty="0"/>
          </a:p>
        </p:txBody>
      </p:sp>
      <p:sp>
        <p:nvSpPr>
          <p:cNvPr id="216" name="Shape 183"/>
          <p:cNvSpPr/>
          <p:nvPr/>
        </p:nvSpPr>
        <p:spPr>
          <a:xfrm>
            <a:off x="10524381" y="9262170"/>
            <a:ext cx="1207889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7" name="Text 184"/>
          <p:cNvSpPr/>
          <p:nvPr/>
        </p:nvSpPr>
        <p:spPr>
          <a:xfrm>
            <a:off x="10648206" y="9319320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Storage</a:t>
            </a:r>
            <a:endParaRPr lang="en-US" sz="900" dirty="0"/>
          </a:p>
        </p:txBody>
      </p:sp>
      <p:sp>
        <p:nvSpPr>
          <p:cNvPr id="218" name="Shape 185"/>
          <p:cNvSpPr/>
          <p:nvPr/>
        </p:nvSpPr>
        <p:spPr>
          <a:xfrm>
            <a:off x="11808470" y="9262170"/>
            <a:ext cx="72777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219" name="Text 186"/>
          <p:cNvSpPr/>
          <p:nvPr/>
        </p:nvSpPr>
        <p:spPr>
          <a:xfrm>
            <a:off x="11932295" y="9319320"/>
            <a:ext cx="5563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4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&lt;/&gt; SDK</a:t>
            </a:r>
            <a:endParaRPr lang="en-US" sz="900" dirty="0"/>
          </a:p>
        </p:txBody>
      </p:sp>
      <p:sp>
        <p:nvSpPr>
          <p:cNvPr id="220" name="Shape 187"/>
          <p:cNvSpPr/>
          <p:nvPr/>
        </p:nvSpPr>
        <p:spPr>
          <a:xfrm>
            <a:off x="15575310" y="9151739"/>
            <a:ext cx="1922115" cy="487561"/>
          </a:xfrm>
          <a:prstGeom prst="roundRect">
            <a:avLst>
              <a:gd name="adj" fmla="val 23443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71450" dist="76200" dir="5400000">
              <a:srgbClr val="7C3AED">
                <a:alpha val="50000"/>
              </a:srgbClr>
            </a:outerShdw>
          </a:effectLst>
        </p:spPr>
      </p:sp>
      <p:sp>
        <p:nvSpPr>
          <p:cNvPr id="221" name="Shape 188"/>
          <p:cNvSpPr/>
          <p:nvPr/>
        </p:nvSpPr>
        <p:spPr>
          <a:xfrm>
            <a:off x="15727710" y="928122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2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5775335" y="9328845"/>
            <a:ext cx="133350" cy="133350"/>
          </a:xfrm>
          <a:prstGeom prst="rect">
            <a:avLst/>
          </a:prstGeom>
        </p:spPr>
      </p:pic>
      <p:sp>
        <p:nvSpPr>
          <p:cNvPr id="223" name="Text 189"/>
          <p:cNvSpPr/>
          <p:nvPr/>
        </p:nvSpPr>
        <p:spPr>
          <a:xfrm>
            <a:off x="16090404" y="9237464"/>
            <a:ext cx="12919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224" name="Text 190"/>
          <p:cNvSpPr/>
          <p:nvPr/>
        </p:nvSpPr>
        <p:spPr>
          <a:xfrm>
            <a:off x="16051560" y="9385995"/>
            <a:ext cx="13696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GEN-AI SERVICES</a:t>
            </a:r>
            <a:endParaRPr lang="en-US" sz="900" dirty="0"/>
          </a:p>
        </p:txBody>
      </p:sp>
      <p:sp>
        <p:nvSpPr>
          <p:cNvPr id="225" name="Shape 191"/>
          <p:cNvSpPr/>
          <p:nvPr/>
        </p:nvSpPr>
        <p:spPr>
          <a:xfrm>
            <a:off x="609600" y="9844088"/>
            <a:ext cx="95250" cy="9525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/>
        </p:spPr>
      </p:sp>
      <p:sp>
        <p:nvSpPr>
          <p:cNvPr id="226" name="Text 192"/>
          <p:cNvSpPr/>
          <p:nvPr/>
        </p:nvSpPr>
        <p:spPr>
          <a:xfrm>
            <a:off x="762000" y="9820275"/>
            <a:ext cx="579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</a:t>
            </a:r>
            <a:endParaRPr lang="en-US" sz="825" dirty="0"/>
          </a:p>
        </p:txBody>
      </p:sp>
      <p:sp>
        <p:nvSpPr>
          <p:cNvPr id="227" name="Shape 193"/>
          <p:cNvSpPr/>
          <p:nvPr/>
        </p:nvSpPr>
        <p:spPr>
          <a:xfrm>
            <a:off x="1436489" y="9844088"/>
            <a:ext cx="95250" cy="95250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/>
        </p:spPr>
      </p:sp>
      <p:sp>
        <p:nvSpPr>
          <p:cNvPr id="228" name="Text 194"/>
          <p:cNvSpPr/>
          <p:nvPr/>
        </p:nvSpPr>
        <p:spPr>
          <a:xfrm>
            <a:off x="1588889" y="9820275"/>
            <a:ext cx="4534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825" dirty="0"/>
          </a:p>
        </p:txBody>
      </p:sp>
      <p:sp>
        <p:nvSpPr>
          <p:cNvPr id="229" name="Shape 195"/>
          <p:cNvSpPr/>
          <p:nvPr/>
        </p:nvSpPr>
        <p:spPr>
          <a:xfrm>
            <a:off x="2137618" y="9844088"/>
            <a:ext cx="95250" cy="9525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/>
        </p:spPr>
      </p:sp>
      <p:sp>
        <p:nvSpPr>
          <p:cNvPr id="230" name="Text 196"/>
          <p:cNvSpPr/>
          <p:nvPr/>
        </p:nvSpPr>
        <p:spPr>
          <a:xfrm>
            <a:off x="2290018" y="9820275"/>
            <a:ext cx="579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</a:t>
            </a:r>
            <a:endParaRPr lang="en-US" sz="825" dirty="0"/>
          </a:p>
        </p:txBody>
      </p:sp>
      <p:sp>
        <p:nvSpPr>
          <p:cNvPr id="231" name="Shape 197"/>
          <p:cNvSpPr/>
          <p:nvPr/>
        </p:nvSpPr>
        <p:spPr>
          <a:xfrm>
            <a:off x="2964507" y="9844088"/>
            <a:ext cx="95250" cy="95250"/>
          </a:xfrm>
          <a:prstGeom prst="roundRect">
            <a:avLst>
              <a:gd name="adj" fmla="val 30000"/>
            </a:avLst>
          </a:prstGeom>
          <a:solidFill>
            <a:srgbClr val="DB2777"/>
          </a:solidFill>
          <a:ln/>
        </p:spPr>
      </p:sp>
      <p:sp>
        <p:nvSpPr>
          <p:cNvPr id="232" name="Text 198"/>
          <p:cNvSpPr/>
          <p:nvPr/>
        </p:nvSpPr>
        <p:spPr>
          <a:xfrm>
            <a:off x="3116907" y="9820275"/>
            <a:ext cx="579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Outcomes</a:t>
            </a:r>
            <a:endParaRPr lang="en-US" sz="825" dirty="0"/>
          </a:p>
        </p:txBody>
      </p:sp>
      <p:sp>
        <p:nvSpPr>
          <p:cNvPr id="233" name="Shape 199"/>
          <p:cNvSpPr/>
          <p:nvPr/>
        </p:nvSpPr>
        <p:spPr>
          <a:xfrm>
            <a:off x="3791396" y="9844088"/>
            <a:ext cx="95250" cy="9525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/>
        </p:spPr>
      </p:sp>
      <p:sp>
        <p:nvSpPr>
          <p:cNvPr id="234" name="Text 200"/>
          <p:cNvSpPr/>
          <p:nvPr/>
        </p:nvSpPr>
        <p:spPr>
          <a:xfrm>
            <a:off x="3943796" y="9820275"/>
            <a:ext cx="4534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</a:t>
            </a:r>
            <a:endParaRPr lang="en-US" sz="825" dirty="0"/>
          </a:p>
        </p:txBody>
      </p:sp>
      <p:sp>
        <p:nvSpPr>
          <p:cNvPr id="235" name="Shape 201"/>
          <p:cNvSpPr/>
          <p:nvPr/>
        </p:nvSpPr>
        <p:spPr>
          <a:xfrm>
            <a:off x="4492526" y="9844088"/>
            <a:ext cx="95250" cy="9525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/>
        </p:spPr>
      </p:sp>
      <p:sp>
        <p:nvSpPr>
          <p:cNvPr id="236" name="Text 202"/>
          <p:cNvSpPr/>
          <p:nvPr/>
        </p:nvSpPr>
        <p:spPr>
          <a:xfrm>
            <a:off x="4644926" y="9820275"/>
            <a:ext cx="390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</a:t>
            </a:r>
            <a:endParaRPr lang="en-US" sz="825" dirty="0"/>
          </a:p>
        </p:txBody>
      </p:sp>
      <p:sp>
        <p:nvSpPr>
          <p:cNvPr id="237" name="Shape 203"/>
          <p:cNvSpPr/>
          <p:nvPr/>
        </p:nvSpPr>
        <p:spPr>
          <a:xfrm>
            <a:off x="5130701" y="9844088"/>
            <a:ext cx="95250" cy="95250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/>
        </p:spPr>
      </p:sp>
      <p:sp>
        <p:nvSpPr>
          <p:cNvPr id="238" name="Text 204"/>
          <p:cNvSpPr/>
          <p:nvPr/>
        </p:nvSpPr>
        <p:spPr>
          <a:xfrm>
            <a:off x="5283101" y="9820275"/>
            <a:ext cx="704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 Stack</a:t>
            </a:r>
            <a:endParaRPr lang="en-US" sz="825" dirty="0"/>
          </a:p>
        </p:txBody>
      </p:sp>
      <p:sp>
        <p:nvSpPr>
          <p:cNvPr id="239" name="Shape 205"/>
          <p:cNvSpPr/>
          <p:nvPr/>
        </p:nvSpPr>
        <p:spPr>
          <a:xfrm>
            <a:off x="6083201" y="9844088"/>
            <a:ext cx="95250" cy="9525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/>
        </p:spPr>
      </p:sp>
      <p:sp>
        <p:nvSpPr>
          <p:cNvPr id="240" name="Text 206"/>
          <p:cNvSpPr/>
          <p:nvPr/>
        </p:nvSpPr>
        <p:spPr>
          <a:xfrm>
            <a:off x="6235601" y="9820275"/>
            <a:ext cx="704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Governance</a:t>
            </a:r>
            <a:endParaRPr lang="en-US" sz="825" dirty="0"/>
          </a:p>
        </p:txBody>
      </p:sp>
      <p:sp>
        <p:nvSpPr>
          <p:cNvPr id="241" name="Text 207"/>
          <p:cNvSpPr/>
          <p:nvPr/>
        </p:nvSpPr>
        <p:spPr>
          <a:xfrm>
            <a:off x="15163800" y="9839325"/>
            <a:ext cx="25908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· executive-view · v0.4 · may 2026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2026-05-05T15:11:12Z</dcterms:created>
  <dcterms:modified xsi:type="dcterms:W3CDTF">2026-05-05T15:11:12Z</dcterms:modified>
</cp:coreProperties>
</file>