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09600"/>
            <a:ext cx="609600" cy="9674"/>
          </a:xfrm>
          <a:prstGeom prst="rect">
            <a:avLst/>
          </a:prstGeom>
          <a:solidFill>
            <a:srgbClr val="C9531F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828824"/>
            <a:ext cx="11772900" cy="59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200" b="1" spc="-84" kern="0" dirty="0">
                <a:solidFill>
                  <a:srgbClr val="1A161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EP AIOps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85800" y="1522214"/>
            <a:ext cx="11772900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44392E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 next-generation, AI-augmented operational intelligence platform — designed to help SRE teams detect, respond to, prevent, and learn from production issues.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5194905" y="905024"/>
            <a:ext cx="248349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17" kern="0" dirty="0">
                <a:solidFill>
                  <a:srgbClr val="6E5F4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INTERNAL USE — CONFIDENTIAL</a:t>
            </a:r>
            <a:endParaRPr lang="en-US" sz="975" dirty="0"/>
          </a:p>
        </p:txBody>
      </p:sp>
      <p:sp>
        <p:nvSpPr>
          <p:cNvPr id="6" name="Shape 4"/>
          <p:cNvSpPr/>
          <p:nvPr/>
        </p:nvSpPr>
        <p:spPr>
          <a:xfrm>
            <a:off x="685800" y="2609850"/>
            <a:ext cx="2286000" cy="611505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ECEC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04875" y="2867025"/>
            <a:ext cx="57150" cy="57150"/>
          </a:xfrm>
          <a:prstGeom prst="ellipse">
            <a:avLst/>
          </a:prstGeom>
          <a:solidFill>
            <a:srgbClr val="C9531F"/>
          </a:solidFill>
          <a:ln/>
        </p:spPr>
      </p:sp>
      <p:sp>
        <p:nvSpPr>
          <p:cNvPr id="8" name="Text 6"/>
          <p:cNvSpPr/>
          <p:nvPr/>
        </p:nvSpPr>
        <p:spPr>
          <a:xfrm>
            <a:off x="1057275" y="2828925"/>
            <a:ext cx="8575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44" kern="0" dirty="0">
                <a:solidFill>
                  <a:srgbClr val="6E5F4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CHANNELS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904875" y="3171825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075" y="3248025"/>
            <a:ext cx="133350" cy="13335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5875" y="3171825"/>
            <a:ext cx="1543050" cy="211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1A161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API · A2A · MCP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285875" y="3364111"/>
            <a:ext cx="1543050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E5F4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Programmatic access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904875" y="3600301"/>
            <a:ext cx="1847850" cy="9525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14" name="Shape 11"/>
          <p:cNvSpPr/>
          <p:nvPr/>
        </p:nvSpPr>
        <p:spPr>
          <a:xfrm>
            <a:off x="904875" y="3686026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075" y="3762226"/>
            <a:ext cx="133350" cy="13335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285875" y="3686026"/>
            <a:ext cx="1543050" cy="211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1A161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IDE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1285875" y="3878312"/>
            <a:ext cx="1543050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E5F4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Developer tooling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904875" y="4114502"/>
            <a:ext cx="1847850" cy="9525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19" name="Shape 15"/>
          <p:cNvSpPr/>
          <p:nvPr/>
        </p:nvSpPr>
        <p:spPr>
          <a:xfrm>
            <a:off x="904875" y="4200227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075" y="4276427"/>
            <a:ext cx="133350" cy="13335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285875" y="4200227"/>
            <a:ext cx="1543050" cy="211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1A161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LLM Suite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1285875" y="4392513"/>
            <a:ext cx="1543050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E5F4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Chat assistants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904875" y="4628704"/>
            <a:ext cx="1847850" cy="9525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24" name="Shape 19"/>
          <p:cNvSpPr/>
          <p:nvPr/>
        </p:nvSpPr>
        <p:spPr>
          <a:xfrm>
            <a:off x="904875" y="4714429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075" y="4790629"/>
            <a:ext cx="133350" cy="13335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285875" y="4714429"/>
            <a:ext cx="1543050" cy="211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1A161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AIOps UI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1285875" y="4906714"/>
            <a:ext cx="1543050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E5F4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Web console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904875" y="5390555"/>
            <a:ext cx="57150" cy="57150"/>
          </a:xfrm>
          <a:prstGeom prst="ellipse">
            <a:avLst/>
          </a:prstGeom>
          <a:solidFill>
            <a:srgbClr val="C9531F"/>
          </a:solidFill>
          <a:ln/>
        </p:spPr>
      </p:sp>
      <p:sp>
        <p:nvSpPr>
          <p:cNvPr id="29" name="Text 23"/>
          <p:cNvSpPr/>
          <p:nvPr/>
        </p:nvSpPr>
        <p:spPr>
          <a:xfrm>
            <a:off x="1057275" y="5352455"/>
            <a:ext cx="67493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44" kern="0" dirty="0">
                <a:solidFill>
                  <a:srgbClr val="6E5F4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MODELS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904875" y="5695355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075" y="5771555"/>
            <a:ext cx="133350" cy="13335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285875" y="5695355"/>
            <a:ext cx="1543050" cy="211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1A161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Claude</a:t>
            </a:r>
            <a:endParaRPr lang="en-US" sz="1050" dirty="0"/>
          </a:p>
        </p:txBody>
      </p:sp>
      <p:sp>
        <p:nvSpPr>
          <p:cNvPr id="33" name="Text 26"/>
          <p:cNvSpPr/>
          <p:nvPr/>
        </p:nvSpPr>
        <p:spPr>
          <a:xfrm>
            <a:off x="1285875" y="5887641"/>
            <a:ext cx="1543050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E5F4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Reasoning · long context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>
            <a:off x="904875" y="6123831"/>
            <a:ext cx="1847850" cy="9525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35" name="Shape 28"/>
          <p:cNvSpPr/>
          <p:nvPr/>
        </p:nvSpPr>
        <p:spPr>
          <a:xfrm>
            <a:off x="904875" y="6209556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1075" y="6285756"/>
            <a:ext cx="133350" cy="13335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285875" y="6209556"/>
            <a:ext cx="1543050" cy="211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1A161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OpenAI</a:t>
            </a:r>
            <a:endParaRPr lang="en-US" sz="1050" dirty="0"/>
          </a:p>
        </p:txBody>
      </p:sp>
      <p:sp>
        <p:nvSpPr>
          <p:cNvPr id="38" name="Text 30"/>
          <p:cNvSpPr/>
          <p:nvPr/>
        </p:nvSpPr>
        <p:spPr>
          <a:xfrm>
            <a:off x="1285875" y="6401842"/>
            <a:ext cx="1543050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E5F4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General purpose</a:t>
            </a:r>
            <a:endParaRPr lang="en-US" sz="900" dirty="0"/>
          </a:p>
        </p:txBody>
      </p:sp>
      <p:sp>
        <p:nvSpPr>
          <p:cNvPr id="39" name="Shape 31"/>
          <p:cNvSpPr/>
          <p:nvPr/>
        </p:nvSpPr>
        <p:spPr>
          <a:xfrm>
            <a:off x="3162300" y="2609850"/>
            <a:ext cx="3733800" cy="23812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</p:sp>
      <p:sp>
        <p:nvSpPr>
          <p:cNvPr id="40" name="Shape 32"/>
          <p:cNvSpPr/>
          <p:nvPr/>
        </p:nvSpPr>
        <p:spPr>
          <a:xfrm>
            <a:off x="3162300" y="4981575"/>
            <a:ext cx="3733800" cy="9525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41" name="Shape 33"/>
          <p:cNvSpPr/>
          <p:nvPr/>
        </p:nvSpPr>
        <p:spPr>
          <a:xfrm>
            <a:off x="3162300" y="2609850"/>
            <a:ext cx="3733800" cy="28575"/>
          </a:xfrm>
          <a:prstGeom prst="rect">
            <a:avLst/>
          </a:prstGeom>
          <a:solidFill>
            <a:srgbClr val="C9531F"/>
          </a:solidFill>
          <a:ln/>
        </p:spPr>
      </p:sp>
      <p:sp>
        <p:nvSpPr>
          <p:cNvPr id="42" name="Shape 34"/>
          <p:cNvSpPr/>
          <p:nvPr/>
        </p:nvSpPr>
        <p:spPr>
          <a:xfrm>
            <a:off x="3162300" y="2609850"/>
            <a:ext cx="9525" cy="2381250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43" name="Shape 35"/>
          <p:cNvSpPr/>
          <p:nvPr/>
        </p:nvSpPr>
        <p:spPr>
          <a:xfrm>
            <a:off x="6886575" y="2609850"/>
            <a:ext cx="9525" cy="2381250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44" name="Shape 36"/>
          <p:cNvSpPr/>
          <p:nvPr/>
        </p:nvSpPr>
        <p:spPr>
          <a:xfrm>
            <a:off x="3381375" y="2884140"/>
            <a:ext cx="323850" cy="323850"/>
          </a:xfrm>
          <a:prstGeom prst="roundRect">
            <a:avLst>
              <a:gd name="adj" fmla="val 17647"/>
            </a:avLst>
          </a:prstGeom>
          <a:solidFill>
            <a:srgbClr val="F6E9B8"/>
          </a:solidFill>
          <a:ln w="9525">
            <a:solidFill>
              <a:srgbClr val="D9BE5C"/>
            </a:solidFill>
            <a:prstDash val="solid"/>
          </a:ln>
        </p:spPr>
      </p:sp>
      <p:pic>
        <p:nvPicPr>
          <p:cNvPr id="4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67100" y="2969865"/>
            <a:ext cx="152400" cy="152400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3819525" y="2847975"/>
            <a:ext cx="2943225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spc="-6" kern="0" dirty="0">
                <a:solidFill>
                  <a:srgbClr val="1A161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ITOM — Incident &amp; Problem Management</a:t>
            </a:r>
            <a:endParaRPr lang="en-US" sz="1200" dirty="0"/>
          </a:p>
        </p:txBody>
      </p:sp>
      <p:sp>
        <p:nvSpPr>
          <p:cNvPr id="47" name="Text 38"/>
          <p:cNvSpPr/>
          <p:nvPr/>
        </p:nvSpPr>
        <p:spPr>
          <a:xfrm>
            <a:off x="3381375" y="3339405"/>
            <a:ext cx="339451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6E5F4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Unified incident lifecycle: triage, ownership, and root-cause workflows across the SRE estate.</a:t>
            </a:r>
            <a:endParaRPr lang="en-US" sz="975" dirty="0"/>
          </a:p>
        </p:txBody>
      </p:sp>
      <p:sp>
        <p:nvSpPr>
          <p:cNvPr id="48" name="Shape 39"/>
          <p:cNvSpPr/>
          <p:nvPr/>
        </p:nvSpPr>
        <p:spPr>
          <a:xfrm>
            <a:off x="7086600" y="2609850"/>
            <a:ext cx="3733800" cy="23812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</p:sp>
      <p:sp>
        <p:nvSpPr>
          <p:cNvPr id="49" name="Shape 40"/>
          <p:cNvSpPr/>
          <p:nvPr/>
        </p:nvSpPr>
        <p:spPr>
          <a:xfrm>
            <a:off x="7086600" y="4981575"/>
            <a:ext cx="3733800" cy="9525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50" name="Shape 41"/>
          <p:cNvSpPr/>
          <p:nvPr/>
        </p:nvSpPr>
        <p:spPr>
          <a:xfrm>
            <a:off x="7086600" y="2609850"/>
            <a:ext cx="3733800" cy="28575"/>
          </a:xfrm>
          <a:prstGeom prst="rect">
            <a:avLst/>
          </a:prstGeom>
          <a:solidFill>
            <a:srgbClr val="C9531F"/>
          </a:solidFill>
          <a:ln/>
        </p:spPr>
      </p:sp>
      <p:sp>
        <p:nvSpPr>
          <p:cNvPr id="51" name="Shape 42"/>
          <p:cNvSpPr/>
          <p:nvPr/>
        </p:nvSpPr>
        <p:spPr>
          <a:xfrm>
            <a:off x="7086600" y="2609850"/>
            <a:ext cx="9525" cy="2381250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52" name="Shape 43"/>
          <p:cNvSpPr/>
          <p:nvPr/>
        </p:nvSpPr>
        <p:spPr>
          <a:xfrm>
            <a:off x="10810875" y="2609850"/>
            <a:ext cx="9525" cy="2381250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53" name="Shape 44"/>
          <p:cNvSpPr/>
          <p:nvPr/>
        </p:nvSpPr>
        <p:spPr>
          <a:xfrm>
            <a:off x="7305675" y="2847975"/>
            <a:ext cx="323850" cy="323850"/>
          </a:xfrm>
          <a:prstGeom prst="roundRect">
            <a:avLst>
              <a:gd name="adj" fmla="val 17647"/>
            </a:avLst>
          </a:prstGeom>
          <a:solidFill>
            <a:srgbClr val="F6E9B8"/>
          </a:solidFill>
          <a:ln w="9525">
            <a:solidFill>
              <a:srgbClr val="D9BE5C"/>
            </a:solidFill>
            <a:prstDash val="solid"/>
          </a:ln>
        </p:spPr>
      </p:sp>
      <p:pic>
        <p:nvPicPr>
          <p:cNvPr id="5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91400" y="2933700"/>
            <a:ext cx="152400" cy="152400"/>
          </a:xfrm>
          <a:prstGeom prst="rect">
            <a:avLst/>
          </a:prstGeom>
        </p:spPr>
      </p:pic>
      <p:sp>
        <p:nvSpPr>
          <p:cNvPr id="55" name="Text 45"/>
          <p:cNvSpPr/>
          <p:nvPr/>
        </p:nvSpPr>
        <p:spPr>
          <a:xfrm>
            <a:off x="7743825" y="2910780"/>
            <a:ext cx="1569095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spc="-6" kern="0" dirty="0">
                <a:solidFill>
                  <a:srgbClr val="1A161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EP — AIOps Insights</a:t>
            </a:r>
            <a:endParaRPr lang="en-US" sz="1200" dirty="0"/>
          </a:p>
        </p:txBody>
      </p:sp>
      <p:sp>
        <p:nvSpPr>
          <p:cNvPr id="56" name="Text 46"/>
          <p:cNvSpPr/>
          <p:nvPr/>
        </p:nvSpPr>
        <p:spPr>
          <a:xfrm>
            <a:off x="7305675" y="3267075"/>
            <a:ext cx="339451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6E5F4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Anomaly detection, signal correlation, and trend analysis for predictive operational intelligence.</a:t>
            </a:r>
            <a:endParaRPr lang="en-US" sz="975" dirty="0"/>
          </a:p>
        </p:txBody>
      </p:sp>
      <p:sp>
        <p:nvSpPr>
          <p:cNvPr id="57" name="Shape 47"/>
          <p:cNvSpPr/>
          <p:nvPr/>
        </p:nvSpPr>
        <p:spPr>
          <a:xfrm>
            <a:off x="11010900" y="2609850"/>
            <a:ext cx="3733800" cy="23812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</p:sp>
      <p:sp>
        <p:nvSpPr>
          <p:cNvPr id="58" name="Shape 48"/>
          <p:cNvSpPr/>
          <p:nvPr/>
        </p:nvSpPr>
        <p:spPr>
          <a:xfrm>
            <a:off x="11010900" y="4981575"/>
            <a:ext cx="3733800" cy="9525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59" name="Shape 49"/>
          <p:cNvSpPr/>
          <p:nvPr/>
        </p:nvSpPr>
        <p:spPr>
          <a:xfrm>
            <a:off x="11010900" y="2609850"/>
            <a:ext cx="3733800" cy="28575"/>
          </a:xfrm>
          <a:prstGeom prst="rect">
            <a:avLst/>
          </a:prstGeom>
          <a:solidFill>
            <a:srgbClr val="C9531F"/>
          </a:solidFill>
          <a:ln/>
        </p:spPr>
      </p:sp>
      <p:sp>
        <p:nvSpPr>
          <p:cNvPr id="60" name="Shape 50"/>
          <p:cNvSpPr/>
          <p:nvPr/>
        </p:nvSpPr>
        <p:spPr>
          <a:xfrm>
            <a:off x="11010900" y="2609850"/>
            <a:ext cx="9525" cy="2381250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61" name="Shape 51"/>
          <p:cNvSpPr/>
          <p:nvPr/>
        </p:nvSpPr>
        <p:spPr>
          <a:xfrm>
            <a:off x="14735175" y="2609850"/>
            <a:ext cx="9525" cy="2381250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62" name="Shape 52"/>
          <p:cNvSpPr/>
          <p:nvPr/>
        </p:nvSpPr>
        <p:spPr>
          <a:xfrm>
            <a:off x="11229975" y="2847975"/>
            <a:ext cx="323850" cy="323850"/>
          </a:xfrm>
          <a:prstGeom prst="roundRect">
            <a:avLst>
              <a:gd name="adj" fmla="val 17647"/>
            </a:avLst>
          </a:prstGeom>
          <a:solidFill>
            <a:srgbClr val="F6E9B8"/>
          </a:solidFill>
          <a:ln w="9525">
            <a:solidFill>
              <a:srgbClr val="D9BE5C"/>
            </a:solidFill>
            <a:prstDash val="solid"/>
          </a:ln>
        </p:spPr>
      </p:sp>
      <p:pic>
        <p:nvPicPr>
          <p:cNvPr id="6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315700" y="2933700"/>
            <a:ext cx="152400" cy="152400"/>
          </a:xfrm>
          <a:prstGeom prst="rect">
            <a:avLst/>
          </a:prstGeom>
        </p:spPr>
      </p:pic>
      <p:sp>
        <p:nvSpPr>
          <p:cNvPr id="64" name="Text 53"/>
          <p:cNvSpPr/>
          <p:nvPr/>
        </p:nvSpPr>
        <p:spPr>
          <a:xfrm>
            <a:off x="11668125" y="2910780"/>
            <a:ext cx="1668959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spc="-6" kern="0" dirty="0">
                <a:solidFill>
                  <a:srgbClr val="1A161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Application Catalogue</a:t>
            </a:r>
            <a:endParaRPr lang="en-US" sz="1200" dirty="0"/>
          </a:p>
        </p:txBody>
      </p:sp>
      <p:sp>
        <p:nvSpPr>
          <p:cNvPr id="65" name="Text 54"/>
          <p:cNvSpPr/>
          <p:nvPr/>
        </p:nvSpPr>
        <p:spPr>
          <a:xfrm>
            <a:off x="11229975" y="3267075"/>
            <a:ext cx="339451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6E5F4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Authoritative inventory of services, owners, and dependencies powering enrichment everywhere.</a:t>
            </a:r>
            <a:endParaRPr lang="en-US" sz="975" dirty="0"/>
          </a:p>
        </p:txBody>
      </p:sp>
      <p:sp>
        <p:nvSpPr>
          <p:cNvPr id="66" name="Shape 55"/>
          <p:cNvSpPr/>
          <p:nvPr/>
        </p:nvSpPr>
        <p:spPr>
          <a:xfrm>
            <a:off x="3162300" y="5181600"/>
            <a:ext cx="3733800" cy="23812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</p:sp>
      <p:sp>
        <p:nvSpPr>
          <p:cNvPr id="67" name="Shape 56"/>
          <p:cNvSpPr/>
          <p:nvPr/>
        </p:nvSpPr>
        <p:spPr>
          <a:xfrm>
            <a:off x="3162300" y="7553325"/>
            <a:ext cx="3733800" cy="9525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68" name="Shape 57"/>
          <p:cNvSpPr/>
          <p:nvPr/>
        </p:nvSpPr>
        <p:spPr>
          <a:xfrm>
            <a:off x="3162300" y="5181600"/>
            <a:ext cx="3733800" cy="28575"/>
          </a:xfrm>
          <a:prstGeom prst="rect">
            <a:avLst/>
          </a:prstGeom>
          <a:solidFill>
            <a:srgbClr val="C9531F"/>
          </a:solidFill>
          <a:ln/>
        </p:spPr>
      </p:sp>
      <p:sp>
        <p:nvSpPr>
          <p:cNvPr id="69" name="Shape 58"/>
          <p:cNvSpPr/>
          <p:nvPr/>
        </p:nvSpPr>
        <p:spPr>
          <a:xfrm>
            <a:off x="3162300" y="5181600"/>
            <a:ext cx="9525" cy="2381250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70" name="Shape 59"/>
          <p:cNvSpPr/>
          <p:nvPr/>
        </p:nvSpPr>
        <p:spPr>
          <a:xfrm>
            <a:off x="6886575" y="5181600"/>
            <a:ext cx="9525" cy="2381250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71" name="Shape 60"/>
          <p:cNvSpPr/>
          <p:nvPr/>
        </p:nvSpPr>
        <p:spPr>
          <a:xfrm>
            <a:off x="3381375" y="5419725"/>
            <a:ext cx="323850" cy="323850"/>
          </a:xfrm>
          <a:prstGeom prst="roundRect">
            <a:avLst>
              <a:gd name="adj" fmla="val 17647"/>
            </a:avLst>
          </a:prstGeom>
          <a:solidFill>
            <a:srgbClr val="F6E9B8"/>
          </a:solidFill>
          <a:ln w="9525">
            <a:solidFill>
              <a:srgbClr val="D9BE5C"/>
            </a:solidFill>
            <a:prstDash val="solid"/>
          </a:ln>
        </p:spPr>
      </p:sp>
      <p:pic>
        <p:nvPicPr>
          <p:cNvPr id="7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67100" y="5505450"/>
            <a:ext cx="152400" cy="152400"/>
          </a:xfrm>
          <a:prstGeom prst="rect">
            <a:avLst/>
          </a:prstGeom>
        </p:spPr>
      </p:pic>
      <p:sp>
        <p:nvSpPr>
          <p:cNvPr id="73" name="Text 61"/>
          <p:cNvSpPr/>
          <p:nvPr/>
        </p:nvSpPr>
        <p:spPr>
          <a:xfrm>
            <a:off x="3819525" y="5482530"/>
            <a:ext cx="1545431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spc="-6" kern="0" dirty="0">
                <a:solidFill>
                  <a:srgbClr val="1A161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Change Governance</a:t>
            </a:r>
            <a:endParaRPr lang="en-US" sz="1200" dirty="0"/>
          </a:p>
        </p:txBody>
      </p:sp>
      <p:sp>
        <p:nvSpPr>
          <p:cNvPr id="74" name="Text 62"/>
          <p:cNvSpPr/>
          <p:nvPr/>
        </p:nvSpPr>
        <p:spPr>
          <a:xfrm>
            <a:off x="3381375" y="5838825"/>
            <a:ext cx="339451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6E5F4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Risk-aware change review with blast-radius, freeze-window, and policy validation built in.</a:t>
            </a:r>
            <a:endParaRPr lang="en-US" sz="975" dirty="0"/>
          </a:p>
        </p:txBody>
      </p:sp>
      <p:sp>
        <p:nvSpPr>
          <p:cNvPr id="75" name="Shape 63"/>
          <p:cNvSpPr/>
          <p:nvPr/>
        </p:nvSpPr>
        <p:spPr>
          <a:xfrm>
            <a:off x="7086600" y="5181600"/>
            <a:ext cx="3733800" cy="23812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</p:sp>
      <p:sp>
        <p:nvSpPr>
          <p:cNvPr id="76" name="Shape 64"/>
          <p:cNvSpPr/>
          <p:nvPr/>
        </p:nvSpPr>
        <p:spPr>
          <a:xfrm>
            <a:off x="7086600" y="7553325"/>
            <a:ext cx="3733800" cy="9525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77" name="Shape 65"/>
          <p:cNvSpPr/>
          <p:nvPr/>
        </p:nvSpPr>
        <p:spPr>
          <a:xfrm>
            <a:off x="7086600" y="5181600"/>
            <a:ext cx="3733800" cy="28575"/>
          </a:xfrm>
          <a:prstGeom prst="rect">
            <a:avLst/>
          </a:prstGeom>
          <a:solidFill>
            <a:srgbClr val="C9531F"/>
          </a:solidFill>
          <a:ln/>
        </p:spPr>
      </p:sp>
      <p:sp>
        <p:nvSpPr>
          <p:cNvPr id="78" name="Shape 66"/>
          <p:cNvSpPr/>
          <p:nvPr/>
        </p:nvSpPr>
        <p:spPr>
          <a:xfrm>
            <a:off x="7086600" y="5181600"/>
            <a:ext cx="9525" cy="2381250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79" name="Shape 67"/>
          <p:cNvSpPr/>
          <p:nvPr/>
        </p:nvSpPr>
        <p:spPr>
          <a:xfrm>
            <a:off x="10810875" y="5181600"/>
            <a:ext cx="9525" cy="2381250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80" name="Shape 68"/>
          <p:cNvSpPr/>
          <p:nvPr/>
        </p:nvSpPr>
        <p:spPr>
          <a:xfrm>
            <a:off x="7305675" y="5419725"/>
            <a:ext cx="323850" cy="323850"/>
          </a:xfrm>
          <a:prstGeom prst="roundRect">
            <a:avLst>
              <a:gd name="adj" fmla="val 17647"/>
            </a:avLst>
          </a:prstGeom>
          <a:solidFill>
            <a:srgbClr val="F6E9B8"/>
          </a:solidFill>
          <a:ln w="9525">
            <a:solidFill>
              <a:srgbClr val="D9BE5C"/>
            </a:solidFill>
            <a:prstDash val="solid"/>
          </a:ln>
        </p:spPr>
      </p:sp>
      <p:pic>
        <p:nvPicPr>
          <p:cNvPr id="8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91400" y="5505450"/>
            <a:ext cx="152400" cy="152400"/>
          </a:xfrm>
          <a:prstGeom prst="rect">
            <a:avLst/>
          </a:prstGeom>
        </p:spPr>
      </p:pic>
      <p:sp>
        <p:nvSpPr>
          <p:cNvPr id="82" name="Text 69"/>
          <p:cNvSpPr/>
          <p:nvPr/>
        </p:nvSpPr>
        <p:spPr>
          <a:xfrm>
            <a:off x="7743825" y="5482530"/>
            <a:ext cx="1407468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spc="-6" kern="0" dirty="0">
                <a:solidFill>
                  <a:srgbClr val="1A161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Reliability Insights</a:t>
            </a:r>
            <a:endParaRPr lang="en-US" sz="1200" dirty="0"/>
          </a:p>
        </p:txBody>
      </p:sp>
      <p:sp>
        <p:nvSpPr>
          <p:cNvPr id="83" name="Text 70"/>
          <p:cNvSpPr/>
          <p:nvPr/>
        </p:nvSpPr>
        <p:spPr>
          <a:xfrm>
            <a:off x="7305675" y="5838825"/>
            <a:ext cx="339451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6E5F4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SLO posture, error-budget burn, and reliability scorecards rolled up across product domains.</a:t>
            </a:r>
            <a:endParaRPr lang="en-US" sz="975" dirty="0"/>
          </a:p>
        </p:txBody>
      </p:sp>
      <p:sp>
        <p:nvSpPr>
          <p:cNvPr id="84" name="Shape 71"/>
          <p:cNvSpPr/>
          <p:nvPr/>
        </p:nvSpPr>
        <p:spPr>
          <a:xfrm>
            <a:off x="11010900" y="5181600"/>
            <a:ext cx="3733800" cy="23812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</p:sp>
      <p:sp>
        <p:nvSpPr>
          <p:cNvPr id="85" name="Shape 72"/>
          <p:cNvSpPr/>
          <p:nvPr/>
        </p:nvSpPr>
        <p:spPr>
          <a:xfrm>
            <a:off x="11010900" y="7553325"/>
            <a:ext cx="3733800" cy="9525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86" name="Shape 73"/>
          <p:cNvSpPr/>
          <p:nvPr/>
        </p:nvSpPr>
        <p:spPr>
          <a:xfrm>
            <a:off x="11010900" y="5181600"/>
            <a:ext cx="3733800" cy="28575"/>
          </a:xfrm>
          <a:prstGeom prst="rect">
            <a:avLst/>
          </a:prstGeom>
          <a:solidFill>
            <a:srgbClr val="C9531F"/>
          </a:solidFill>
          <a:ln/>
        </p:spPr>
      </p:sp>
      <p:sp>
        <p:nvSpPr>
          <p:cNvPr id="87" name="Shape 74"/>
          <p:cNvSpPr/>
          <p:nvPr/>
        </p:nvSpPr>
        <p:spPr>
          <a:xfrm>
            <a:off x="11010900" y="5181600"/>
            <a:ext cx="9525" cy="2381250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88" name="Shape 75"/>
          <p:cNvSpPr/>
          <p:nvPr/>
        </p:nvSpPr>
        <p:spPr>
          <a:xfrm>
            <a:off x="14735175" y="5181600"/>
            <a:ext cx="9525" cy="2381250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89" name="Shape 76"/>
          <p:cNvSpPr/>
          <p:nvPr/>
        </p:nvSpPr>
        <p:spPr>
          <a:xfrm>
            <a:off x="11229975" y="5419725"/>
            <a:ext cx="323850" cy="323850"/>
          </a:xfrm>
          <a:prstGeom prst="roundRect">
            <a:avLst>
              <a:gd name="adj" fmla="val 17647"/>
            </a:avLst>
          </a:prstGeom>
          <a:solidFill>
            <a:srgbClr val="F6E9B8"/>
          </a:solidFill>
          <a:ln w="9525">
            <a:solidFill>
              <a:srgbClr val="D9BE5C"/>
            </a:solidFill>
            <a:prstDash val="solid"/>
          </a:ln>
        </p:spPr>
      </p:sp>
      <p:pic>
        <p:nvPicPr>
          <p:cNvPr id="9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315700" y="5505450"/>
            <a:ext cx="152400" cy="152400"/>
          </a:xfrm>
          <a:prstGeom prst="rect">
            <a:avLst/>
          </a:prstGeom>
        </p:spPr>
      </p:pic>
      <p:sp>
        <p:nvSpPr>
          <p:cNvPr id="91" name="Text 77"/>
          <p:cNvSpPr/>
          <p:nvPr/>
        </p:nvSpPr>
        <p:spPr>
          <a:xfrm>
            <a:off x="11668125" y="5482530"/>
            <a:ext cx="831503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spc="-6" kern="0" dirty="0">
                <a:solidFill>
                  <a:srgbClr val="1A161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Batch Ops</a:t>
            </a:r>
            <a:endParaRPr lang="en-US" sz="1200" dirty="0"/>
          </a:p>
        </p:txBody>
      </p:sp>
      <p:sp>
        <p:nvSpPr>
          <p:cNvPr id="92" name="Text 78"/>
          <p:cNvSpPr/>
          <p:nvPr/>
        </p:nvSpPr>
        <p:spPr>
          <a:xfrm>
            <a:off x="11229975" y="5838825"/>
            <a:ext cx="339451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6E5F4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Monitoring and orchestration for scheduled and long-running workloads with failure replay.</a:t>
            </a:r>
            <a:endParaRPr lang="en-US" sz="975" dirty="0"/>
          </a:p>
        </p:txBody>
      </p:sp>
      <p:sp>
        <p:nvSpPr>
          <p:cNvPr id="93" name="Shape 79"/>
          <p:cNvSpPr/>
          <p:nvPr/>
        </p:nvSpPr>
        <p:spPr>
          <a:xfrm>
            <a:off x="3162300" y="7753350"/>
            <a:ext cx="5695950" cy="971550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9525">
            <a:solidFill>
              <a:srgbClr val="ECECEC"/>
            </a:solidFill>
            <a:prstDash val="solid"/>
          </a:ln>
        </p:spPr>
      </p:sp>
      <p:sp>
        <p:nvSpPr>
          <p:cNvPr id="94" name="Shape 80"/>
          <p:cNvSpPr/>
          <p:nvPr/>
        </p:nvSpPr>
        <p:spPr>
          <a:xfrm>
            <a:off x="3381375" y="7953375"/>
            <a:ext cx="323850" cy="323850"/>
          </a:xfrm>
          <a:prstGeom prst="roundRect">
            <a:avLst>
              <a:gd name="adj" fmla="val 17647"/>
            </a:avLst>
          </a:prstGeom>
          <a:solidFill>
            <a:srgbClr val="FBEFE5"/>
          </a:solidFill>
          <a:ln w="9525">
            <a:solidFill>
              <a:srgbClr val="E8B998"/>
            </a:solidFill>
            <a:prstDash val="solid"/>
          </a:ln>
        </p:spPr>
      </p:sp>
      <p:pic>
        <p:nvPicPr>
          <p:cNvPr id="9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467100" y="8039100"/>
            <a:ext cx="152400" cy="152400"/>
          </a:xfrm>
          <a:prstGeom prst="rect">
            <a:avLst/>
          </a:prstGeom>
        </p:spPr>
      </p:pic>
      <p:sp>
        <p:nvSpPr>
          <p:cNvPr id="96" name="Text 81"/>
          <p:cNvSpPr/>
          <p:nvPr/>
        </p:nvSpPr>
        <p:spPr>
          <a:xfrm>
            <a:off x="3819525" y="7953375"/>
            <a:ext cx="496424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17" kern="0" dirty="0">
                <a:solidFill>
                  <a:srgbClr val="1A161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SERVICES</a:t>
            </a:r>
            <a:endParaRPr lang="en-US" sz="975" dirty="0"/>
          </a:p>
        </p:txBody>
      </p:sp>
      <p:sp>
        <p:nvSpPr>
          <p:cNvPr id="97" name="Text 82"/>
          <p:cNvSpPr/>
          <p:nvPr/>
        </p:nvSpPr>
        <p:spPr>
          <a:xfrm>
            <a:off x="3819525" y="8153400"/>
            <a:ext cx="496424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6E5F4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Reusable services that leverage tools and APIs to deliver enriched operational information.</a:t>
            </a:r>
            <a:endParaRPr lang="en-US" sz="975" dirty="0"/>
          </a:p>
        </p:txBody>
      </p:sp>
      <p:sp>
        <p:nvSpPr>
          <p:cNvPr id="98" name="Shape 83"/>
          <p:cNvSpPr/>
          <p:nvPr/>
        </p:nvSpPr>
        <p:spPr>
          <a:xfrm>
            <a:off x="9048750" y="7753350"/>
            <a:ext cx="5695950" cy="971550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9525">
            <a:solidFill>
              <a:srgbClr val="ECECEC"/>
            </a:solidFill>
            <a:prstDash val="solid"/>
          </a:ln>
        </p:spPr>
      </p:sp>
      <p:sp>
        <p:nvSpPr>
          <p:cNvPr id="99" name="Shape 84"/>
          <p:cNvSpPr/>
          <p:nvPr/>
        </p:nvSpPr>
        <p:spPr>
          <a:xfrm>
            <a:off x="9267825" y="7953375"/>
            <a:ext cx="323850" cy="323850"/>
          </a:xfrm>
          <a:prstGeom prst="roundRect">
            <a:avLst>
              <a:gd name="adj" fmla="val 17647"/>
            </a:avLst>
          </a:prstGeom>
          <a:solidFill>
            <a:srgbClr val="FBEFE5"/>
          </a:solidFill>
          <a:ln w="9525">
            <a:solidFill>
              <a:srgbClr val="E8B998"/>
            </a:solidFill>
            <a:prstDash val="solid"/>
          </a:ln>
        </p:spPr>
      </p:sp>
      <p:pic>
        <p:nvPicPr>
          <p:cNvPr id="100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353550" y="8039100"/>
            <a:ext cx="152400" cy="152400"/>
          </a:xfrm>
          <a:prstGeom prst="rect">
            <a:avLst/>
          </a:prstGeom>
        </p:spPr>
      </p:pic>
      <p:sp>
        <p:nvSpPr>
          <p:cNvPr id="101" name="Text 85"/>
          <p:cNvSpPr/>
          <p:nvPr/>
        </p:nvSpPr>
        <p:spPr>
          <a:xfrm>
            <a:off x="9705975" y="7953375"/>
            <a:ext cx="496424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17" kern="0" dirty="0">
                <a:solidFill>
                  <a:srgbClr val="1A161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AI AGENTS</a:t>
            </a:r>
            <a:endParaRPr lang="en-US" sz="975" dirty="0"/>
          </a:p>
        </p:txBody>
      </p:sp>
      <p:sp>
        <p:nvSpPr>
          <p:cNvPr id="102" name="Text 86"/>
          <p:cNvSpPr/>
          <p:nvPr/>
        </p:nvSpPr>
        <p:spPr>
          <a:xfrm>
            <a:off x="9705975" y="8153400"/>
            <a:ext cx="496424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6E5F4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Smart SDK agents connect to tools through API or MCP servers and deliver data toward a specified purpose.</a:t>
            </a:r>
            <a:endParaRPr lang="en-US" sz="975" dirty="0"/>
          </a:p>
        </p:txBody>
      </p:sp>
      <p:sp>
        <p:nvSpPr>
          <p:cNvPr id="103" name="Shape 87"/>
          <p:cNvSpPr/>
          <p:nvPr/>
        </p:nvSpPr>
        <p:spPr>
          <a:xfrm>
            <a:off x="14935200" y="2609850"/>
            <a:ext cx="2667000" cy="611505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ECECEC"/>
            </a:solidFill>
            <a:prstDash val="solid"/>
          </a:ln>
        </p:spPr>
      </p:sp>
      <p:sp>
        <p:nvSpPr>
          <p:cNvPr id="104" name="Shape 88"/>
          <p:cNvSpPr/>
          <p:nvPr/>
        </p:nvSpPr>
        <p:spPr>
          <a:xfrm>
            <a:off x="15154275" y="2867025"/>
            <a:ext cx="57150" cy="57150"/>
          </a:xfrm>
          <a:prstGeom prst="ellipse">
            <a:avLst/>
          </a:prstGeom>
          <a:solidFill>
            <a:srgbClr val="C9531F"/>
          </a:solidFill>
          <a:ln/>
        </p:spPr>
      </p:sp>
      <p:sp>
        <p:nvSpPr>
          <p:cNvPr id="105" name="Text 89"/>
          <p:cNvSpPr/>
          <p:nvPr/>
        </p:nvSpPr>
        <p:spPr>
          <a:xfrm>
            <a:off x="15306675" y="2828925"/>
            <a:ext cx="175393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44" kern="0" dirty="0">
                <a:solidFill>
                  <a:srgbClr val="6E5F4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TOOLS &amp; CONNECTORS</a:t>
            </a:r>
            <a:endParaRPr lang="en-US" sz="900" dirty="0"/>
          </a:p>
        </p:txBody>
      </p:sp>
      <p:sp>
        <p:nvSpPr>
          <p:cNvPr id="106" name="Shape 90"/>
          <p:cNvSpPr/>
          <p:nvPr/>
        </p:nvSpPr>
        <p:spPr>
          <a:xfrm>
            <a:off x="15154275" y="3171825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pic>
        <p:nvPicPr>
          <p:cNvPr id="107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230475" y="3248025"/>
            <a:ext cx="133350" cy="133350"/>
          </a:xfrm>
          <a:prstGeom prst="rect">
            <a:avLst/>
          </a:prstGeom>
        </p:spPr>
      </p:pic>
      <p:sp>
        <p:nvSpPr>
          <p:cNvPr id="108" name="Text 91"/>
          <p:cNvSpPr/>
          <p:nvPr/>
        </p:nvSpPr>
        <p:spPr>
          <a:xfrm>
            <a:off x="15535275" y="3171825"/>
            <a:ext cx="1924050" cy="1989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75" b="1" dirty="0">
                <a:solidFill>
                  <a:srgbClr val="1A161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Database Connect</a:t>
            </a:r>
            <a:endParaRPr lang="en-US" sz="975" dirty="0"/>
          </a:p>
        </p:txBody>
      </p:sp>
      <p:sp>
        <p:nvSpPr>
          <p:cNvPr id="109" name="Text 92"/>
          <p:cNvSpPr/>
          <p:nvPr/>
        </p:nvSpPr>
        <p:spPr>
          <a:xfrm>
            <a:off x="15433675" y="3389858"/>
            <a:ext cx="2025650" cy="3866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E5F4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Snowflake</a:t>
            </a:r>
            <a:endParaRPr lang="en-US" sz="9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E5F4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Databricks</a:t>
            </a:r>
            <a:endParaRPr lang="en-US" sz="900" dirty="0"/>
          </a:p>
        </p:txBody>
      </p:sp>
      <p:sp>
        <p:nvSpPr>
          <p:cNvPr id="110" name="Shape 93"/>
          <p:cNvSpPr/>
          <p:nvPr/>
        </p:nvSpPr>
        <p:spPr>
          <a:xfrm>
            <a:off x="15154275" y="3814614"/>
            <a:ext cx="2228850" cy="9525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111" name="Shape 94"/>
          <p:cNvSpPr/>
          <p:nvPr/>
        </p:nvSpPr>
        <p:spPr>
          <a:xfrm>
            <a:off x="15154275" y="3900339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pic>
        <p:nvPicPr>
          <p:cNvPr id="112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5230475" y="3976539"/>
            <a:ext cx="133350" cy="133350"/>
          </a:xfrm>
          <a:prstGeom prst="rect">
            <a:avLst/>
          </a:prstGeom>
        </p:spPr>
      </p:pic>
      <p:sp>
        <p:nvSpPr>
          <p:cNvPr id="113" name="Text 95"/>
          <p:cNvSpPr/>
          <p:nvPr/>
        </p:nvSpPr>
        <p:spPr>
          <a:xfrm>
            <a:off x="15535275" y="3900339"/>
            <a:ext cx="1924050" cy="1989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75" b="1" dirty="0">
                <a:solidFill>
                  <a:srgbClr val="1A161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Knowledge Base / RAG</a:t>
            </a:r>
            <a:endParaRPr lang="en-US" sz="975" dirty="0"/>
          </a:p>
        </p:txBody>
      </p:sp>
      <p:sp>
        <p:nvSpPr>
          <p:cNvPr id="114" name="Text 96"/>
          <p:cNvSpPr/>
          <p:nvPr/>
        </p:nvSpPr>
        <p:spPr>
          <a:xfrm>
            <a:off x="15433675" y="4118372"/>
            <a:ext cx="2025650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E5F4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LLM Suite</a:t>
            </a:r>
            <a:endParaRPr lang="en-US" sz="900" dirty="0"/>
          </a:p>
        </p:txBody>
      </p:sp>
      <p:sp>
        <p:nvSpPr>
          <p:cNvPr id="115" name="Shape 97"/>
          <p:cNvSpPr/>
          <p:nvPr/>
        </p:nvSpPr>
        <p:spPr>
          <a:xfrm>
            <a:off x="15154275" y="4354562"/>
            <a:ext cx="2228850" cy="9525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116" name="Shape 98"/>
          <p:cNvSpPr/>
          <p:nvPr/>
        </p:nvSpPr>
        <p:spPr>
          <a:xfrm>
            <a:off x="15154275" y="4440287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pic>
        <p:nvPicPr>
          <p:cNvPr id="117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5230475" y="4516487"/>
            <a:ext cx="133350" cy="133350"/>
          </a:xfrm>
          <a:prstGeom prst="rect">
            <a:avLst/>
          </a:prstGeom>
        </p:spPr>
      </p:pic>
      <p:sp>
        <p:nvSpPr>
          <p:cNvPr id="118" name="Text 99"/>
          <p:cNvSpPr/>
          <p:nvPr/>
        </p:nvSpPr>
        <p:spPr>
          <a:xfrm>
            <a:off x="15535275" y="4440287"/>
            <a:ext cx="1924050" cy="1989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75" b="1" dirty="0">
                <a:solidFill>
                  <a:srgbClr val="1A161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Observability</a:t>
            </a:r>
            <a:endParaRPr lang="en-US" sz="975" dirty="0"/>
          </a:p>
        </p:txBody>
      </p:sp>
      <p:sp>
        <p:nvSpPr>
          <p:cNvPr id="119" name="Text 100"/>
          <p:cNvSpPr/>
          <p:nvPr/>
        </p:nvSpPr>
        <p:spPr>
          <a:xfrm>
            <a:off x="15433675" y="4658320"/>
            <a:ext cx="2025650" cy="1140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E5F4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Splunk</a:t>
            </a:r>
            <a:endParaRPr lang="en-US" sz="9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E5F4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Dynatrace</a:t>
            </a:r>
            <a:endParaRPr lang="en-US" sz="9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E5F4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Cortex</a:t>
            </a:r>
            <a:endParaRPr lang="en-US" sz="9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E5F4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Alert Hub · Netcool</a:t>
            </a:r>
            <a:endParaRPr lang="en-US" sz="9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E5F4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Apica</a:t>
            </a:r>
            <a:endParaRPr lang="en-US" sz="9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E5F4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CloudWatch</a:t>
            </a:r>
            <a:endParaRPr lang="en-US" sz="900" dirty="0"/>
          </a:p>
        </p:txBody>
      </p:sp>
      <p:sp>
        <p:nvSpPr>
          <p:cNvPr id="120" name="Shape 101"/>
          <p:cNvSpPr/>
          <p:nvPr/>
        </p:nvSpPr>
        <p:spPr>
          <a:xfrm>
            <a:off x="15154275" y="5837337"/>
            <a:ext cx="2228850" cy="9525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121" name="Shape 102"/>
          <p:cNvSpPr/>
          <p:nvPr/>
        </p:nvSpPr>
        <p:spPr>
          <a:xfrm>
            <a:off x="15154275" y="5923062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pic>
        <p:nvPicPr>
          <p:cNvPr id="122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5230475" y="5999262"/>
            <a:ext cx="133350" cy="133350"/>
          </a:xfrm>
          <a:prstGeom prst="rect">
            <a:avLst/>
          </a:prstGeom>
        </p:spPr>
      </p:pic>
      <p:sp>
        <p:nvSpPr>
          <p:cNvPr id="123" name="Text 103"/>
          <p:cNvSpPr/>
          <p:nvPr/>
        </p:nvSpPr>
        <p:spPr>
          <a:xfrm>
            <a:off x="15535275" y="5923062"/>
            <a:ext cx="1924050" cy="1989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75" b="1" dirty="0">
                <a:solidFill>
                  <a:srgbClr val="1A161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SDLC / JET</a:t>
            </a:r>
            <a:endParaRPr lang="en-US" sz="975" dirty="0"/>
          </a:p>
        </p:txBody>
      </p:sp>
      <p:sp>
        <p:nvSpPr>
          <p:cNvPr id="124" name="Text 104"/>
          <p:cNvSpPr/>
          <p:nvPr/>
        </p:nvSpPr>
        <p:spPr>
          <a:xfrm>
            <a:off x="15433675" y="6141095"/>
            <a:ext cx="2025650" cy="7637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E5F4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JIRA</a:t>
            </a:r>
            <a:endParaRPr lang="en-US" sz="9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E5F4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Bitbucket · GitHub</a:t>
            </a:r>
            <a:endParaRPr lang="en-US" sz="9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E5F4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Pipeline · OCD · Analytics</a:t>
            </a:r>
            <a:endParaRPr lang="en-US" sz="9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E5F4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DORA Metrics</a:t>
            </a:r>
            <a:endParaRPr lang="en-US" sz="900" dirty="0"/>
          </a:p>
        </p:txBody>
      </p:sp>
      <p:sp>
        <p:nvSpPr>
          <p:cNvPr id="125" name="Shape 105"/>
          <p:cNvSpPr/>
          <p:nvPr/>
        </p:nvSpPr>
        <p:spPr>
          <a:xfrm>
            <a:off x="15154275" y="6942981"/>
            <a:ext cx="2228850" cy="9525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126" name="Shape 106"/>
          <p:cNvSpPr/>
          <p:nvPr/>
        </p:nvSpPr>
        <p:spPr>
          <a:xfrm>
            <a:off x="15154275" y="7028706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pic>
        <p:nvPicPr>
          <p:cNvPr id="127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5230475" y="7104906"/>
            <a:ext cx="133350" cy="133350"/>
          </a:xfrm>
          <a:prstGeom prst="rect">
            <a:avLst/>
          </a:prstGeom>
        </p:spPr>
      </p:pic>
      <p:sp>
        <p:nvSpPr>
          <p:cNvPr id="128" name="Text 107"/>
          <p:cNvSpPr/>
          <p:nvPr/>
        </p:nvSpPr>
        <p:spPr>
          <a:xfrm>
            <a:off x="15535275" y="7028706"/>
            <a:ext cx="1924050" cy="1989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75" b="1" dirty="0">
                <a:solidFill>
                  <a:srgbClr val="1A161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Internal Systems</a:t>
            </a:r>
            <a:endParaRPr lang="en-US" sz="975" dirty="0"/>
          </a:p>
        </p:txBody>
      </p:sp>
      <p:sp>
        <p:nvSpPr>
          <p:cNvPr id="129" name="Text 108"/>
          <p:cNvSpPr/>
          <p:nvPr/>
        </p:nvSpPr>
        <p:spPr>
          <a:xfrm>
            <a:off x="15433675" y="7246739"/>
            <a:ext cx="2025650" cy="9523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E5F4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Matrix</a:t>
            </a:r>
            <a:endParaRPr lang="en-US" sz="9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E5F4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ServiceNow</a:t>
            </a:r>
            <a:endParaRPr lang="en-US" sz="9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E5F4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GTAM Insights</a:t>
            </a:r>
            <a:endParaRPr lang="en-US" sz="9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E5F4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IEP</a:t>
            </a:r>
            <a:endParaRPr lang="en-US" sz="9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E5F4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ArchExchange</a:t>
            </a:r>
            <a:endParaRPr lang="en-US" sz="900" dirty="0"/>
          </a:p>
        </p:txBody>
      </p:sp>
      <p:sp>
        <p:nvSpPr>
          <p:cNvPr id="130" name="Shape 109"/>
          <p:cNvSpPr/>
          <p:nvPr/>
        </p:nvSpPr>
        <p:spPr>
          <a:xfrm>
            <a:off x="685800" y="9105900"/>
            <a:ext cx="16916400" cy="647700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9525">
            <a:solidFill>
              <a:srgbClr val="ECECEC"/>
            </a:solidFill>
            <a:prstDash val="solid"/>
          </a:ln>
        </p:spPr>
      </p:sp>
      <p:sp>
        <p:nvSpPr>
          <p:cNvPr id="131" name="Shape 110"/>
          <p:cNvSpPr/>
          <p:nvPr/>
        </p:nvSpPr>
        <p:spPr>
          <a:xfrm>
            <a:off x="2566095" y="9286875"/>
            <a:ext cx="9525" cy="285750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132" name="Shape 111"/>
          <p:cNvSpPr/>
          <p:nvPr/>
        </p:nvSpPr>
        <p:spPr>
          <a:xfrm>
            <a:off x="923925" y="9286875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FBEFE5"/>
          </a:solidFill>
          <a:ln w="9525">
            <a:solidFill>
              <a:srgbClr val="E8B998"/>
            </a:solidFill>
            <a:prstDash val="solid"/>
          </a:ln>
        </p:spPr>
      </p:sp>
      <p:pic>
        <p:nvPicPr>
          <p:cNvPr id="133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90600" y="9353550"/>
            <a:ext cx="152400" cy="152400"/>
          </a:xfrm>
          <a:prstGeom prst="rect">
            <a:avLst/>
          </a:prstGeom>
        </p:spPr>
      </p:pic>
      <p:sp>
        <p:nvSpPr>
          <p:cNvPr id="134" name="Text 112"/>
          <p:cNvSpPr/>
          <p:nvPr/>
        </p:nvSpPr>
        <p:spPr>
          <a:xfrm>
            <a:off x="1323975" y="9294465"/>
            <a:ext cx="1089720" cy="175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spc="144" kern="0" dirty="0">
                <a:solidFill>
                  <a:srgbClr val="1A161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TECH STACK</a:t>
            </a:r>
            <a:endParaRPr lang="en-US" sz="900" dirty="0"/>
          </a:p>
        </p:txBody>
      </p:sp>
      <p:sp>
        <p:nvSpPr>
          <p:cNvPr id="135" name="Text 113"/>
          <p:cNvSpPr/>
          <p:nvPr/>
        </p:nvSpPr>
        <p:spPr>
          <a:xfrm>
            <a:off x="1323975" y="9450586"/>
            <a:ext cx="108972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6E5F4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Foundational platform</a:t>
            </a:r>
            <a:endParaRPr lang="en-US" sz="825" dirty="0"/>
          </a:p>
        </p:txBody>
      </p:sp>
      <p:sp>
        <p:nvSpPr>
          <p:cNvPr id="136" name="Shape 114"/>
          <p:cNvSpPr/>
          <p:nvPr/>
        </p:nvSpPr>
        <p:spPr>
          <a:xfrm>
            <a:off x="2804220" y="9286875"/>
            <a:ext cx="910977" cy="285750"/>
          </a:xfrm>
          <a:prstGeom prst="roundRect">
            <a:avLst>
              <a:gd name="adj" fmla="val 50000"/>
            </a:avLst>
          </a:prstGeom>
          <a:solidFill>
            <a:srgbClr val="F7F4EE"/>
          </a:solidFill>
          <a:ln w="9525">
            <a:solidFill>
              <a:srgbClr val="E6DFD0"/>
            </a:solidFill>
            <a:prstDash val="solid"/>
          </a:ln>
        </p:spPr>
      </p:sp>
      <p:sp>
        <p:nvSpPr>
          <p:cNvPr id="137" name="Text 115"/>
          <p:cNvSpPr/>
          <p:nvPr/>
        </p:nvSpPr>
        <p:spPr>
          <a:xfrm>
            <a:off x="2928045" y="9353550"/>
            <a:ext cx="73952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-9" kern="0" dirty="0">
                <a:solidFill>
                  <a:srgbClr val="4439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SmartSDK</a:t>
            </a:r>
            <a:endParaRPr lang="en-US" sz="900" dirty="0"/>
          </a:p>
        </p:txBody>
      </p:sp>
      <p:sp>
        <p:nvSpPr>
          <p:cNvPr id="138" name="Shape 116"/>
          <p:cNvSpPr/>
          <p:nvPr/>
        </p:nvSpPr>
        <p:spPr>
          <a:xfrm>
            <a:off x="3791396" y="9286875"/>
            <a:ext cx="719733" cy="285750"/>
          </a:xfrm>
          <a:prstGeom prst="roundRect">
            <a:avLst>
              <a:gd name="adj" fmla="val 50000"/>
            </a:avLst>
          </a:prstGeom>
          <a:solidFill>
            <a:srgbClr val="F7F4EE"/>
          </a:solidFill>
          <a:ln w="9525">
            <a:solidFill>
              <a:srgbClr val="E6DFD0"/>
            </a:solidFill>
            <a:prstDash val="solid"/>
          </a:ln>
        </p:spPr>
      </p:sp>
      <p:sp>
        <p:nvSpPr>
          <p:cNvPr id="139" name="Text 117"/>
          <p:cNvSpPr/>
          <p:nvPr/>
        </p:nvSpPr>
        <p:spPr>
          <a:xfrm>
            <a:off x="3915221" y="9353550"/>
            <a:ext cx="54828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-9" kern="0" dirty="0">
                <a:solidFill>
                  <a:srgbClr val="4439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DataAPI</a:t>
            </a:r>
            <a:endParaRPr lang="en-US" sz="900" dirty="0"/>
          </a:p>
        </p:txBody>
      </p:sp>
      <p:sp>
        <p:nvSpPr>
          <p:cNvPr id="140" name="Shape 118"/>
          <p:cNvSpPr/>
          <p:nvPr/>
        </p:nvSpPr>
        <p:spPr>
          <a:xfrm>
            <a:off x="4587329" y="9286875"/>
            <a:ext cx="517475" cy="285750"/>
          </a:xfrm>
          <a:prstGeom prst="roundRect">
            <a:avLst>
              <a:gd name="adj" fmla="val 50000"/>
            </a:avLst>
          </a:prstGeom>
          <a:solidFill>
            <a:srgbClr val="F7F4EE"/>
          </a:solidFill>
          <a:ln w="9525">
            <a:solidFill>
              <a:srgbClr val="E6DFD0"/>
            </a:solidFill>
            <a:prstDash val="solid"/>
          </a:ln>
        </p:spPr>
      </p:sp>
      <p:sp>
        <p:nvSpPr>
          <p:cNvPr id="141" name="Text 119"/>
          <p:cNvSpPr/>
          <p:nvPr/>
        </p:nvSpPr>
        <p:spPr>
          <a:xfrm>
            <a:off x="4711154" y="9353550"/>
            <a:ext cx="34602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-9" kern="0" dirty="0">
                <a:solidFill>
                  <a:srgbClr val="4439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EKHT</a:t>
            </a:r>
            <a:endParaRPr lang="en-US" sz="900" dirty="0"/>
          </a:p>
        </p:txBody>
      </p:sp>
      <p:sp>
        <p:nvSpPr>
          <p:cNvPr id="142" name="Shape 120"/>
          <p:cNvSpPr/>
          <p:nvPr/>
        </p:nvSpPr>
        <p:spPr>
          <a:xfrm>
            <a:off x="5181005" y="9286875"/>
            <a:ext cx="922139" cy="285750"/>
          </a:xfrm>
          <a:prstGeom prst="roundRect">
            <a:avLst>
              <a:gd name="adj" fmla="val 50000"/>
            </a:avLst>
          </a:prstGeom>
          <a:solidFill>
            <a:srgbClr val="F7F4EE"/>
          </a:solidFill>
          <a:ln w="9525">
            <a:solidFill>
              <a:srgbClr val="E6DFD0"/>
            </a:solidFill>
            <a:prstDash val="solid"/>
          </a:ln>
        </p:spPr>
      </p:sp>
      <p:sp>
        <p:nvSpPr>
          <p:cNvPr id="143" name="Text 121"/>
          <p:cNvSpPr/>
          <p:nvPr/>
        </p:nvSpPr>
        <p:spPr>
          <a:xfrm>
            <a:off x="5304830" y="9353550"/>
            <a:ext cx="75068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-9" kern="0" dirty="0">
                <a:solidFill>
                  <a:srgbClr val="4439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&lt;/&gt; Skills</a:t>
            </a:r>
            <a:endParaRPr lang="en-US" sz="900" dirty="0"/>
          </a:p>
        </p:txBody>
      </p:sp>
      <p:sp>
        <p:nvSpPr>
          <p:cNvPr id="144" name="Shape 122"/>
          <p:cNvSpPr/>
          <p:nvPr/>
        </p:nvSpPr>
        <p:spPr>
          <a:xfrm>
            <a:off x="6179344" y="9286875"/>
            <a:ext cx="652314" cy="285750"/>
          </a:xfrm>
          <a:prstGeom prst="roundRect">
            <a:avLst>
              <a:gd name="adj" fmla="val 50000"/>
            </a:avLst>
          </a:prstGeom>
          <a:solidFill>
            <a:srgbClr val="F7F4EE"/>
          </a:solidFill>
          <a:ln w="9525">
            <a:solidFill>
              <a:srgbClr val="E6DFD0"/>
            </a:solidFill>
            <a:prstDash val="solid"/>
          </a:ln>
        </p:spPr>
      </p:sp>
      <p:sp>
        <p:nvSpPr>
          <p:cNvPr id="145" name="Text 123"/>
          <p:cNvSpPr/>
          <p:nvPr/>
        </p:nvSpPr>
        <p:spPr>
          <a:xfrm>
            <a:off x="6303169" y="9353550"/>
            <a:ext cx="48086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-9" kern="0" dirty="0">
                <a:solidFill>
                  <a:srgbClr val="4439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AWS S3</a:t>
            </a:r>
            <a:endParaRPr lang="en-US" sz="900" dirty="0"/>
          </a:p>
        </p:txBody>
      </p:sp>
      <p:sp>
        <p:nvSpPr>
          <p:cNvPr id="146" name="Shape 124"/>
          <p:cNvSpPr/>
          <p:nvPr/>
        </p:nvSpPr>
        <p:spPr>
          <a:xfrm>
            <a:off x="6907857" y="9286875"/>
            <a:ext cx="1259235" cy="285750"/>
          </a:xfrm>
          <a:prstGeom prst="roundRect">
            <a:avLst>
              <a:gd name="adj" fmla="val 50000"/>
            </a:avLst>
          </a:prstGeom>
          <a:solidFill>
            <a:srgbClr val="F7F4EE"/>
          </a:solidFill>
          <a:ln w="9525">
            <a:solidFill>
              <a:srgbClr val="E6DFD0"/>
            </a:solidFill>
            <a:prstDash val="solid"/>
          </a:ln>
        </p:spPr>
      </p:sp>
      <p:sp>
        <p:nvSpPr>
          <p:cNvPr id="147" name="Text 125"/>
          <p:cNvSpPr/>
          <p:nvPr/>
        </p:nvSpPr>
        <p:spPr>
          <a:xfrm>
            <a:off x="7031682" y="9353550"/>
            <a:ext cx="108778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-9" kern="0" dirty="0">
                <a:solidFill>
                  <a:srgbClr val="4439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AWS ECS NextGen</a:t>
            </a:r>
            <a:endParaRPr lang="en-US" sz="900" dirty="0"/>
          </a:p>
        </p:txBody>
      </p:sp>
      <p:sp>
        <p:nvSpPr>
          <p:cNvPr id="148" name="Shape 126"/>
          <p:cNvSpPr/>
          <p:nvPr/>
        </p:nvSpPr>
        <p:spPr>
          <a:xfrm>
            <a:off x="8243292" y="9286875"/>
            <a:ext cx="1394222" cy="285750"/>
          </a:xfrm>
          <a:prstGeom prst="roundRect">
            <a:avLst>
              <a:gd name="adj" fmla="val 50000"/>
            </a:avLst>
          </a:prstGeom>
          <a:solidFill>
            <a:srgbClr val="F7F4EE"/>
          </a:solidFill>
          <a:ln w="9525">
            <a:solidFill>
              <a:srgbClr val="E6DFD0"/>
            </a:solidFill>
            <a:prstDash val="solid"/>
          </a:ln>
        </p:spPr>
      </p:sp>
      <p:sp>
        <p:nvSpPr>
          <p:cNvPr id="149" name="Text 127"/>
          <p:cNvSpPr/>
          <p:nvPr/>
        </p:nvSpPr>
        <p:spPr>
          <a:xfrm>
            <a:off x="8367117" y="9353550"/>
            <a:ext cx="122277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-9" kern="0" dirty="0">
                <a:solidFill>
                  <a:srgbClr val="4439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AWS Elastic Cache</a:t>
            </a:r>
            <a:endParaRPr lang="en-US" sz="900" dirty="0"/>
          </a:p>
        </p:txBody>
      </p:sp>
      <p:sp>
        <p:nvSpPr>
          <p:cNvPr id="150" name="Shape 128"/>
          <p:cNvSpPr/>
          <p:nvPr/>
        </p:nvSpPr>
        <p:spPr>
          <a:xfrm>
            <a:off x="9713714" y="9286875"/>
            <a:ext cx="1529060" cy="285750"/>
          </a:xfrm>
          <a:prstGeom prst="roundRect">
            <a:avLst>
              <a:gd name="adj" fmla="val 50000"/>
            </a:avLst>
          </a:prstGeom>
          <a:solidFill>
            <a:srgbClr val="F7F4EE"/>
          </a:solidFill>
          <a:ln w="9525">
            <a:solidFill>
              <a:srgbClr val="E6DFD0"/>
            </a:solidFill>
            <a:prstDash val="solid"/>
          </a:ln>
        </p:spPr>
      </p:sp>
      <p:sp>
        <p:nvSpPr>
          <p:cNvPr id="151" name="Text 129"/>
          <p:cNvSpPr/>
          <p:nvPr/>
        </p:nvSpPr>
        <p:spPr>
          <a:xfrm>
            <a:off x="9837539" y="9353550"/>
            <a:ext cx="135761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-9" kern="0" dirty="0">
                <a:solidFill>
                  <a:srgbClr val="4439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AWS Aurora Postgres</a:t>
            </a:r>
            <a:endParaRPr lang="en-US" sz="900" dirty="0"/>
          </a:p>
        </p:txBody>
      </p:sp>
      <p:sp>
        <p:nvSpPr>
          <p:cNvPr id="152" name="Shape 130"/>
          <p:cNvSpPr/>
          <p:nvPr/>
        </p:nvSpPr>
        <p:spPr>
          <a:xfrm>
            <a:off x="11318974" y="9286875"/>
            <a:ext cx="854720" cy="285750"/>
          </a:xfrm>
          <a:prstGeom prst="roundRect">
            <a:avLst>
              <a:gd name="adj" fmla="val 50000"/>
            </a:avLst>
          </a:prstGeom>
          <a:solidFill>
            <a:srgbClr val="F7F4EE"/>
          </a:solidFill>
          <a:ln w="9525">
            <a:solidFill>
              <a:srgbClr val="E6DFD0"/>
            </a:solidFill>
            <a:prstDash val="solid"/>
          </a:ln>
        </p:spPr>
      </p:sp>
      <p:sp>
        <p:nvSpPr>
          <p:cNvPr id="153" name="Text 131"/>
          <p:cNvSpPr/>
          <p:nvPr/>
        </p:nvSpPr>
        <p:spPr>
          <a:xfrm>
            <a:off x="11442799" y="9353550"/>
            <a:ext cx="6832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-9" kern="0" dirty="0">
                <a:solidFill>
                  <a:srgbClr val="4439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Dynatrace</a:t>
            </a:r>
            <a:endParaRPr lang="en-US" sz="900" dirty="0"/>
          </a:p>
        </p:txBody>
      </p:sp>
      <p:sp>
        <p:nvSpPr>
          <p:cNvPr id="154" name="Shape 132"/>
          <p:cNvSpPr/>
          <p:nvPr/>
        </p:nvSpPr>
        <p:spPr>
          <a:xfrm>
            <a:off x="12249894" y="9286875"/>
            <a:ext cx="1720304" cy="285750"/>
          </a:xfrm>
          <a:prstGeom prst="roundRect">
            <a:avLst>
              <a:gd name="adj" fmla="val 50000"/>
            </a:avLst>
          </a:prstGeom>
          <a:solidFill>
            <a:srgbClr val="F7F4EE"/>
          </a:solidFill>
          <a:ln w="9525">
            <a:solidFill>
              <a:srgbClr val="E6DFD0"/>
            </a:solidFill>
            <a:prstDash val="solid"/>
          </a:ln>
        </p:spPr>
      </p:sp>
      <p:sp>
        <p:nvSpPr>
          <p:cNvPr id="155" name="Text 133"/>
          <p:cNvSpPr/>
          <p:nvPr/>
        </p:nvSpPr>
        <p:spPr>
          <a:xfrm>
            <a:off x="12373719" y="9353550"/>
            <a:ext cx="154885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-9" kern="0" dirty="0">
                <a:solidFill>
                  <a:srgbClr val="4439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Fusion AI Governance</a:t>
            </a:r>
            <a:endParaRPr lang="en-US" sz="900" dirty="0"/>
          </a:p>
        </p:txBody>
      </p:sp>
      <p:sp>
        <p:nvSpPr>
          <p:cNvPr id="156" name="Shape 134"/>
          <p:cNvSpPr/>
          <p:nvPr/>
        </p:nvSpPr>
        <p:spPr>
          <a:xfrm>
            <a:off x="16674257" y="9363075"/>
            <a:ext cx="9525" cy="133350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157" name="Text 135"/>
          <p:cNvSpPr/>
          <p:nvPr/>
        </p:nvSpPr>
        <p:spPr>
          <a:xfrm>
            <a:off x="16836182" y="9363075"/>
            <a:ext cx="604093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26" kern="0" dirty="0">
                <a:solidFill>
                  <a:srgbClr val="C9531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FUSION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2026-05-05T22:20:32Z</dcterms:created>
  <dcterms:modified xsi:type="dcterms:W3CDTF">2026-05-05T22:20:32Z</dcterms:modified>
</cp:coreProperties>
</file>