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09600"/>
            <a:ext cx="609600" cy="28575"/>
          </a:xfrm>
          <a:prstGeom prst="rect">
            <a:avLst/>
          </a:prstGeom>
          <a:solidFill>
            <a:srgbClr val="C9531F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847725"/>
            <a:ext cx="11772900" cy="5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200" b="1" spc="-84" kern="0" dirty="0">
                <a:solidFill>
                  <a:srgbClr val="1A161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EP AIOps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85800" y="1541115"/>
            <a:ext cx="11772900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44392E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 next-generation, AI-augmented operational intelligence platform — designed to help SRE teams detect, respond to, prevent, and learn from production issues.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5194905" y="923925"/>
            <a:ext cx="248349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17" kern="0" dirty="0">
                <a:solidFill>
                  <a:srgbClr val="6E5F4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INTERNAL USE — CONFIDENTIAL</a:t>
            </a:r>
            <a:endParaRPr lang="en-US" sz="975" dirty="0"/>
          </a:p>
        </p:txBody>
      </p:sp>
      <p:sp>
        <p:nvSpPr>
          <p:cNvPr id="6" name="Shape 4"/>
          <p:cNvSpPr/>
          <p:nvPr/>
        </p:nvSpPr>
        <p:spPr>
          <a:xfrm>
            <a:off x="685800" y="2628751"/>
            <a:ext cx="2286000" cy="6096149"/>
          </a:xfrm>
          <a:prstGeom prst="roundRect">
            <a:avLst>
              <a:gd name="adj" fmla="val 4167"/>
            </a:avLst>
          </a:prstGeom>
          <a:solidFill>
            <a:srgbClr val="FBF7EE"/>
          </a:solidFill>
          <a:ln w="9525">
            <a:solidFill>
              <a:srgbClr val="E3DCC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04875" y="2885926"/>
            <a:ext cx="57150" cy="57150"/>
          </a:xfrm>
          <a:prstGeom prst="ellipse">
            <a:avLst/>
          </a:prstGeom>
          <a:solidFill>
            <a:srgbClr val="C9531F"/>
          </a:solidFill>
          <a:ln/>
        </p:spPr>
      </p:sp>
      <p:sp>
        <p:nvSpPr>
          <p:cNvPr id="8" name="Text 6"/>
          <p:cNvSpPr/>
          <p:nvPr/>
        </p:nvSpPr>
        <p:spPr>
          <a:xfrm>
            <a:off x="1057275" y="2847826"/>
            <a:ext cx="8575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44" kern="0" dirty="0">
                <a:solidFill>
                  <a:srgbClr val="6E5F4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CHANNELS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904875" y="3190726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FC4A8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075" y="3266926"/>
            <a:ext cx="133350" cy="13335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5875" y="3190726"/>
            <a:ext cx="1543050" cy="211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A161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API · A2A · MCP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285875" y="3383012"/>
            <a:ext cx="1543050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E5F4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Programmatic access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904875" y="3619202"/>
            <a:ext cx="1847850" cy="9525"/>
          </a:xfrm>
          <a:prstGeom prst="rect">
            <a:avLst/>
          </a:prstGeom>
          <a:solidFill>
            <a:srgbClr val="E3DCC9"/>
          </a:solidFill>
          <a:ln/>
        </p:spPr>
      </p:sp>
      <p:sp>
        <p:nvSpPr>
          <p:cNvPr id="14" name="Shape 11"/>
          <p:cNvSpPr/>
          <p:nvPr/>
        </p:nvSpPr>
        <p:spPr>
          <a:xfrm>
            <a:off x="904875" y="3704927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FC4A8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075" y="3781127"/>
            <a:ext cx="133350" cy="13335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285875" y="3704927"/>
            <a:ext cx="1543050" cy="211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A161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IDE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1285875" y="3897213"/>
            <a:ext cx="1543050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E5F4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Developer tooling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904875" y="4133404"/>
            <a:ext cx="1847850" cy="9525"/>
          </a:xfrm>
          <a:prstGeom prst="rect">
            <a:avLst/>
          </a:prstGeom>
          <a:solidFill>
            <a:srgbClr val="E3DCC9"/>
          </a:solidFill>
          <a:ln/>
        </p:spPr>
      </p:sp>
      <p:sp>
        <p:nvSpPr>
          <p:cNvPr id="19" name="Shape 15"/>
          <p:cNvSpPr/>
          <p:nvPr/>
        </p:nvSpPr>
        <p:spPr>
          <a:xfrm>
            <a:off x="904875" y="4219129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FC4A8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075" y="4295329"/>
            <a:ext cx="133350" cy="13335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285875" y="4219129"/>
            <a:ext cx="1543050" cy="211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A161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LLM Suite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1285875" y="4411414"/>
            <a:ext cx="1543050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E5F4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Chat assistants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904875" y="4647605"/>
            <a:ext cx="1847850" cy="9525"/>
          </a:xfrm>
          <a:prstGeom prst="rect">
            <a:avLst/>
          </a:prstGeom>
          <a:solidFill>
            <a:srgbClr val="E3DCC9"/>
          </a:solidFill>
          <a:ln/>
        </p:spPr>
      </p:sp>
      <p:sp>
        <p:nvSpPr>
          <p:cNvPr id="24" name="Shape 19"/>
          <p:cNvSpPr/>
          <p:nvPr/>
        </p:nvSpPr>
        <p:spPr>
          <a:xfrm>
            <a:off x="904875" y="4733330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FC4A8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075" y="4809530"/>
            <a:ext cx="133350" cy="13335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285875" y="4733330"/>
            <a:ext cx="1543050" cy="211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A161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AIOps UI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1285875" y="4925616"/>
            <a:ext cx="1543050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E5F4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Web console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904875" y="5409456"/>
            <a:ext cx="57150" cy="57150"/>
          </a:xfrm>
          <a:prstGeom prst="ellipse">
            <a:avLst/>
          </a:prstGeom>
          <a:solidFill>
            <a:srgbClr val="C9531F"/>
          </a:solidFill>
          <a:ln/>
        </p:spPr>
      </p:sp>
      <p:sp>
        <p:nvSpPr>
          <p:cNvPr id="29" name="Text 23"/>
          <p:cNvSpPr/>
          <p:nvPr/>
        </p:nvSpPr>
        <p:spPr>
          <a:xfrm>
            <a:off x="1057275" y="5371356"/>
            <a:ext cx="67493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44" kern="0" dirty="0">
                <a:solidFill>
                  <a:srgbClr val="6E5F4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MODELS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904875" y="5714256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FC4A8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075" y="5790456"/>
            <a:ext cx="133350" cy="13335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285875" y="5714256"/>
            <a:ext cx="1543050" cy="211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A161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Claude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1285875" y="5906542"/>
            <a:ext cx="1543050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E5F4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Reasoning · long context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904875" y="6142732"/>
            <a:ext cx="1847850" cy="9525"/>
          </a:xfrm>
          <a:prstGeom prst="rect">
            <a:avLst/>
          </a:prstGeom>
          <a:solidFill>
            <a:srgbClr val="E3DCC9"/>
          </a:solidFill>
          <a:ln/>
        </p:spPr>
      </p:sp>
      <p:sp>
        <p:nvSpPr>
          <p:cNvPr id="35" name="Shape 28"/>
          <p:cNvSpPr/>
          <p:nvPr/>
        </p:nvSpPr>
        <p:spPr>
          <a:xfrm>
            <a:off x="904875" y="6228457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FC4A8"/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1075" y="6304657"/>
            <a:ext cx="133350" cy="13335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285875" y="6228457"/>
            <a:ext cx="1543050" cy="211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A161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OpenAI</a:t>
            </a:r>
            <a:endParaRPr lang="en-US" sz="1050" dirty="0"/>
          </a:p>
        </p:txBody>
      </p:sp>
      <p:sp>
        <p:nvSpPr>
          <p:cNvPr id="38" name="Text 30"/>
          <p:cNvSpPr/>
          <p:nvPr/>
        </p:nvSpPr>
        <p:spPr>
          <a:xfrm>
            <a:off x="1285875" y="6420743"/>
            <a:ext cx="1543050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E5F4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General purpose</a:t>
            </a:r>
            <a:endParaRPr lang="en-US" sz="900" dirty="0"/>
          </a:p>
        </p:txBody>
      </p:sp>
      <p:sp>
        <p:nvSpPr>
          <p:cNvPr id="39" name="Shape 31"/>
          <p:cNvSpPr/>
          <p:nvPr/>
        </p:nvSpPr>
        <p:spPr>
          <a:xfrm>
            <a:off x="3162300" y="2628751"/>
            <a:ext cx="3733800" cy="2371725"/>
          </a:xfrm>
          <a:prstGeom prst="roundRect">
            <a:avLst>
              <a:gd name="adj" fmla="val 4016"/>
            </a:avLst>
          </a:prstGeom>
          <a:solidFill>
            <a:srgbClr val="FBF7EE"/>
          </a:solidFill>
          <a:ln w="9525">
            <a:solidFill>
              <a:srgbClr val="E3DCC9"/>
            </a:solidFill>
            <a:prstDash val="solid"/>
          </a:ln>
        </p:spPr>
      </p:sp>
      <p:sp>
        <p:nvSpPr>
          <p:cNvPr id="40" name="Shape 32"/>
          <p:cNvSpPr/>
          <p:nvPr/>
        </p:nvSpPr>
        <p:spPr>
          <a:xfrm>
            <a:off x="3381375" y="2883991"/>
            <a:ext cx="323850" cy="323850"/>
          </a:xfrm>
          <a:prstGeom prst="roundRect">
            <a:avLst>
              <a:gd name="adj" fmla="val 17647"/>
            </a:avLst>
          </a:prstGeom>
          <a:solidFill>
            <a:srgbClr val="F6E9B8"/>
          </a:solidFill>
          <a:ln w="9525">
            <a:solidFill>
              <a:srgbClr val="D9BE5C"/>
            </a:solidFill>
            <a:prstDash val="solid"/>
          </a:ln>
        </p:spPr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67100" y="2969716"/>
            <a:ext cx="152400" cy="152400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3819525" y="2847826"/>
            <a:ext cx="2943225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spc="-6" kern="0" dirty="0">
                <a:solidFill>
                  <a:srgbClr val="1A161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ITOM — Incident &amp; Problem Management</a:t>
            </a:r>
            <a:endParaRPr lang="en-US" sz="1200" dirty="0"/>
          </a:p>
        </p:txBody>
      </p:sp>
      <p:sp>
        <p:nvSpPr>
          <p:cNvPr id="43" name="Text 34"/>
          <p:cNvSpPr/>
          <p:nvPr/>
        </p:nvSpPr>
        <p:spPr>
          <a:xfrm>
            <a:off x="3381375" y="3339257"/>
            <a:ext cx="339451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6E5F4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Unified incident lifecycle: triage, ownership, and root-cause workflows across the SRE estate.</a:t>
            </a:r>
            <a:endParaRPr lang="en-US" sz="975" dirty="0"/>
          </a:p>
        </p:txBody>
      </p:sp>
      <p:sp>
        <p:nvSpPr>
          <p:cNvPr id="44" name="Shape 35"/>
          <p:cNvSpPr/>
          <p:nvPr/>
        </p:nvSpPr>
        <p:spPr>
          <a:xfrm>
            <a:off x="7086600" y="2628751"/>
            <a:ext cx="3733800" cy="2371725"/>
          </a:xfrm>
          <a:prstGeom prst="roundRect">
            <a:avLst>
              <a:gd name="adj" fmla="val 4016"/>
            </a:avLst>
          </a:prstGeom>
          <a:solidFill>
            <a:srgbClr val="FBF7EE"/>
          </a:solidFill>
          <a:ln w="9525">
            <a:solidFill>
              <a:srgbClr val="E3DCC9"/>
            </a:solidFill>
            <a:prstDash val="solid"/>
          </a:ln>
        </p:spPr>
      </p:sp>
      <p:sp>
        <p:nvSpPr>
          <p:cNvPr id="45" name="Shape 36"/>
          <p:cNvSpPr/>
          <p:nvPr/>
        </p:nvSpPr>
        <p:spPr>
          <a:xfrm>
            <a:off x="7305675" y="2847826"/>
            <a:ext cx="323850" cy="323850"/>
          </a:xfrm>
          <a:prstGeom prst="roundRect">
            <a:avLst>
              <a:gd name="adj" fmla="val 17647"/>
            </a:avLst>
          </a:prstGeom>
          <a:solidFill>
            <a:srgbClr val="F6E9B8"/>
          </a:solidFill>
          <a:ln w="9525">
            <a:solidFill>
              <a:srgbClr val="D9BE5C"/>
            </a:solidFill>
            <a:prstDash val="solid"/>
          </a:ln>
        </p:spPr>
      </p:sp>
      <p:pic>
        <p:nvPicPr>
          <p:cNvPr id="4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91400" y="2933551"/>
            <a:ext cx="152400" cy="152400"/>
          </a:xfrm>
          <a:prstGeom prst="rect">
            <a:avLst/>
          </a:prstGeom>
        </p:spPr>
      </p:pic>
      <p:sp>
        <p:nvSpPr>
          <p:cNvPr id="47" name="Text 37"/>
          <p:cNvSpPr/>
          <p:nvPr/>
        </p:nvSpPr>
        <p:spPr>
          <a:xfrm>
            <a:off x="7743825" y="2910632"/>
            <a:ext cx="1569095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spc="-6" kern="0" dirty="0">
                <a:solidFill>
                  <a:srgbClr val="1A161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EP — AIOps Insights</a:t>
            </a:r>
            <a:endParaRPr lang="en-US" sz="1200" dirty="0"/>
          </a:p>
        </p:txBody>
      </p:sp>
      <p:sp>
        <p:nvSpPr>
          <p:cNvPr id="48" name="Text 38"/>
          <p:cNvSpPr/>
          <p:nvPr/>
        </p:nvSpPr>
        <p:spPr>
          <a:xfrm>
            <a:off x="7305675" y="3266926"/>
            <a:ext cx="339451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6E5F4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Anomaly detection, signal correlation, and trend analysis for predictive operational intelligence.</a:t>
            </a:r>
            <a:endParaRPr lang="en-US" sz="975" dirty="0"/>
          </a:p>
        </p:txBody>
      </p:sp>
      <p:sp>
        <p:nvSpPr>
          <p:cNvPr id="49" name="Shape 39"/>
          <p:cNvSpPr/>
          <p:nvPr/>
        </p:nvSpPr>
        <p:spPr>
          <a:xfrm>
            <a:off x="11010900" y="2628751"/>
            <a:ext cx="3733800" cy="2371725"/>
          </a:xfrm>
          <a:prstGeom prst="roundRect">
            <a:avLst>
              <a:gd name="adj" fmla="val 4016"/>
            </a:avLst>
          </a:prstGeom>
          <a:solidFill>
            <a:srgbClr val="FBF7EE"/>
          </a:solidFill>
          <a:ln w="9525">
            <a:solidFill>
              <a:srgbClr val="E3DCC9"/>
            </a:solidFill>
            <a:prstDash val="solid"/>
          </a:ln>
        </p:spPr>
      </p:sp>
      <p:sp>
        <p:nvSpPr>
          <p:cNvPr id="50" name="Shape 40"/>
          <p:cNvSpPr/>
          <p:nvPr/>
        </p:nvSpPr>
        <p:spPr>
          <a:xfrm>
            <a:off x="11229975" y="2847826"/>
            <a:ext cx="323850" cy="323850"/>
          </a:xfrm>
          <a:prstGeom prst="roundRect">
            <a:avLst>
              <a:gd name="adj" fmla="val 17647"/>
            </a:avLst>
          </a:prstGeom>
          <a:solidFill>
            <a:srgbClr val="F6E9B8"/>
          </a:solidFill>
          <a:ln w="9525">
            <a:solidFill>
              <a:srgbClr val="D9BE5C"/>
            </a:solidFill>
            <a:prstDash val="solid"/>
          </a:ln>
        </p:spPr>
      </p:sp>
      <p:pic>
        <p:nvPicPr>
          <p:cNvPr id="5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315700" y="2933551"/>
            <a:ext cx="152400" cy="152400"/>
          </a:xfrm>
          <a:prstGeom prst="rect">
            <a:avLst/>
          </a:prstGeom>
        </p:spPr>
      </p:pic>
      <p:sp>
        <p:nvSpPr>
          <p:cNvPr id="52" name="Text 41"/>
          <p:cNvSpPr/>
          <p:nvPr/>
        </p:nvSpPr>
        <p:spPr>
          <a:xfrm>
            <a:off x="11668125" y="2910632"/>
            <a:ext cx="1668959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spc="-6" kern="0" dirty="0">
                <a:solidFill>
                  <a:srgbClr val="1A161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Application Catalogue</a:t>
            </a:r>
            <a:endParaRPr lang="en-US" sz="1200" dirty="0"/>
          </a:p>
        </p:txBody>
      </p:sp>
      <p:sp>
        <p:nvSpPr>
          <p:cNvPr id="53" name="Text 42"/>
          <p:cNvSpPr/>
          <p:nvPr/>
        </p:nvSpPr>
        <p:spPr>
          <a:xfrm>
            <a:off x="11229975" y="3266926"/>
            <a:ext cx="339451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6E5F4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Authoritative inventory of services, owners, and dependencies powering enrichment everywhere.</a:t>
            </a:r>
            <a:endParaRPr lang="en-US" sz="975" dirty="0"/>
          </a:p>
        </p:txBody>
      </p:sp>
      <p:sp>
        <p:nvSpPr>
          <p:cNvPr id="54" name="Shape 43"/>
          <p:cNvSpPr/>
          <p:nvPr/>
        </p:nvSpPr>
        <p:spPr>
          <a:xfrm>
            <a:off x="3162300" y="5190976"/>
            <a:ext cx="3733800" cy="2371874"/>
          </a:xfrm>
          <a:prstGeom prst="roundRect">
            <a:avLst>
              <a:gd name="adj" fmla="val 4016"/>
            </a:avLst>
          </a:prstGeom>
          <a:solidFill>
            <a:srgbClr val="FBF7EE"/>
          </a:solidFill>
          <a:ln w="9525">
            <a:solidFill>
              <a:srgbClr val="E3DCC9"/>
            </a:solidFill>
            <a:prstDash val="solid"/>
          </a:ln>
        </p:spPr>
      </p:sp>
      <p:sp>
        <p:nvSpPr>
          <p:cNvPr id="55" name="Shape 44"/>
          <p:cNvSpPr/>
          <p:nvPr/>
        </p:nvSpPr>
        <p:spPr>
          <a:xfrm>
            <a:off x="3381375" y="5410051"/>
            <a:ext cx="323850" cy="323850"/>
          </a:xfrm>
          <a:prstGeom prst="roundRect">
            <a:avLst>
              <a:gd name="adj" fmla="val 17647"/>
            </a:avLst>
          </a:prstGeom>
          <a:solidFill>
            <a:srgbClr val="F6E9B8"/>
          </a:solidFill>
          <a:ln w="9525">
            <a:solidFill>
              <a:srgbClr val="D9BE5C"/>
            </a:solidFill>
            <a:prstDash val="solid"/>
          </a:ln>
        </p:spPr>
      </p:sp>
      <p:pic>
        <p:nvPicPr>
          <p:cNvPr id="5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67100" y="5495776"/>
            <a:ext cx="152400" cy="152400"/>
          </a:xfrm>
          <a:prstGeom prst="rect">
            <a:avLst/>
          </a:prstGeom>
        </p:spPr>
      </p:pic>
      <p:sp>
        <p:nvSpPr>
          <p:cNvPr id="57" name="Text 45"/>
          <p:cNvSpPr/>
          <p:nvPr/>
        </p:nvSpPr>
        <p:spPr>
          <a:xfrm>
            <a:off x="3819525" y="5472857"/>
            <a:ext cx="1545431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spc="-6" kern="0" dirty="0">
                <a:solidFill>
                  <a:srgbClr val="1A161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Change Governance</a:t>
            </a:r>
            <a:endParaRPr lang="en-US" sz="1200" dirty="0"/>
          </a:p>
        </p:txBody>
      </p:sp>
      <p:sp>
        <p:nvSpPr>
          <p:cNvPr id="58" name="Text 46"/>
          <p:cNvSpPr/>
          <p:nvPr/>
        </p:nvSpPr>
        <p:spPr>
          <a:xfrm>
            <a:off x="3381375" y="5829151"/>
            <a:ext cx="339451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6E5F4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Risk-aware change review with blast-radius, freeze-window, and policy validation built in.</a:t>
            </a:r>
            <a:endParaRPr lang="en-US" sz="975" dirty="0"/>
          </a:p>
        </p:txBody>
      </p:sp>
      <p:sp>
        <p:nvSpPr>
          <p:cNvPr id="59" name="Shape 47"/>
          <p:cNvSpPr/>
          <p:nvPr/>
        </p:nvSpPr>
        <p:spPr>
          <a:xfrm>
            <a:off x="7086600" y="5190976"/>
            <a:ext cx="3733800" cy="2371874"/>
          </a:xfrm>
          <a:prstGeom prst="roundRect">
            <a:avLst>
              <a:gd name="adj" fmla="val 4016"/>
            </a:avLst>
          </a:prstGeom>
          <a:solidFill>
            <a:srgbClr val="FBF7EE"/>
          </a:solidFill>
          <a:ln w="9525">
            <a:solidFill>
              <a:srgbClr val="E3DCC9"/>
            </a:solidFill>
            <a:prstDash val="solid"/>
          </a:ln>
        </p:spPr>
      </p:sp>
      <p:sp>
        <p:nvSpPr>
          <p:cNvPr id="60" name="Shape 48"/>
          <p:cNvSpPr/>
          <p:nvPr/>
        </p:nvSpPr>
        <p:spPr>
          <a:xfrm>
            <a:off x="7305675" y="5410051"/>
            <a:ext cx="323850" cy="323850"/>
          </a:xfrm>
          <a:prstGeom prst="roundRect">
            <a:avLst>
              <a:gd name="adj" fmla="val 17647"/>
            </a:avLst>
          </a:prstGeom>
          <a:solidFill>
            <a:srgbClr val="F6E9B8"/>
          </a:solidFill>
          <a:ln w="9525">
            <a:solidFill>
              <a:srgbClr val="D9BE5C"/>
            </a:solidFill>
            <a:prstDash val="solid"/>
          </a:ln>
        </p:spPr>
      </p:sp>
      <p:pic>
        <p:nvPicPr>
          <p:cNvPr id="6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91400" y="5495776"/>
            <a:ext cx="152400" cy="152400"/>
          </a:xfrm>
          <a:prstGeom prst="rect">
            <a:avLst/>
          </a:prstGeom>
        </p:spPr>
      </p:pic>
      <p:sp>
        <p:nvSpPr>
          <p:cNvPr id="62" name="Text 49"/>
          <p:cNvSpPr/>
          <p:nvPr/>
        </p:nvSpPr>
        <p:spPr>
          <a:xfrm>
            <a:off x="7743825" y="5472857"/>
            <a:ext cx="1407468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spc="-6" kern="0" dirty="0">
                <a:solidFill>
                  <a:srgbClr val="1A161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Reliability Insights</a:t>
            </a:r>
            <a:endParaRPr lang="en-US" sz="1200" dirty="0"/>
          </a:p>
        </p:txBody>
      </p:sp>
      <p:sp>
        <p:nvSpPr>
          <p:cNvPr id="63" name="Text 50"/>
          <p:cNvSpPr/>
          <p:nvPr/>
        </p:nvSpPr>
        <p:spPr>
          <a:xfrm>
            <a:off x="7305675" y="5829151"/>
            <a:ext cx="339451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6E5F4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SLO posture, error-budget burn, and reliability scorecards rolled up across product domains.</a:t>
            </a:r>
            <a:endParaRPr lang="en-US" sz="975" dirty="0"/>
          </a:p>
        </p:txBody>
      </p:sp>
      <p:sp>
        <p:nvSpPr>
          <p:cNvPr id="64" name="Shape 51"/>
          <p:cNvSpPr/>
          <p:nvPr/>
        </p:nvSpPr>
        <p:spPr>
          <a:xfrm>
            <a:off x="11010900" y="5190976"/>
            <a:ext cx="3733800" cy="2371874"/>
          </a:xfrm>
          <a:prstGeom prst="roundRect">
            <a:avLst>
              <a:gd name="adj" fmla="val 4016"/>
            </a:avLst>
          </a:prstGeom>
          <a:solidFill>
            <a:srgbClr val="FBF7EE"/>
          </a:solidFill>
          <a:ln w="9525">
            <a:solidFill>
              <a:srgbClr val="E3DCC9"/>
            </a:solidFill>
            <a:prstDash val="solid"/>
          </a:ln>
        </p:spPr>
      </p:sp>
      <p:sp>
        <p:nvSpPr>
          <p:cNvPr id="65" name="Shape 52"/>
          <p:cNvSpPr/>
          <p:nvPr/>
        </p:nvSpPr>
        <p:spPr>
          <a:xfrm>
            <a:off x="11229975" y="5410051"/>
            <a:ext cx="323850" cy="323850"/>
          </a:xfrm>
          <a:prstGeom prst="roundRect">
            <a:avLst>
              <a:gd name="adj" fmla="val 17647"/>
            </a:avLst>
          </a:prstGeom>
          <a:solidFill>
            <a:srgbClr val="F6E9B8"/>
          </a:solidFill>
          <a:ln w="9525">
            <a:solidFill>
              <a:srgbClr val="D9BE5C"/>
            </a:solidFill>
            <a:prstDash val="solid"/>
          </a:ln>
        </p:spPr>
      </p:sp>
      <p:pic>
        <p:nvPicPr>
          <p:cNvPr id="6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315700" y="5495776"/>
            <a:ext cx="152400" cy="152400"/>
          </a:xfrm>
          <a:prstGeom prst="rect">
            <a:avLst/>
          </a:prstGeom>
        </p:spPr>
      </p:pic>
      <p:sp>
        <p:nvSpPr>
          <p:cNvPr id="67" name="Text 53"/>
          <p:cNvSpPr/>
          <p:nvPr/>
        </p:nvSpPr>
        <p:spPr>
          <a:xfrm>
            <a:off x="11668125" y="5472857"/>
            <a:ext cx="831503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spc="-6" kern="0" dirty="0">
                <a:solidFill>
                  <a:srgbClr val="1A161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Batch Ops</a:t>
            </a:r>
            <a:endParaRPr lang="en-US" sz="1200" dirty="0"/>
          </a:p>
        </p:txBody>
      </p:sp>
      <p:sp>
        <p:nvSpPr>
          <p:cNvPr id="68" name="Text 54"/>
          <p:cNvSpPr/>
          <p:nvPr/>
        </p:nvSpPr>
        <p:spPr>
          <a:xfrm>
            <a:off x="11229975" y="5829151"/>
            <a:ext cx="339451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6E5F4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Monitoring and orchestration for scheduled and long-running workloads with failure replay.</a:t>
            </a:r>
            <a:endParaRPr lang="en-US" sz="975" dirty="0"/>
          </a:p>
        </p:txBody>
      </p:sp>
      <p:sp>
        <p:nvSpPr>
          <p:cNvPr id="69" name="Shape 55"/>
          <p:cNvSpPr/>
          <p:nvPr/>
        </p:nvSpPr>
        <p:spPr>
          <a:xfrm>
            <a:off x="3162300" y="7753350"/>
            <a:ext cx="5695950" cy="971550"/>
          </a:xfrm>
          <a:prstGeom prst="roundRect">
            <a:avLst>
              <a:gd name="adj" fmla="val 9804"/>
            </a:avLst>
          </a:prstGeom>
          <a:solidFill>
            <a:srgbClr val="FBF7EE"/>
          </a:solidFill>
          <a:ln w="9525">
            <a:solidFill>
              <a:srgbClr val="E3DCC9"/>
            </a:solidFill>
            <a:prstDash val="solid"/>
          </a:ln>
        </p:spPr>
      </p:sp>
      <p:sp>
        <p:nvSpPr>
          <p:cNvPr id="70" name="Shape 56"/>
          <p:cNvSpPr/>
          <p:nvPr/>
        </p:nvSpPr>
        <p:spPr>
          <a:xfrm>
            <a:off x="3381375" y="7953375"/>
            <a:ext cx="323850" cy="323850"/>
          </a:xfrm>
          <a:prstGeom prst="roundRect">
            <a:avLst>
              <a:gd name="adj" fmla="val 17647"/>
            </a:avLst>
          </a:prstGeom>
          <a:solidFill>
            <a:srgbClr val="F6E2D2"/>
          </a:solidFill>
          <a:ln w="9525">
            <a:solidFill>
              <a:srgbClr val="E8B998"/>
            </a:solidFill>
            <a:prstDash val="solid"/>
          </a:ln>
        </p:spPr>
      </p:sp>
      <p:pic>
        <p:nvPicPr>
          <p:cNvPr id="7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467100" y="8039100"/>
            <a:ext cx="152400" cy="152400"/>
          </a:xfrm>
          <a:prstGeom prst="rect">
            <a:avLst/>
          </a:prstGeom>
        </p:spPr>
      </p:pic>
      <p:sp>
        <p:nvSpPr>
          <p:cNvPr id="72" name="Text 57"/>
          <p:cNvSpPr/>
          <p:nvPr/>
        </p:nvSpPr>
        <p:spPr>
          <a:xfrm>
            <a:off x="3819525" y="7953375"/>
            <a:ext cx="496424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17" kern="0" dirty="0">
                <a:solidFill>
                  <a:srgbClr val="1A161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SERVICES</a:t>
            </a:r>
            <a:endParaRPr lang="en-US" sz="975" dirty="0"/>
          </a:p>
        </p:txBody>
      </p:sp>
      <p:sp>
        <p:nvSpPr>
          <p:cNvPr id="73" name="Text 58"/>
          <p:cNvSpPr/>
          <p:nvPr/>
        </p:nvSpPr>
        <p:spPr>
          <a:xfrm>
            <a:off x="3819525" y="8153400"/>
            <a:ext cx="496424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6E5F4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Reusable services that leverage tools and APIs to deliver enriched operational information.</a:t>
            </a:r>
            <a:endParaRPr lang="en-US" sz="975" dirty="0"/>
          </a:p>
        </p:txBody>
      </p:sp>
      <p:sp>
        <p:nvSpPr>
          <p:cNvPr id="74" name="Shape 59"/>
          <p:cNvSpPr/>
          <p:nvPr/>
        </p:nvSpPr>
        <p:spPr>
          <a:xfrm>
            <a:off x="9048750" y="7753350"/>
            <a:ext cx="5695950" cy="971550"/>
          </a:xfrm>
          <a:prstGeom prst="roundRect">
            <a:avLst>
              <a:gd name="adj" fmla="val 9804"/>
            </a:avLst>
          </a:prstGeom>
          <a:solidFill>
            <a:srgbClr val="FBF7EE"/>
          </a:solidFill>
          <a:ln w="9525">
            <a:solidFill>
              <a:srgbClr val="E3DCC9"/>
            </a:solidFill>
            <a:prstDash val="solid"/>
          </a:ln>
        </p:spPr>
      </p:sp>
      <p:sp>
        <p:nvSpPr>
          <p:cNvPr id="75" name="Shape 60"/>
          <p:cNvSpPr/>
          <p:nvPr/>
        </p:nvSpPr>
        <p:spPr>
          <a:xfrm>
            <a:off x="9267825" y="7953375"/>
            <a:ext cx="323850" cy="323850"/>
          </a:xfrm>
          <a:prstGeom prst="roundRect">
            <a:avLst>
              <a:gd name="adj" fmla="val 17647"/>
            </a:avLst>
          </a:prstGeom>
          <a:solidFill>
            <a:srgbClr val="F6E2D2"/>
          </a:solidFill>
          <a:ln w="9525">
            <a:solidFill>
              <a:srgbClr val="E8B998"/>
            </a:solidFill>
            <a:prstDash val="solid"/>
          </a:ln>
        </p:spPr>
      </p:sp>
      <p:pic>
        <p:nvPicPr>
          <p:cNvPr id="76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353550" y="8039100"/>
            <a:ext cx="152400" cy="152400"/>
          </a:xfrm>
          <a:prstGeom prst="rect">
            <a:avLst/>
          </a:prstGeom>
        </p:spPr>
      </p:pic>
      <p:sp>
        <p:nvSpPr>
          <p:cNvPr id="77" name="Text 61"/>
          <p:cNvSpPr/>
          <p:nvPr/>
        </p:nvSpPr>
        <p:spPr>
          <a:xfrm>
            <a:off x="9705975" y="7953375"/>
            <a:ext cx="496424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17" kern="0" dirty="0">
                <a:solidFill>
                  <a:srgbClr val="1A161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AI AGENTS</a:t>
            </a:r>
            <a:endParaRPr lang="en-US" sz="975" dirty="0"/>
          </a:p>
        </p:txBody>
      </p:sp>
      <p:sp>
        <p:nvSpPr>
          <p:cNvPr id="78" name="Text 62"/>
          <p:cNvSpPr/>
          <p:nvPr/>
        </p:nvSpPr>
        <p:spPr>
          <a:xfrm>
            <a:off x="9705975" y="8153400"/>
            <a:ext cx="496424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6E5F4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Smart SDK agents connect to tools through API or MCP servers and deliver data toward a specified purpose.</a:t>
            </a:r>
            <a:endParaRPr lang="en-US" sz="975" dirty="0"/>
          </a:p>
        </p:txBody>
      </p:sp>
      <p:sp>
        <p:nvSpPr>
          <p:cNvPr id="79" name="Shape 63"/>
          <p:cNvSpPr/>
          <p:nvPr/>
        </p:nvSpPr>
        <p:spPr>
          <a:xfrm>
            <a:off x="14935200" y="2628751"/>
            <a:ext cx="2667000" cy="6096149"/>
          </a:xfrm>
          <a:prstGeom prst="roundRect">
            <a:avLst>
              <a:gd name="adj" fmla="val 3571"/>
            </a:avLst>
          </a:prstGeom>
          <a:solidFill>
            <a:srgbClr val="FBF7EE"/>
          </a:solidFill>
          <a:ln w="9525">
            <a:solidFill>
              <a:srgbClr val="E3DCC9"/>
            </a:solidFill>
            <a:prstDash val="solid"/>
          </a:ln>
        </p:spPr>
      </p:sp>
      <p:sp>
        <p:nvSpPr>
          <p:cNvPr id="80" name="Shape 64"/>
          <p:cNvSpPr/>
          <p:nvPr/>
        </p:nvSpPr>
        <p:spPr>
          <a:xfrm>
            <a:off x="15154275" y="2885926"/>
            <a:ext cx="57150" cy="57150"/>
          </a:xfrm>
          <a:prstGeom prst="ellipse">
            <a:avLst/>
          </a:prstGeom>
          <a:solidFill>
            <a:srgbClr val="C9531F"/>
          </a:solidFill>
          <a:ln/>
        </p:spPr>
      </p:sp>
      <p:sp>
        <p:nvSpPr>
          <p:cNvPr id="81" name="Text 65"/>
          <p:cNvSpPr/>
          <p:nvPr/>
        </p:nvSpPr>
        <p:spPr>
          <a:xfrm>
            <a:off x="15306675" y="2847826"/>
            <a:ext cx="175393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44" kern="0" dirty="0">
                <a:solidFill>
                  <a:srgbClr val="6E5F4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TOOLS &amp; CONNECTORS</a:t>
            </a:r>
            <a:endParaRPr lang="en-US" sz="900" dirty="0"/>
          </a:p>
        </p:txBody>
      </p:sp>
      <p:sp>
        <p:nvSpPr>
          <p:cNvPr id="82" name="Shape 66"/>
          <p:cNvSpPr/>
          <p:nvPr/>
        </p:nvSpPr>
        <p:spPr>
          <a:xfrm>
            <a:off x="15154275" y="3190726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FC4A8"/>
            </a:solidFill>
            <a:prstDash val="solid"/>
          </a:ln>
        </p:spPr>
      </p:sp>
      <p:pic>
        <p:nvPicPr>
          <p:cNvPr id="83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230475" y="3266926"/>
            <a:ext cx="133350" cy="133350"/>
          </a:xfrm>
          <a:prstGeom prst="rect">
            <a:avLst/>
          </a:prstGeom>
        </p:spPr>
      </p:pic>
      <p:sp>
        <p:nvSpPr>
          <p:cNvPr id="84" name="Text 67"/>
          <p:cNvSpPr/>
          <p:nvPr/>
        </p:nvSpPr>
        <p:spPr>
          <a:xfrm>
            <a:off x="15535275" y="3190726"/>
            <a:ext cx="1924050" cy="1989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75" b="1" dirty="0">
                <a:solidFill>
                  <a:srgbClr val="1A161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Database Connect</a:t>
            </a:r>
            <a:endParaRPr lang="en-US" sz="975" dirty="0"/>
          </a:p>
        </p:txBody>
      </p:sp>
      <p:sp>
        <p:nvSpPr>
          <p:cNvPr id="85" name="Text 68"/>
          <p:cNvSpPr/>
          <p:nvPr/>
        </p:nvSpPr>
        <p:spPr>
          <a:xfrm>
            <a:off x="15433675" y="3408759"/>
            <a:ext cx="2025650" cy="3866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E5F4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Snowflake</a:t>
            </a:r>
            <a:endParaRPr lang="en-US" sz="9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E5F4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Databricks</a:t>
            </a:r>
            <a:endParaRPr lang="en-US" sz="900" dirty="0"/>
          </a:p>
        </p:txBody>
      </p:sp>
      <p:sp>
        <p:nvSpPr>
          <p:cNvPr id="86" name="Shape 69"/>
          <p:cNvSpPr/>
          <p:nvPr/>
        </p:nvSpPr>
        <p:spPr>
          <a:xfrm>
            <a:off x="15154275" y="3833515"/>
            <a:ext cx="2228850" cy="9525"/>
          </a:xfrm>
          <a:prstGeom prst="rect">
            <a:avLst/>
          </a:prstGeom>
          <a:solidFill>
            <a:srgbClr val="E3DCC9"/>
          </a:solidFill>
          <a:ln/>
        </p:spPr>
      </p:sp>
      <p:sp>
        <p:nvSpPr>
          <p:cNvPr id="87" name="Shape 70"/>
          <p:cNvSpPr/>
          <p:nvPr/>
        </p:nvSpPr>
        <p:spPr>
          <a:xfrm>
            <a:off x="15154275" y="3919240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FC4A8"/>
            </a:solidFill>
            <a:prstDash val="solid"/>
          </a:ln>
        </p:spPr>
      </p:sp>
      <p:pic>
        <p:nvPicPr>
          <p:cNvPr id="88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230475" y="3995440"/>
            <a:ext cx="133350" cy="133350"/>
          </a:xfrm>
          <a:prstGeom prst="rect">
            <a:avLst/>
          </a:prstGeom>
        </p:spPr>
      </p:pic>
      <p:sp>
        <p:nvSpPr>
          <p:cNvPr id="89" name="Text 71"/>
          <p:cNvSpPr/>
          <p:nvPr/>
        </p:nvSpPr>
        <p:spPr>
          <a:xfrm>
            <a:off x="15535275" y="3919240"/>
            <a:ext cx="1924050" cy="1989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75" b="1" dirty="0">
                <a:solidFill>
                  <a:srgbClr val="1A161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Knowledge Base / RAG</a:t>
            </a:r>
            <a:endParaRPr lang="en-US" sz="975" dirty="0"/>
          </a:p>
        </p:txBody>
      </p:sp>
      <p:sp>
        <p:nvSpPr>
          <p:cNvPr id="90" name="Text 72"/>
          <p:cNvSpPr/>
          <p:nvPr/>
        </p:nvSpPr>
        <p:spPr>
          <a:xfrm>
            <a:off x="15433675" y="4137273"/>
            <a:ext cx="2025650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E5F4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LLM Suite</a:t>
            </a:r>
            <a:endParaRPr lang="en-US" sz="900" dirty="0"/>
          </a:p>
        </p:txBody>
      </p:sp>
      <p:sp>
        <p:nvSpPr>
          <p:cNvPr id="91" name="Shape 73"/>
          <p:cNvSpPr/>
          <p:nvPr/>
        </p:nvSpPr>
        <p:spPr>
          <a:xfrm>
            <a:off x="15154275" y="4373463"/>
            <a:ext cx="2228850" cy="9525"/>
          </a:xfrm>
          <a:prstGeom prst="rect">
            <a:avLst/>
          </a:prstGeom>
          <a:solidFill>
            <a:srgbClr val="E3DCC9"/>
          </a:solidFill>
          <a:ln/>
        </p:spPr>
      </p:sp>
      <p:sp>
        <p:nvSpPr>
          <p:cNvPr id="92" name="Shape 74"/>
          <p:cNvSpPr/>
          <p:nvPr/>
        </p:nvSpPr>
        <p:spPr>
          <a:xfrm>
            <a:off x="15154275" y="4459188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FC4A8"/>
            </a:solidFill>
            <a:prstDash val="solid"/>
          </a:ln>
        </p:spPr>
      </p:sp>
      <p:pic>
        <p:nvPicPr>
          <p:cNvPr id="93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5230475" y="4535388"/>
            <a:ext cx="133350" cy="133350"/>
          </a:xfrm>
          <a:prstGeom prst="rect">
            <a:avLst/>
          </a:prstGeom>
        </p:spPr>
      </p:pic>
      <p:sp>
        <p:nvSpPr>
          <p:cNvPr id="94" name="Text 75"/>
          <p:cNvSpPr/>
          <p:nvPr/>
        </p:nvSpPr>
        <p:spPr>
          <a:xfrm>
            <a:off x="15535275" y="4459188"/>
            <a:ext cx="1924050" cy="1989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75" b="1" dirty="0">
                <a:solidFill>
                  <a:srgbClr val="1A161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Observability</a:t>
            </a:r>
            <a:endParaRPr lang="en-US" sz="975" dirty="0"/>
          </a:p>
        </p:txBody>
      </p:sp>
      <p:sp>
        <p:nvSpPr>
          <p:cNvPr id="95" name="Text 76"/>
          <p:cNvSpPr/>
          <p:nvPr/>
        </p:nvSpPr>
        <p:spPr>
          <a:xfrm>
            <a:off x="15433675" y="4677221"/>
            <a:ext cx="2025650" cy="1140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E5F4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Splunk</a:t>
            </a:r>
            <a:endParaRPr lang="en-US" sz="9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E5F4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Dynatrace</a:t>
            </a:r>
            <a:endParaRPr lang="en-US" sz="9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E5F4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Cortex</a:t>
            </a:r>
            <a:endParaRPr lang="en-US" sz="9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E5F4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Alert Hub · Netcool</a:t>
            </a:r>
            <a:endParaRPr lang="en-US" sz="9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E5F4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Apica</a:t>
            </a:r>
            <a:endParaRPr lang="en-US" sz="9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E5F4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CloudWatch</a:t>
            </a:r>
            <a:endParaRPr lang="en-US" sz="900" dirty="0"/>
          </a:p>
        </p:txBody>
      </p:sp>
      <p:sp>
        <p:nvSpPr>
          <p:cNvPr id="96" name="Shape 77"/>
          <p:cNvSpPr/>
          <p:nvPr/>
        </p:nvSpPr>
        <p:spPr>
          <a:xfrm>
            <a:off x="15154275" y="5856238"/>
            <a:ext cx="2228850" cy="9525"/>
          </a:xfrm>
          <a:prstGeom prst="rect">
            <a:avLst/>
          </a:prstGeom>
          <a:solidFill>
            <a:srgbClr val="E3DCC9"/>
          </a:solidFill>
          <a:ln/>
        </p:spPr>
      </p:sp>
      <p:sp>
        <p:nvSpPr>
          <p:cNvPr id="97" name="Shape 78"/>
          <p:cNvSpPr/>
          <p:nvPr/>
        </p:nvSpPr>
        <p:spPr>
          <a:xfrm>
            <a:off x="15154275" y="5941963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FC4A8"/>
            </a:solidFill>
            <a:prstDash val="solid"/>
          </a:ln>
        </p:spPr>
      </p:sp>
      <p:pic>
        <p:nvPicPr>
          <p:cNvPr id="98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5230475" y="6018163"/>
            <a:ext cx="133350" cy="133350"/>
          </a:xfrm>
          <a:prstGeom prst="rect">
            <a:avLst/>
          </a:prstGeom>
        </p:spPr>
      </p:pic>
      <p:sp>
        <p:nvSpPr>
          <p:cNvPr id="99" name="Text 79"/>
          <p:cNvSpPr/>
          <p:nvPr/>
        </p:nvSpPr>
        <p:spPr>
          <a:xfrm>
            <a:off x="15535275" y="5941963"/>
            <a:ext cx="1924050" cy="1989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75" b="1" dirty="0">
                <a:solidFill>
                  <a:srgbClr val="1A161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SDLC / JET</a:t>
            </a:r>
            <a:endParaRPr lang="en-US" sz="975" dirty="0"/>
          </a:p>
        </p:txBody>
      </p:sp>
      <p:sp>
        <p:nvSpPr>
          <p:cNvPr id="100" name="Text 80"/>
          <p:cNvSpPr/>
          <p:nvPr/>
        </p:nvSpPr>
        <p:spPr>
          <a:xfrm>
            <a:off x="15433675" y="6159996"/>
            <a:ext cx="2025650" cy="7637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E5F4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JIRA</a:t>
            </a:r>
            <a:endParaRPr lang="en-US" sz="9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E5F4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Bitbucket · GitHub</a:t>
            </a:r>
            <a:endParaRPr lang="en-US" sz="9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E5F4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Pipeline · OCD · Analytics</a:t>
            </a:r>
            <a:endParaRPr lang="en-US" sz="9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E5F4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DORA Metrics</a:t>
            </a:r>
            <a:endParaRPr lang="en-US" sz="900" dirty="0"/>
          </a:p>
        </p:txBody>
      </p:sp>
      <p:sp>
        <p:nvSpPr>
          <p:cNvPr id="101" name="Shape 81"/>
          <p:cNvSpPr/>
          <p:nvPr/>
        </p:nvSpPr>
        <p:spPr>
          <a:xfrm>
            <a:off x="15154275" y="6961882"/>
            <a:ext cx="2228850" cy="9525"/>
          </a:xfrm>
          <a:prstGeom prst="rect">
            <a:avLst/>
          </a:prstGeom>
          <a:solidFill>
            <a:srgbClr val="E3DCC9"/>
          </a:solidFill>
          <a:ln/>
        </p:spPr>
      </p:sp>
      <p:sp>
        <p:nvSpPr>
          <p:cNvPr id="102" name="Shape 82"/>
          <p:cNvSpPr/>
          <p:nvPr/>
        </p:nvSpPr>
        <p:spPr>
          <a:xfrm>
            <a:off x="15154275" y="7047607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FC4A8"/>
            </a:solidFill>
            <a:prstDash val="solid"/>
          </a:ln>
        </p:spPr>
      </p:sp>
      <p:pic>
        <p:nvPicPr>
          <p:cNvPr id="103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5230475" y="7123807"/>
            <a:ext cx="133350" cy="133350"/>
          </a:xfrm>
          <a:prstGeom prst="rect">
            <a:avLst/>
          </a:prstGeom>
        </p:spPr>
      </p:pic>
      <p:sp>
        <p:nvSpPr>
          <p:cNvPr id="104" name="Text 83"/>
          <p:cNvSpPr/>
          <p:nvPr/>
        </p:nvSpPr>
        <p:spPr>
          <a:xfrm>
            <a:off x="15535275" y="7047607"/>
            <a:ext cx="1924050" cy="1989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75" b="1" dirty="0">
                <a:solidFill>
                  <a:srgbClr val="1A161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Internal Systems</a:t>
            </a:r>
            <a:endParaRPr lang="en-US" sz="975" dirty="0"/>
          </a:p>
        </p:txBody>
      </p:sp>
      <p:sp>
        <p:nvSpPr>
          <p:cNvPr id="105" name="Text 84"/>
          <p:cNvSpPr/>
          <p:nvPr/>
        </p:nvSpPr>
        <p:spPr>
          <a:xfrm>
            <a:off x="15433675" y="7265640"/>
            <a:ext cx="2025650" cy="9523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E5F4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Matrix</a:t>
            </a:r>
            <a:endParaRPr lang="en-US" sz="9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E5F4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ServiceNow</a:t>
            </a:r>
            <a:endParaRPr lang="en-US" sz="9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E5F4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GTAM Insights</a:t>
            </a:r>
            <a:endParaRPr lang="en-US" sz="9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E5F4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IEP</a:t>
            </a:r>
            <a:endParaRPr lang="en-US" sz="9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E5F4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ArchExchange</a:t>
            </a:r>
            <a:endParaRPr lang="en-US" sz="900" dirty="0"/>
          </a:p>
        </p:txBody>
      </p:sp>
      <p:sp>
        <p:nvSpPr>
          <p:cNvPr id="106" name="Shape 85"/>
          <p:cNvSpPr/>
          <p:nvPr/>
        </p:nvSpPr>
        <p:spPr>
          <a:xfrm>
            <a:off x="685800" y="9105900"/>
            <a:ext cx="16916400" cy="647700"/>
          </a:xfrm>
          <a:prstGeom prst="roundRect">
            <a:avLst>
              <a:gd name="adj" fmla="val 14706"/>
            </a:avLst>
          </a:prstGeom>
          <a:solidFill>
            <a:srgbClr val="FBF7EE"/>
          </a:solidFill>
          <a:ln w="9525">
            <a:solidFill>
              <a:srgbClr val="E3DCC9"/>
            </a:solidFill>
            <a:prstDash val="solid"/>
          </a:ln>
        </p:spPr>
      </p:sp>
      <p:sp>
        <p:nvSpPr>
          <p:cNvPr id="107" name="Shape 86"/>
          <p:cNvSpPr/>
          <p:nvPr/>
        </p:nvSpPr>
        <p:spPr>
          <a:xfrm>
            <a:off x="2566095" y="9286875"/>
            <a:ext cx="9525" cy="285750"/>
          </a:xfrm>
          <a:prstGeom prst="rect">
            <a:avLst/>
          </a:prstGeom>
          <a:solidFill>
            <a:srgbClr val="E3DCC9"/>
          </a:solidFill>
          <a:ln/>
        </p:spPr>
      </p:sp>
      <p:sp>
        <p:nvSpPr>
          <p:cNvPr id="108" name="Shape 87"/>
          <p:cNvSpPr/>
          <p:nvPr/>
        </p:nvSpPr>
        <p:spPr>
          <a:xfrm>
            <a:off x="923925" y="9286875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F6E2D2"/>
          </a:solidFill>
          <a:ln w="9525">
            <a:solidFill>
              <a:srgbClr val="E8B998"/>
            </a:solidFill>
            <a:prstDash val="solid"/>
          </a:ln>
        </p:spPr>
      </p:sp>
      <p:pic>
        <p:nvPicPr>
          <p:cNvPr id="109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90600" y="9353550"/>
            <a:ext cx="152400" cy="152400"/>
          </a:xfrm>
          <a:prstGeom prst="rect">
            <a:avLst/>
          </a:prstGeom>
        </p:spPr>
      </p:pic>
      <p:sp>
        <p:nvSpPr>
          <p:cNvPr id="110" name="Text 88"/>
          <p:cNvSpPr/>
          <p:nvPr/>
        </p:nvSpPr>
        <p:spPr>
          <a:xfrm>
            <a:off x="1323975" y="9294465"/>
            <a:ext cx="1089720" cy="175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spc="144" kern="0" dirty="0">
                <a:solidFill>
                  <a:srgbClr val="1A161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TECH STACK</a:t>
            </a:r>
            <a:endParaRPr lang="en-US" sz="900" dirty="0"/>
          </a:p>
        </p:txBody>
      </p:sp>
      <p:sp>
        <p:nvSpPr>
          <p:cNvPr id="111" name="Text 89"/>
          <p:cNvSpPr/>
          <p:nvPr/>
        </p:nvSpPr>
        <p:spPr>
          <a:xfrm>
            <a:off x="1323975" y="9450586"/>
            <a:ext cx="108972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E5F4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Foundational platform</a:t>
            </a:r>
            <a:endParaRPr lang="en-US" sz="825" dirty="0"/>
          </a:p>
        </p:txBody>
      </p:sp>
      <p:sp>
        <p:nvSpPr>
          <p:cNvPr id="112" name="Shape 90"/>
          <p:cNvSpPr/>
          <p:nvPr/>
        </p:nvSpPr>
        <p:spPr>
          <a:xfrm>
            <a:off x="2804220" y="9286875"/>
            <a:ext cx="910977" cy="285750"/>
          </a:xfrm>
          <a:prstGeom prst="roundRect">
            <a:avLst>
              <a:gd name="adj" fmla="val 50000"/>
            </a:avLst>
          </a:prstGeom>
          <a:solidFill>
            <a:srgbClr val="EFE7D5"/>
          </a:solidFill>
          <a:ln w="9525">
            <a:solidFill>
              <a:srgbClr val="D9CFB8"/>
            </a:solidFill>
            <a:prstDash val="solid"/>
          </a:ln>
        </p:spPr>
      </p:sp>
      <p:sp>
        <p:nvSpPr>
          <p:cNvPr id="113" name="Text 91"/>
          <p:cNvSpPr/>
          <p:nvPr/>
        </p:nvSpPr>
        <p:spPr>
          <a:xfrm>
            <a:off x="2928045" y="9353550"/>
            <a:ext cx="73952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-9" kern="0" dirty="0">
                <a:solidFill>
                  <a:srgbClr val="4439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SmartSDK</a:t>
            </a:r>
            <a:endParaRPr lang="en-US" sz="900" dirty="0"/>
          </a:p>
        </p:txBody>
      </p:sp>
      <p:sp>
        <p:nvSpPr>
          <p:cNvPr id="114" name="Shape 92"/>
          <p:cNvSpPr/>
          <p:nvPr/>
        </p:nvSpPr>
        <p:spPr>
          <a:xfrm>
            <a:off x="3791396" y="9286875"/>
            <a:ext cx="719733" cy="285750"/>
          </a:xfrm>
          <a:prstGeom prst="roundRect">
            <a:avLst>
              <a:gd name="adj" fmla="val 50000"/>
            </a:avLst>
          </a:prstGeom>
          <a:solidFill>
            <a:srgbClr val="EFE7D5"/>
          </a:solidFill>
          <a:ln w="9525">
            <a:solidFill>
              <a:srgbClr val="D9CFB8"/>
            </a:solidFill>
            <a:prstDash val="solid"/>
          </a:ln>
        </p:spPr>
      </p:sp>
      <p:sp>
        <p:nvSpPr>
          <p:cNvPr id="115" name="Text 93"/>
          <p:cNvSpPr/>
          <p:nvPr/>
        </p:nvSpPr>
        <p:spPr>
          <a:xfrm>
            <a:off x="3915221" y="9353550"/>
            <a:ext cx="54828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-9" kern="0" dirty="0">
                <a:solidFill>
                  <a:srgbClr val="4439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DataAPI</a:t>
            </a:r>
            <a:endParaRPr lang="en-US" sz="900" dirty="0"/>
          </a:p>
        </p:txBody>
      </p:sp>
      <p:sp>
        <p:nvSpPr>
          <p:cNvPr id="116" name="Shape 94"/>
          <p:cNvSpPr/>
          <p:nvPr/>
        </p:nvSpPr>
        <p:spPr>
          <a:xfrm>
            <a:off x="4587329" y="9286875"/>
            <a:ext cx="517475" cy="285750"/>
          </a:xfrm>
          <a:prstGeom prst="roundRect">
            <a:avLst>
              <a:gd name="adj" fmla="val 50000"/>
            </a:avLst>
          </a:prstGeom>
          <a:solidFill>
            <a:srgbClr val="EFE7D5"/>
          </a:solidFill>
          <a:ln w="9525">
            <a:solidFill>
              <a:srgbClr val="D9CFB8"/>
            </a:solidFill>
            <a:prstDash val="solid"/>
          </a:ln>
        </p:spPr>
      </p:sp>
      <p:sp>
        <p:nvSpPr>
          <p:cNvPr id="117" name="Text 95"/>
          <p:cNvSpPr/>
          <p:nvPr/>
        </p:nvSpPr>
        <p:spPr>
          <a:xfrm>
            <a:off x="4711154" y="9353550"/>
            <a:ext cx="34602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-9" kern="0" dirty="0">
                <a:solidFill>
                  <a:srgbClr val="4439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EKHT</a:t>
            </a:r>
            <a:endParaRPr lang="en-US" sz="900" dirty="0"/>
          </a:p>
        </p:txBody>
      </p:sp>
      <p:sp>
        <p:nvSpPr>
          <p:cNvPr id="118" name="Shape 96"/>
          <p:cNvSpPr/>
          <p:nvPr/>
        </p:nvSpPr>
        <p:spPr>
          <a:xfrm>
            <a:off x="5181005" y="9286875"/>
            <a:ext cx="922139" cy="285750"/>
          </a:xfrm>
          <a:prstGeom prst="roundRect">
            <a:avLst>
              <a:gd name="adj" fmla="val 50000"/>
            </a:avLst>
          </a:prstGeom>
          <a:solidFill>
            <a:srgbClr val="EFE7D5"/>
          </a:solidFill>
          <a:ln w="9525">
            <a:solidFill>
              <a:srgbClr val="D9CFB8"/>
            </a:solidFill>
            <a:prstDash val="solid"/>
          </a:ln>
        </p:spPr>
      </p:sp>
      <p:sp>
        <p:nvSpPr>
          <p:cNvPr id="119" name="Text 97"/>
          <p:cNvSpPr/>
          <p:nvPr/>
        </p:nvSpPr>
        <p:spPr>
          <a:xfrm>
            <a:off x="5304830" y="9353550"/>
            <a:ext cx="75068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-9" kern="0" dirty="0">
                <a:solidFill>
                  <a:srgbClr val="4439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&lt;/&gt; Skills</a:t>
            </a:r>
            <a:endParaRPr lang="en-US" sz="900" dirty="0"/>
          </a:p>
        </p:txBody>
      </p:sp>
      <p:sp>
        <p:nvSpPr>
          <p:cNvPr id="120" name="Shape 98"/>
          <p:cNvSpPr/>
          <p:nvPr/>
        </p:nvSpPr>
        <p:spPr>
          <a:xfrm>
            <a:off x="6179344" y="9286875"/>
            <a:ext cx="652314" cy="285750"/>
          </a:xfrm>
          <a:prstGeom prst="roundRect">
            <a:avLst>
              <a:gd name="adj" fmla="val 50000"/>
            </a:avLst>
          </a:prstGeom>
          <a:solidFill>
            <a:srgbClr val="EFE7D5"/>
          </a:solidFill>
          <a:ln w="9525">
            <a:solidFill>
              <a:srgbClr val="D9CFB8"/>
            </a:solidFill>
            <a:prstDash val="solid"/>
          </a:ln>
        </p:spPr>
      </p:sp>
      <p:sp>
        <p:nvSpPr>
          <p:cNvPr id="121" name="Text 99"/>
          <p:cNvSpPr/>
          <p:nvPr/>
        </p:nvSpPr>
        <p:spPr>
          <a:xfrm>
            <a:off x="6303169" y="9353550"/>
            <a:ext cx="48086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-9" kern="0" dirty="0">
                <a:solidFill>
                  <a:srgbClr val="4439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AWS S3</a:t>
            </a:r>
            <a:endParaRPr lang="en-US" sz="900" dirty="0"/>
          </a:p>
        </p:txBody>
      </p:sp>
      <p:sp>
        <p:nvSpPr>
          <p:cNvPr id="122" name="Shape 100"/>
          <p:cNvSpPr/>
          <p:nvPr/>
        </p:nvSpPr>
        <p:spPr>
          <a:xfrm>
            <a:off x="6907857" y="9286875"/>
            <a:ext cx="1259235" cy="285750"/>
          </a:xfrm>
          <a:prstGeom prst="roundRect">
            <a:avLst>
              <a:gd name="adj" fmla="val 50000"/>
            </a:avLst>
          </a:prstGeom>
          <a:solidFill>
            <a:srgbClr val="EFE7D5"/>
          </a:solidFill>
          <a:ln w="9525">
            <a:solidFill>
              <a:srgbClr val="D9CFB8"/>
            </a:solidFill>
            <a:prstDash val="solid"/>
          </a:ln>
        </p:spPr>
      </p:sp>
      <p:sp>
        <p:nvSpPr>
          <p:cNvPr id="123" name="Text 101"/>
          <p:cNvSpPr/>
          <p:nvPr/>
        </p:nvSpPr>
        <p:spPr>
          <a:xfrm>
            <a:off x="7031682" y="9353550"/>
            <a:ext cx="108778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-9" kern="0" dirty="0">
                <a:solidFill>
                  <a:srgbClr val="4439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AWS ECS NextGen</a:t>
            </a:r>
            <a:endParaRPr lang="en-US" sz="900" dirty="0"/>
          </a:p>
        </p:txBody>
      </p:sp>
      <p:sp>
        <p:nvSpPr>
          <p:cNvPr id="124" name="Shape 102"/>
          <p:cNvSpPr/>
          <p:nvPr/>
        </p:nvSpPr>
        <p:spPr>
          <a:xfrm>
            <a:off x="8243292" y="9286875"/>
            <a:ext cx="1394222" cy="285750"/>
          </a:xfrm>
          <a:prstGeom prst="roundRect">
            <a:avLst>
              <a:gd name="adj" fmla="val 50000"/>
            </a:avLst>
          </a:prstGeom>
          <a:solidFill>
            <a:srgbClr val="EFE7D5"/>
          </a:solidFill>
          <a:ln w="9525">
            <a:solidFill>
              <a:srgbClr val="D9CFB8"/>
            </a:solidFill>
            <a:prstDash val="solid"/>
          </a:ln>
        </p:spPr>
      </p:sp>
      <p:sp>
        <p:nvSpPr>
          <p:cNvPr id="125" name="Text 103"/>
          <p:cNvSpPr/>
          <p:nvPr/>
        </p:nvSpPr>
        <p:spPr>
          <a:xfrm>
            <a:off x="8367117" y="9353550"/>
            <a:ext cx="122277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-9" kern="0" dirty="0">
                <a:solidFill>
                  <a:srgbClr val="4439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AWS Elastic Cache</a:t>
            </a:r>
            <a:endParaRPr lang="en-US" sz="900" dirty="0"/>
          </a:p>
        </p:txBody>
      </p:sp>
      <p:sp>
        <p:nvSpPr>
          <p:cNvPr id="126" name="Shape 104"/>
          <p:cNvSpPr/>
          <p:nvPr/>
        </p:nvSpPr>
        <p:spPr>
          <a:xfrm>
            <a:off x="9713714" y="9286875"/>
            <a:ext cx="1529060" cy="285750"/>
          </a:xfrm>
          <a:prstGeom prst="roundRect">
            <a:avLst>
              <a:gd name="adj" fmla="val 50000"/>
            </a:avLst>
          </a:prstGeom>
          <a:solidFill>
            <a:srgbClr val="EFE7D5"/>
          </a:solidFill>
          <a:ln w="9525">
            <a:solidFill>
              <a:srgbClr val="D9CFB8"/>
            </a:solidFill>
            <a:prstDash val="solid"/>
          </a:ln>
        </p:spPr>
      </p:sp>
      <p:sp>
        <p:nvSpPr>
          <p:cNvPr id="127" name="Text 105"/>
          <p:cNvSpPr/>
          <p:nvPr/>
        </p:nvSpPr>
        <p:spPr>
          <a:xfrm>
            <a:off x="9837539" y="9353550"/>
            <a:ext cx="135761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-9" kern="0" dirty="0">
                <a:solidFill>
                  <a:srgbClr val="4439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AWS Aurora Postgres</a:t>
            </a:r>
            <a:endParaRPr lang="en-US" sz="900" dirty="0"/>
          </a:p>
        </p:txBody>
      </p:sp>
      <p:sp>
        <p:nvSpPr>
          <p:cNvPr id="128" name="Shape 106"/>
          <p:cNvSpPr/>
          <p:nvPr/>
        </p:nvSpPr>
        <p:spPr>
          <a:xfrm>
            <a:off x="11318974" y="9286875"/>
            <a:ext cx="854720" cy="285750"/>
          </a:xfrm>
          <a:prstGeom prst="roundRect">
            <a:avLst>
              <a:gd name="adj" fmla="val 50000"/>
            </a:avLst>
          </a:prstGeom>
          <a:solidFill>
            <a:srgbClr val="EFE7D5"/>
          </a:solidFill>
          <a:ln w="9525">
            <a:solidFill>
              <a:srgbClr val="D9CFB8"/>
            </a:solidFill>
            <a:prstDash val="solid"/>
          </a:ln>
        </p:spPr>
      </p:sp>
      <p:sp>
        <p:nvSpPr>
          <p:cNvPr id="129" name="Text 107"/>
          <p:cNvSpPr/>
          <p:nvPr/>
        </p:nvSpPr>
        <p:spPr>
          <a:xfrm>
            <a:off x="11442799" y="9353550"/>
            <a:ext cx="6832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-9" kern="0" dirty="0">
                <a:solidFill>
                  <a:srgbClr val="4439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Dynatrace</a:t>
            </a:r>
            <a:endParaRPr lang="en-US" sz="900" dirty="0"/>
          </a:p>
        </p:txBody>
      </p:sp>
      <p:sp>
        <p:nvSpPr>
          <p:cNvPr id="130" name="Shape 108"/>
          <p:cNvSpPr/>
          <p:nvPr/>
        </p:nvSpPr>
        <p:spPr>
          <a:xfrm>
            <a:off x="12249894" y="9286875"/>
            <a:ext cx="1720304" cy="285750"/>
          </a:xfrm>
          <a:prstGeom prst="roundRect">
            <a:avLst>
              <a:gd name="adj" fmla="val 50000"/>
            </a:avLst>
          </a:prstGeom>
          <a:solidFill>
            <a:srgbClr val="EFE7D5"/>
          </a:solidFill>
          <a:ln w="9525">
            <a:solidFill>
              <a:srgbClr val="D9CFB8"/>
            </a:solidFill>
            <a:prstDash val="solid"/>
          </a:ln>
        </p:spPr>
      </p:sp>
      <p:sp>
        <p:nvSpPr>
          <p:cNvPr id="131" name="Text 109"/>
          <p:cNvSpPr/>
          <p:nvPr/>
        </p:nvSpPr>
        <p:spPr>
          <a:xfrm>
            <a:off x="12373719" y="9353550"/>
            <a:ext cx="154885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-9" kern="0" dirty="0">
                <a:solidFill>
                  <a:srgbClr val="4439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Fusion AI Governance</a:t>
            </a:r>
            <a:endParaRPr lang="en-US" sz="900" dirty="0"/>
          </a:p>
        </p:txBody>
      </p:sp>
      <p:sp>
        <p:nvSpPr>
          <p:cNvPr id="132" name="Shape 110"/>
          <p:cNvSpPr/>
          <p:nvPr/>
        </p:nvSpPr>
        <p:spPr>
          <a:xfrm>
            <a:off x="16674257" y="9363075"/>
            <a:ext cx="9525" cy="133350"/>
          </a:xfrm>
          <a:prstGeom prst="rect">
            <a:avLst/>
          </a:prstGeom>
          <a:solidFill>
            <a:srgbClr val="E3DCC9"/>
          </a:solidFill>
          <a:ln/>
        </p:spPr>
      </p:sp>
      <p:sp>
        <p:nvSpPr>
          <p:cNvPr id="133" name="Text 111"/>
          <p:cNvSpPr/>
          <p:nvPr/>
        </p:nvSpPr>
        <p:spPr>
          <a:xfrm>
            <a:off x="16836182" y="9363075"/>
            <a:ext cx="604093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26" kern="0" dirty="0">
                <a:solidFill>
                  <a:srgbClr val="C9531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FUSION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2026-05-05T22:18:24Z</dcterms:created>
  <dcterms:modified xsi:type="dcterms:W3CDTF">2026-05-05T22:18:24Z</dcterms:modified>
</cp:coreProperties>
</file>