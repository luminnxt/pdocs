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2167830"/>
            <a:ext cx="167640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1310580"/>
            <a:ext cx="38100" cy="609600"/>
          </a:xfrm>
          <a:prstGeom prst="rect">
            <a:avLst/>
          </a:prstGeom>
          <a:solidFill>
            <a:srgbClr val="C9531F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533400"/>
            <a:ext cx="1079182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149" kern="0" dirty="0">
                <a:solidFill>
                  <a:srgbClr val="C953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PLATFORM ARCHITECTURE · OVERVIEW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066800" y="762000"/>
            <a:ext cx="1079182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900" b="1" spc="-98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EP AIOps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1066800" y="1371600"/>
            <a:ext cx="10791825" cy="624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4A413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 AI-augmented operational intelligence platform for Site Reliability Engineering — to detect, respond to, prevent, and learn from production issues.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763006" y="1634430"/>
            <a:ext cx="6630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25" spc="83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DOCUMENT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13707219" y="1801118"/>
            <a:ext cx="1642616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25" b="1" spc="41" kern="0" dirty="0">
                <a:solidFill>
                  <a:srgbClr val="1511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INTERNAL · CONFIDENTIAL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5890379" y="1634430"/>
            <a:ext cx="58965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25" spc="83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VERSION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15578435" y="1801118"/>
            <a:ext cx="825401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25" b="1" spc="41" kern="0" dirty="0">
                <a:solidFill>
                  <a:srgbClr val="1511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V1.0 — 2026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7159288" y="1634430"/>
            <a:ext cx="4429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25" spc="83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OWNER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6632436" y="1801118"/>
            <a:ext cx="89356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50000"/>
              </a:lnSpc>
              <a:buNone/>
            </a:pPr>
            <a:r>
              <a:rPr lang="en-US" sz="825" b="1" spc="41" kern="0" dirty="0">
                <a:solidFill>
                  <a:srgbClr val="1511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SRE PLATFORM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762000" y="2653605"/>
            <a:ext cx="20955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Text 12"/>
          <p:cNvSpPr/>
          <p:nvPr/>
        </p:nvSpPr>
        <p:spPr>
          <a:xfrm>
            <a:off x="800100" y="2444055"/>
            <a:ext cx="146565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49" kern="0" dirty="0">
                <a:solidFill>
                  <a:srgbClr val="1511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CHANNELS &amp; MODELS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2686050" y="2448818"/>
            <a:ext cx="2095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75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L1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62000" y="2815530"/>
            <a:ext cx="2095500" cy="2840236"/>
          </a:xfrm>
          <a:prstGeom prst="roundRect">
            <a:avLst>
              <a:gd name="adj" fmla="val 3636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2975" y="2996505"/>
            <a:ext cx="1809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CHANNELS</a:t>
            </a:r>
            <a:endParaRPr lang="en-US" sz="825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3415605"/>
            <a:ext cx="133350" cy="13335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66825" y="3358455"/>
            <a:ext cx="14859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API · A2A · MCP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266825" y="3553718"/>
            <a:ext cx="1485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Programmatic interfaces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942975" y="3808958"/>
            <a:ext cx="1733550" cy="9525"/>
          </a:xfrm>
          <a:prstGeom prst="rect">
            <a:avLst/>
          </a:prstGeom>
          <a:solidFill>
            <a:srgbClr val="ECECEC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3970883"/>
            <a:ext cx="133350" cy="13335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266825" y="3913733"/>
            <a:ext cx="14859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1266825" y="4108996"/>
            <a:ext cx="1485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Developer tooling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942975" y="4364236"/>
            <a:ext cx="1733550" cy="9525"/>
          </a:xfrm>
          <a:prstGeom prst="rect">
            <a:avLst/>
          </a:prstGeom>
          <a:solidFill>
            <a:srgbClr val="ECECEC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4526161"/>
            <a:ext cx="133350" cy="13335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66825" y="4469011"/>
            <a:ext cx="14859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LLM Suite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1266825" y="4664273"/>
            <a:ext cx="1485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Conversational assistants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942975" y="4919514"/>
            <a:ext cx="1733550" cy="9525"/>
          </a:xfrm>
          <a:prstGeom prst="rect">
            <a:avLst/>
          </a:prstGeom>
          <a:solidFill>
            <a:srgbClr val="ECECEC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5081439"/>
            <a:ext cx="133350" cy="13335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266825" y="5024289"/>
            <a:ext cx="14859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AIOps UI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1266825" y="5219551"/>
            <a:ext cx="1485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Operator web console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762000" y="5808166"/>
            <a:ext cx="2095500" cy="1729680"/>
          </a:xfrm>
          <a:prstGeom prst="roundRect">
            <a:avLst>
              <a:gd name="adj" fmla="val 4405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942975" y="5989141"/>
            <a:ext cx="1809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MODELS</a:t>
            </a:r>
            <a:endParaRPr lang="en-US" sz="825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6408241"/>
            <a:ext cx="133350" cy="13335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266825" y="6351091"/>
            <a:ext cx="14859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Claude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1266825" y="6546354"/>
            <a:ext cx="1485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Reasoning · long context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942975" y="6801594"/>
            <a:ext cx="1733550" cy="9525"/>
          </a:xfrm>
          <a:prstGeom prst="rect">
            <a:avLst/>
          </a:prstGeom>
          <a:solidFill>
            <a:srgbClr val="ECECEC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6963519"/>
            <a:ext cx="133350" cy="13335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266825" y="6906369"/>
            <a:ext cx="14859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OpenAI</a:t>
            </a:r>
            <a:endParaRPr lang="en-US" sz="1050" dirty="0"/>
          </a:p>
        </p:txBody>
      </p:sp>
      <p:sp>
        <p:nvSpPr>
          <p:cNvPr id="41" name="Text 33"/>
          <p:cNvSpPr/>
          <p:nvPr/>
        </p:nvSpPr>
        <p:spPr>
          <a:xfrm>
            <a:off x="1266825" y="7101632"/>
            <a:ext cx="1485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General-purpose models</a:t>
            </a:r>
            <a:endParaRPr lang="en-US" sz="900" dirty="0"/>
          </a:p>
        </p:txBody>
      </p:sp>
      <p:sp>
        <p:nvSpPr>
          <p:cNvPr id="42" name="Shape 34"/>
          <p:cNvSpPr/>
          <p:nvPr/>
        </p:nvSpPr>
        <p:spPr>
          <a:xfrm>
            <a:off x="3009900" y="2653605"/>
            <a:ext cx="118872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3" name="Text 35"/>
          <p:cNvSpPr/>
          <p:nvPr/>
        </p:nvSpPr>
        <p:spPr>
          <a:xfrm>
            <a:off x="3048000" y="2444055"/>
            <a:ext cx="105697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49" kern="0" dirty="0">
                <a:solidFill>
                  <a:srgbClr val="1511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CAPABILITIES</a:t>
            </a:r>
            <a:endParaRPr lang="en-US" sz="825" dirty="0"/>
          </a:p>
        </p:txBody>
      </p:sp>
      <p:sp>
        <p:nvSpPr>
          <p:cNvPr id="44" name="Text 36"/>
          <p:cNvSpPr/>
          <p:nvPr/>
        </p:nvSpPr>
        <p:spPr>
          <a:xfrm>
            <a:off x="14258925" y="2448818"/>
            <a:ext cx="676275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75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L2 · Core</a:t>
            </a:r>
            <a:endParaRPr lang="en-US" sz="750" dirty="0"/>
          </a:p>
        </p:txBody>
      </p:sp>
      <p:sp>
        <p:nvSpPr>
          <p:cNvPr id="45" name="Shape 37"/>
          <p:cNvSpPr/>
          <p:nvPr/>
        </p:nvSpPr>
        <p:spPr>
          <a:xfrm>
            <a:off x="3009900" y="2815530"/>
            <a:ext cx="3860750" cy="2074962"/>
          </a:xfrm>
          <a:prstGeom prst="roundRect">
            <a:avLst>
              <a:gd name="adj" fmla="val 367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3248025" y="3034605"/>
            <a:ext cx="350565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05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750" dirty="0"/>
          </a:p>
        </p:txBody>
      </p:sp>
      <p:sp>
        <p:nvSpPr>
          <p:cNvPr id="47" name="Text 39"/>
          <p:cNvSpPr/>
          <p:nvPr/>
        </p:nvSpPr>
        <p:spPr>
          <a:xfrm>
            <a:off x="3248025" y="3253680"/>
            <a:ext cx="3505657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5" b="1" spc="-13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ITOM — Incident &amp; Problem Management</a:t>
            </a:r>
            <a:endParaRPr lang="en-US" sz="1275" dirty="0"/>
          </a:p>
        </p:txBody>
      </p:sp>
      <p:sp>
        <p:nvSpPr>
          <p:cNvPr id="48" name="Text 40"/>
          <p:cNvSpPr/>
          <p:nvPr/>
        </p:nvSpPr>
        <p:spPr>
          <a:xfrm>
            <a:off x="3248025" y="3551337"/>
            <a:ext cx="35056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Unified incident lifecycle covering triage, ownership, escalation, and root-cause workflows across the SRE estate.</a:t>
            </a:r>
            <a:endParaRPr lang="en-US" sz="975" dirty="0"/>
          </a:p>
        </p:txBody>
      </p:sp>
      <p:sp>
        <p:nvSpPr>
          <p:cNvPr id="49" name="Shape 41"/>
          <p:cNvSpPr/>
          <p:nvPr/>
        </p:nvSpPr>
        <p:spPr>
          <a:xfrm>
            <a:off x="3248025" y="4471392"/>
            <a:ext cx="582960" cy="200025"/>
          </a:xfrm>
          <a:prstGeom prst="roundRect">
            <a:avLst>
              <a:gd name="adj" fmla="val 50000"/>
            </a:avLst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50" name="Text 42"/>
          <p:cNvSpPr/>
          <p:nvPr/>
        </p:nvSpPr>
        <p:spPr>
          <a:xfrm>
            <a:off x="3333750" y="4509492"/>
            <a:ext cx="48771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DETECT</a:t>
            </a:r>
            <a:endParaRPr lang="en-US" sz="750" dirty="0"/>
          </a:p>
        </p:txBody>
      </p:sp>
      <p:sp>
        <p:nvSpPr>
          <p:cNvPr id="51" name="Shape 43"/>
          <p:cNvSpPr/>
          <p:nvPr/>
        </p:nvSpPr>
        <p:spPr>
          <a:xfrm>
            <a:off x="3888135" y="4471392"/>
            <a:ext cx="651570" cy="200025"/>
          </a:xfrm>
          <a:prstGeom prst="roundRect">
            <a:avLst>
              <a:gd name="adj" fmla="val 50000"/>
            </a:avLst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3973860" y="4509492"/>
            <a:ext cx="5563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RESPOND</a:t>
            </a:r>
            <a:endParaRPr lang="en-US" sz="750" dirty="0"/>
          </a:p>
        </p:txBody>
      </p:sp>
      <p:sp>
        <p:nvSpPr>
          <p:cNvPr id="53" name="Shape 45"/>
          <p:cNvSpPr/>
          <p:nvPr/>
        </p:nvSpPr>
        <p:spPr>
          <a:xfrm>
            <a:off x="7023050" y="2815530"/>
            <a:ext cx="3860750" cy="2074962"/>
          </a:xfrm>
          <a:prstGeom prst="roundRect">
            <a:avLst>
              <a:gd name="adj" fmla="val 367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7261175" y="3034605"/>
            <a:ext cx="350565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05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750" dirty="0"/>
          </a:p>
        </p:txBody>
      </p:sp>
      <p:sp>
        <p:nvSpPr>
          <p:cNvPr id="55" name="Text 47"/>
          <p:cNvSpPr/>
          <p:nvPr/>
        </p:nvSpPr>
        <p:spPr>
          <a:xfrm>
            <a:off x="7261175" y="3253680"/>
            <a:ext cx="3505657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5" b="1" spc="-13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EP — AIOps Insights</a:t>
            </a:r>
            <a:endParaRPr lang="en-US" sz="1275" dirty="0"/>
          </a:p>
        </p:txBody>
      </p:sp>
      <p:sp>
        <p:nvSpPr>
          <p:cNvPr id="56" name="Text 48"/>
          <p:cNvSpPr/>
          <p:nvPr/>
        </p:nvSpPr>
        <p:spPr>
          <a:xfrm>
            <a:off x="7261175" y="3551337"/>
            <a:ext cx="35056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Anomaly detection, signal correlation, and trend analysis for predictive operational intelligence at scale.</a:t>
            </a:r>
            <a:endParaRPr lang="en-US" sz="975" dirty="0"/>
          </a:p>
        </p:txBody>
      </p:sp>
      <p:sp>
        <p:nvSpPr>
          <p:cNvPr id="57" name="Shape 49"/>
          <p:cNvSpPr/>
          <p:nvPr/>
        </p:nvSpPr>
        <p:spPr>
          <a:xfrm>
            <a:off x="7261175" y="4471392"/>
            <a:ext cx="651570" cy="200025"/>
          </a:xfrm>
          <a:prstGeom prst="roundRect">
            <a:avLst>
              <a:gd name="adj" fmla="val 50000"/>
            </a:avLst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58" name="Text 50"/>
          <p:cNvSpPr/>
          <p:nvPr/>
        </p:nvSpPr>
        <p:spPr>
          <a:xfrm>
            <a:off x="7346900" y="4509492"/>
            <a:ext cx="55632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PREDICT</a:t>
            </a:r>
            <a:endParaRPr lang="en-US" sz="750" dirty="0"/>
          </a:p>
        </p:txBody>
      </p:sp>
      <p:sp>
        <p:nvSpPr>
          <p:cNvPr id="59" name="Shape 51"/>
          <p:cNvSpPr/>
          <p:nvPr/>
        </p:nvSpPr>
        <p:spPr>
          <a:xfrm>
            <a:off x="7969895" y="4471392"/>
            <a:ext cx="788789" cy="200025"/>
          </a:xfrm>
          <a:prstGeom prst="roundRect">
            <a:avLst>
              <a:gd name="adj" fmla="val 50000"/>
            </a:avLst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60" name="Text 52"/>
          <p:cNvSpPr/>
          <p:nvPr/>
        </p:nvSpPr>
        <p:spPr>
          <a:xfrm>
            <a:off x="8055620" y="4509492"/>
            <a:ext cx="69353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CORRELATE</a:t>
            </a:r>
            <a:endParaRPr lang="en-US" sz="750" dirty="0"/>
          </a:p>
        </p:txBody>
      </p:sp>
      <p:sp>
        <p:nvSpPr>
          <p:cNvPr id="61" name="Shape 53"/>
          <p:cNvSpPr/>
          <p:nvPr/>
        </p:nvSpPr>
        <p:spPr>
          <a:xfrm>
            <a:off x="11036201" y="2815530"/>
            <a:ext cx="3860899" cy="2074962"/>
          </a:xfrm>
          <a:prstGeom prst="roundRect">
            <a:avLst>
              <a:gd name="adj" fmla="val 367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62" name="Text 54"/>
          <p:cNvSpPr/>
          <p:nvPr/>
        </p:nvSpPr>
        <p:spPr>
          <a:xfrm>
            <a:off x="11274326" y="3034605"/>
            <a:ext cx="350581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05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750" dirty="0"/>
          </a:p>
        </p:txBody>
      </p:sp>
      <p:sp>
        <p:nvSpPr>
          <p:cNvPr id="63" name="Text 55"/>
          <p:cNvSpPr/>
          <p:nvPr/>
        </p:nvSpPr>
        <p:spPr>
          <a:xfrm>
            <a:off x="11274326" y="3253680"/>
            <a:ext cx="350581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5" b="1" spc="-13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Application Catalogue</a:t>
            </a:r>
            <a:endParaRPr lang="en-US" sz="1275" dirty="0"/>
          </a:p>
        </p:txBody>
      </p:sp>
      <p:sp>
        <p:nvSpPr>
          <p:cNvPr id="64" name="Text 56"/>
          <p:cNvSpPr/>
          <p:nvPr/>
        </p:nvSpPr>
        <p:spPr>
          <a:xfrm>
            <a:off x="11274326" y="3551337"/>
            <a:ext cx="35058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Authoritative inventory of services, owners, and dependencies — powering enrichment everywhere downstream.</a:t>
            </a:r>
            <a:endParaRPr lang="en-US" sz="975" dirty="0"/>
          </a:p>
        </p:txBody>
      </p:sp>
      <p:sp>
        <p:nvSpPr>
          <p:cNvPr id="65" name="Shape 57"/>
          <p:cNvSpPr/>
          <p:nvPr/>
        </p:nvSpPr>
        <p:spPr>
          <a:xfrm>
            <a:off x="11274326" y="4471392"/>
            <a:ext cx="788789" cy="200025"/>
          </a:xfrm>
          <a:prstGeom prst="roundRect">
            <a:avLst>
              <a:gd name="adj" fmla="val 50000"/>
            </a:avLst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66" name="Text 58"/>
          <p:cNvSpPr/>
          <p:nvPr/>
        </p:nvSpPr>
        <p:spPr>
          <a:xfrm>
            <a:off x="11360051" y="4509492"/>
            <a:ext cx="69353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INVENTORY</a:t>
            </a:r>
            <a:endParaRPr lang="en-US" sz="750" dirty="0"/>
          </a:p>
        </p:txBody>
      </p:sp>
      <p:sp>
        <p:nvSpPr>
          <p:cNvPr id="67" name="Shape 59"/>
          <p:cNvSpPr/>
          <p:nvPr/>
        </p:nvSpPr>
        <p:spPr>
          <a:xfrm>
            <a:off x="12120265" y="4471392"/>
            <a:ext cx="788789" cy="200025"/>
          </a:xfrm>
          <a:prstGeom prst="roundRect">
            <a:avLst>
              <a:gd name="adj" fmla="val 50000"/>
            </a:avLst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68" name="Text 60"/>
          <p:cNvSpPr/>
          <p:nvPr/>
        </p:nvSpPr>
        <p:spPr>
          <a:xfrm>
            <a:off x="12205990" y="4509492"/>
            <a:ext cx="69353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OWNERSHIP</a:t>
            </a:r>
            <a:endParaRPr lang="en-US" sz="750" dirty="0"/>
          </a:p>
        </p:txBody>
      </p:sp>
      <p:sp>
        <p:nvSpPr>
          <p:cNvPr id="69" name="Shape 61"/>
          <p:cNvSpPr/>
          <p:nvPr/>
        </p:nvSpPr>
        <p:spPr>
          <a:xfrm>
            <a:off x="3009900" y="5042892"/>
            <a:ext cx="3860750" cy="2075111"/>
          </a:xfrm>
          <a:prstGeom prst="roundRect">
            <a:avLst>
              <a:gd name="adj" fmla="val 367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0" name="Text 62"/>
          <p:cNvSpPr/>
          <p:nvPr/>
        </p:nvSpPr>
        <p:spPr>
          <a:xfrm>
            <a:off x="3248025" y="5261967"/>
            <a:ext cx="350565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05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750" dirty="0"/>
          </a:p>
        </p:txBody>
      </p:sp>
      <p:sp>
        <p:nvSpPr>
          <p:cNvPr id="71" name="Text 63"/>
          <p:cNvSpPr/>
          <p:nvPr/>
        </p:nvSpPr>
        <p:spPr>
          <a:xfrm>
            <a:off x="3248025" y="5481042"/>
            <a:ext cx="3505657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5" b="1" spc="-13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Change Governance</a:t>
            </a:r>
            <a:endParaRPr lang="en-US" sz="1275" dirty="0"/>
          </a:p>
        </p:txBody>
      </p:sp>
      <p:sp>
        <p:nvSpPr>
          <p:cNvPr id="72" name="Text 64"/>
          <p:cNvSpPr/>
          <p:nvPr/>
        </p:nvSpPr>
        <p:spPr>
          <a:xfrm>
            <a:off x="3248025" y="5778698"/>
            <a:ext cx="35056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Risk-aware change review with blast-radius scoring, freeze-window enforcement, and policy validation.</a:t>
            </a:r>
            <a:endParaRPr lang="en-US" sz="975" dirty="0"/>
          </a:p>
        </p:txBody>
      </p:sp>
      <p:sp>
        <p:nvSpPr>
          <p:cNvPr id="73" name="Shape 65"/>
          <p:cNvSpPr/>
          <p:nvPr/>
        </p:nvSpPr>
        <p:spPr>
          <a:xfrm>
            <a:off x="3248025" y="6698903"/>
            <a:ext cx="582960" cy="200025"/>
          </a:xfrm>
          <a:prstGeom prst="roundRect">
            <a:avLst>
              <a:gd name="adj" fmla="val 50000"/>
            </a:avLst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74" name="Text 66"/>
          <p:cNvSpPr/>
          <p:nvPr/>
        </p:nvSpPr>
        <p:spPr>
          <a:xfrm>
            <a:off x="3333750" y="6737003"/>
            <a:ext cx="48771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REVIEW</a:t>
            </a:r>
            <a:endParaRPr lang="en-US" sz="750" dirty="0"/>
          </a:p>
        </p:txBody>
      </p:sp>
      <p:sp>
        <p:nvSpPr>
          <p:cNvPr id="75" name="Shape 67"/>
          <p:cNvSpPr/>
          <p:nvPr/>
        </p:nvSpPr>
        <p:spPr>
          <a:xfrm>
            <a:off x="3888135" y="6698903"/>
            <a:ext cx="582960" cy="200025"/>
          </a:xfrm>
          <a:prstGeom prst="roundRect">
            <a:avLst>
              <a:gd name="adj" fmla="val 50000"/>
            </a:avLst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76" name="Text 68"/>
          <p:cNvSpPr/>
          <p:nvPr/>
        </p:nvSpPr>
        <p:spPr>
          <a:xfrm>
            <a:off x="3973860" y="6737003"/>
            <a:ext cx="48771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POLICY</a:t>
            </a:r>
            <a:endParaRPr lang="en-US" sz="750" dirty="0"/>
          </a:p>
        </p:txBody>
      </p:sp>
      <p:sp>
        <p:nvSpPr>
          <p:cNvPr id="77" name="Shape 69"/>
          <p:cNvSpPr/>
          <p:nvPr/>
        </p:nvSpPr>
        <p:spPr>
          <a:xfrm>
            <a:off x="7023050" y="5042892"/>
            <a:ext cx="3860750" cy="2075111"/>
          </a:xfrm>
          <a:prstGeom prst="roundRect">
            <a:avLst>
              <a:gd name="adj" fmla="val 367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78" name="Text 70"/>
          <p:cNvSpPr/>
          <p:nvPr/>
        </p:nvSpPr>
        <p:spPr>
          <a:xfrm>
            <a:off x="7261175" y="5261967"/>
            <a:ext cx="3505657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05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750" dirty="0"/>
          </a:p>
        </p:txBody>
      </p:sp>
      <p:sp>
        <p:nvSpPr>
          <p:cNvPr id="79" name="Text 71"/>
          <p:cNvSpPr/>
          <p:nvPr/>
        </p:nvSpPr>
        <p:spPr>
          <a:xfrm>
            <a:off x="7261175" y="5481042"/>
            <a:ext cx="3505657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5" b="1" spc="-13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Reliability Insights</a:t>
            </a:r>
            <a:endParaRPr lang="en-US" sz="1275" dirty="0"/>
          </a:p>
        </p:txBody>
      </p:sp>
      <p:sp>
        <p:nvSpPr>
          <p:cNvPr id="80" name="Text 72"/>
          <p:cNvSpPr/>
          <p:nvPr/>
        </p:nvSpPr>
        <p:spPr>
          <a:xfrm>
            <a:off x="7261175" y="5778698"/>
            <a:ext cx="350565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SLO posture, error-budget burn, and reliability scorecards rolled up across product domains and lines of business.</a:t>
            </a:r>
            <a:endParaRPr lang="en-US" sz="975" dirty="0"/>
          </a:p>
        </p:txBody>
      </p:sp>
      <p:sp>
        <p:nvSpPr>
          <p:cNvPr id="81" name="Shape 73"/>
          <p:cNvSpPr/>
          <p:nvPr/>
        </p:nvSpPr>
        <p:spPr>
          <a:xfrm>
            <a:off x="7261175" y="6698903"/>
            <a:ext cx="377279" cy="200025"/>
          </a:xfrm>
          <a:prstGeom prst="roundRect">
            <a:avLst>
              <a:gd name="adj" fmla="val 50000"/>
            </a:avLst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82" name="Text 74"/>
          <p:cNvSpPr/>
          <p:nvPr/>
        </p:nvSpPr>
        <p:spPr>
          <a:xfrm>
            <a:off x="7346900" y="6737003"/>
            <a:ext cx="282029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SLO</a:t>
            </a:r>
            <a:endParaRPr lang="en-US" sz="750" dirty="0"/>
          </a:p>
        </p:txBody>
      </p:sp>
      <p:sp>
        <p:nvSpPr>
          <p:cNvPr id="83" name="Shape 75"/>
          <p:cNvSpPr/>
          <p:nvPr/>
        </p:nvSpPr>
        <p:spPr>
          <a:xfrm>
            <a:off x="7695605" y="6698903"/>
            <a:ext cx="857250" cy="200025"/>
          </a:xfrm>
          <a:prstGeom prst="roundRect">
            <a:avLst>
              <a:gd name="adj" fmla="val 50000"/>
            </a:avLst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84" name="Text 76"/>
          <p:cNvSpPr/>
          <p:nvPr/>
        </p:nvSpPr>
        <p:spPr>
          <a:xfrm>
            <a:off x="7781330" y="6737003"/>
            <a:ext cx="76200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SCORECARDS</a:t>
            </a:r>
            <a:endParaRPr lang="en-US" sz="750" dirty="0"/>
          </a:p>
        </p:txBody>
      </p:sp>
      <p:sp>
        <p:nvSpPr>
          <p:cNvPr id="85" name="Shape 77"/>
          <p:cNvSpPr/>
          <p:nvPr/>
        </p:nvSpPr>
        <p:spPr>
          <a:xfrm>
            <a:off x="11036201" y="5042892"/>
            <a:ext cx="3860899" cy="2075111"/>
          </a:xfrm>
          <a:prstGeom prst="roundRect">
            <a:avLst>
              <a:gd name="adj" fmla="val 3672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86" name="Text 78"/>
          <p:cNvSpPr/>
          <p:nvPr/>
        </p:nvSpPr>
        <p:spPr>
          <a:xfrm>
            <a:off x="11274326" y="5261967"/>
            <a:ext cx="350581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05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750" dirty="0"/>
          </a:p>
        </p:txBody>
      </p:sp>
      <p:sp>
        <p:nvSpPr>
          <p:cNvPr id="87" name="Text 79"/>
          <p:cNvSpPr/>
          <p:nvPr/>
        </p:nvSpPr>
        <p:spPr>
          <a:xfrm>
            <a:off x="11274326" y="5481042"/>
            <a:ext cx="3505810" cy="240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5" b="1" spc="-13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Batch Ops</a:t>
            </a:r>
            <a:endParaRPr lang="en-US" sz="1275" dirty="0"/>
          </a:p>
        </p:txBody>
      </p:sp>
      <p:sp>
        <p:nvSpPr>
          <p:cNvPr id="88" name="Text 80"/>
          <p:cNvSpPr/>
          <p:nvPr/>
        </p:nvSpPr>
        <p:spPr>
          <a:xfrm>
            <a:off x="11274326" y="5778698"/>
            <a:ext cx="350581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Monitoring and orchestration for scheduled and long-running workloads, with failure replay and cross-job dependencies.</a:t>
            </a:r>
            <a:endParaRPr lang="en-US" sz="975" dirty="0"/>
          </a:p>
        </p:txBody>
      </p:sp>
      <p:sp>
        <p:nvSpPr>
          <p:cNvPr id="89" name="Shape 81"/>
          <p:cNvSpPr/>
          <p:nvPr/>
        </p:nvSpPr>
        <p:spPr>
          <a:xfrm>
            <a:off x="11274326" y="6698903"/>
            <a:ext cx="925860" cy="200025"/>
          </a:xfrm>
          <a:prstGeom prst="roundRect">
            <a:avLst>
              <a:gd name="adj" fmla="val 50000"/>
            </a:avLst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90" name="Text 82"/>
          <p:cNvSpPr/>
          <p:nvPr/>
        </p:nvSpPr>
        <p:spPr>
          <a:xfrm>
            <a:off x="11360051" y="6737003"/>
            <a:ext cx="83061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ORCHESTRATE</a:t>
            </a:r>
            <a:endParaRPr lang="en-US" sz="750" dirty="0"/>
          </a:p>
        </p:txBody>
      </p:sp>
      <p:sp>
        <p:nvSpPr>
          <p:cNvPr id="91" name="Shape 83"/>
          <p:cNvSpPr/>
          <p:nvPr/>
        </p:nvSpPr>
        <p:spPr>
          <a:xfrm>
            <a:off x="12257336" y="6698903"/>
            <a:ext cx="582960" cy="200025"/>
          </a:xfrm>
          <a:prstGeom prst="roundRect">
            <a:avLst>
              <a:gd name="adj" fmla="val 50000"/>
            </a:avLst>
          </a:prstGeom>
          <a:ln w="9525">
            <a:solidFill>
              <a:srgbClr val="E0E0E0"/>
            </a:solidFill>
            <a:prstDash val="solid"/>
          </a:ln>
        </p:spPr>
      </p:sp>
      <p:sp>
        <p:nvSpPr>
          <p:cNvPr id="92" name="Text 84"/>
          <p:cNvSpPr/>
          <p:nvPr/>
        </p:nvSpPr>
        <p:spPr>
          <a:xfrm>
            <a:off x="12343061" y="6737003"/>
            <a:ext cx="48771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90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REPLAY</a:t>
            </a:r>
            <a:endParaRPr lang="en-US" sz="750" dirty="0"/>
          </a:p>
        </p:txBody>
      </p:sp>
      <p:sp>
        <p:nvSpPr>
          <p:cNvPr id="93" name="Shape 85"/>
          <p:cNvSpPr/>
          <p:nvPr/>
        </p:nvSpPr>
        <p:spPr>
          <a:xfrm>
            <a:off x="3009900" y="7270403"/>
            <a:ext cx="5867400" cy="1147763"/>
          </a:xfrm>
          <a:prstGeom prst="roundRect">
            <a:avLst>
              <a:gd name="adj" fmla="val 6639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94" name="Text 86"/>
          <p:cNvSpPr/>
          <p:nvPr/>
        </p:nvSpPr>
        <p:spPr>
          <a:xfrm>
            <a:off x="3228975" y="7451378"/>
            <a:ext cx="559212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32" kern="0" dirty="0">
                <a:solidFill>
                  <a:srgbClr val="C953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· SERVICES</a:t>
            </a:r>
            <a:endParaRPr lang="en-US" sz="825" dirty="0"/>
          </a:p>
        </p:txBody>
      </p:sp>
      <p:sp>
        <p:nvSpPr>
          <p:cNvPr id="95" name="Text 87"/>
          <p:cNvSpPr/>
          <p:nvPr/>
        </p:nvSpPr>
        <p:spPr>
          <a:xfrm>
            <a:off x="3228975" y="7660928"/>
            <a:ext cx="55921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Composable Service Layer</a:t>
            </a:r>
            <a:endParaRPr lang="en-US" sz="1125" dirty="0"/>
          </a:p>
        </p:txBody>
      </p:sp>
      <p:sp>
        <p:nvSpPr>
          <p:cNvPr id="96" name="Text 88"/>
          <p:cNvSpPr/>
          <p:nvPr/>
        </p:nvSpPr>
        <p:spPr>
          <a:xfrm>
            <a:off x="3228975" y="7880003"/>
            <a:ext cx="559212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Reusable services that leverage internal tools and APIs to deliver enriched, decision-ready operational information.</a:t>
            </a:r>
            <a:endParaRPr lang="en-US" sz="938" dirty="0"/>
          </a:p>
        </p:txBody>
      </p:sp>
      <p:sp>
        <p:nvSpPr>
          <p:cNvPr id="97" name="Shape 89"/>
          <p:cNvSpPr/>
          <p:nvPr/>
        </p:nvSpPr>
        <p:spPr>
          <a:xfrm>
            <a:off x="9029700" y="7270403"/>
            <a:ext cx="5867400" cy="1147763"/>
          </a:xfrm>
          <a:prstGeom prst="roundRect">
            <a:avLst>
              <a:gd name="adj" fmla="val 6639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98" name="Text 90"/>
          <p:cNvSpPr/>
          <p:nvPr/>
        </p:nvSpPr>
        <p:spPr>
          <a:xfrm>
            <a:off x="9248775" y="7451378"/>
            <a:ext cx="559212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32" kern="0" dirty="0">
                <a:solidFill>
                  <a:srgbClr val="C953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· AGENTS</a:t>
            </a:r>
            <a:endParaRPr lang="en-US" sz="825" dirty="0"/>
          </a:p>
        </p:txBody>
      </p:sp>
      <p:sp>
        <p:nvSpPr>
          <p:cNvPr id="99" name="Text 91"/>
          <p:cNvSpPr/>
          <p:nvPr/>
        </p:nvSpPr>
        <p:spPr>
          <a:xfrm>
            <a:off x="9248775" y="7660928"/>
            <a:ext cx="5592128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AI Agents</a:t>
            </a:r>
            <a:endParaRPr lang="en-US" sz="1125" dirty="0"/>
          </a:p>
        </p:txBody>
      </p:sp>
      <p:sp>
        <p:nvSpPr>
          <p:cNvPr id="100" name="Text 92"/>
          <p:cNvSpPr/>
          <p:nvPr/>
        </p:nvSpPr>
        <p:spPr>
          <a:xfrm>
            <a:off x="9248775" y="7880003"/>
            <a:ext cx="559212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38" dirty="0">
                <a:solidFill>
                  <a:srgbClr val="7A706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Smart SDK agents connect to tools through API or MCP servers and deliver data toward a specified operational purpose.</a:t>
            </a:r>
            <a:endParaRPr lang="en-US" sz="938" dirty="0"/>
          </a:p>
        </p:txBody>
      </p:sp>
      <p:sp>
        <p:nvSpPr>
          <p:cNvPr id="101" name="Shape 93"/>
          <p:cNvSpPr/>
          <p:nvPr/>
        </p:nvSpPr>
        <p:spPr>
          <a:xfrm>
            <a:off x="15049500" y="2653605"/>
            <a:ext cx="2476500" cy="95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2" name="Text 94"/>
          <p:cNvSpPr/>
          <p:nvPr/>
        </p:nvSpPr>
        <p:spPr>
          <a:xfrm>
            <a:off x="15087600" y="2444055"/>
            <a:ext cx="15473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149" kern="0" dirty="0">
                <a:solidFill>
                  <a:srgbClr val="15110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TOOLS &amp; CONNECTORS</a:t>
            </a:r>
            <a:endParaRPr lang="en-US" sz="825" dirty="0"/>
          </a:p>
        </p:txBody>
      </p:sp>
      <p:sp>
        <p:nvSpPr>
          <p:cNvPr id="103" name="Text 95"/>
          <p:cNvSpPr/>
          <p:nvPr/>
        </p:nvSpPr>
        <p:spPr>
          <a:xfrm>
            <a:off x="17354550" y="2448818"/>
            <a:ext cx="2095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75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L3</a:t>
            </a:r>
            <a:endParaRPr lang="en-US" sz="750" dirty="0"/>
          </a:p>
        </p:txBody>
      </p:sp>
      <p:sp>
        <p:nvSpPr>
          <p:cNvPr id="104" name="Shape 96"/>
          <p:cNvSpPr/>
          <p:nvPr/>
        </p:nvSpPr>
        <p:spPr>
          <a:xfrm>
            <a:off x="15049500" y="2815530"/>
            <a:ext cx="2476500" cy="5602635"/>
          </a:xfrm>
          <a:prstGeom prst="roundRect">
            <a:avLst>
              <a:gd name="adj" fmla="val 3077"/>
            </a:avLst>
          </a:prstGeom>
          <a:solidFill>
            <a:srgbClr val="FAFAFA"/>
          </a:solidFill>
          <a:ln w="9525">
            <a:solidFill>
              <a:srgbClr val="ECECEC"/>
            </a:solidFill>
            <a:prstDash val="solid"/>
          </a:ln>
        </p:spPr>
      </p:sp>
      <p:sp>
        <p:nvSpPr>
          <p:cNvPr id="105" name="Text 97"/>
          <p:cNvSpPr/>
          <p:nvPr/>
        </p:nvSpPr>
        <p:spPr>
          <a:xfrm>
            <a:off x="15230475" y="2996505"/>
            <a:ext cx="21907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spc="132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INTEGRATIONS</a:t>
            </a:r>
            <a:endParaRPr lang="en-US" sz="825" dirty="0"/>
          </a:p>
        </p:txBody>
      </p:sp>
      <p:pic>
        <p:nvPicPr>
          <p:cNvPr id="10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78100" y="3415605"/>
            <a:ext cx="133350" cy="133350"/>
          </a:xfrm>
          <a:prstGeom prst="rect">
            <a:avLst/>
          </a:prstGeom>
        </p:spPr>
      </p:pic>
      <p:sp>
        <p:nvSpPr>
          <p:cNvPr id="107" name="Text 98"/>
          <p:cNvSpPr/>
          <p:nvPr/>
        </p:nvSpPr>
        <p:spPr>
          <a:xfrm>
            <a:off x="15554325" y="3358455"/>
            <a:ext cx="18669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Database Connect</a:t>
            </a:r>
            <a:endParaRPr lang="en-US" sz="1050" dirty="0"/>
          </a:p>
        </p:txBody>
      </p:sp>
      <p:sp>
        <p:nvSpPr>
          <p:cNvPr id="108" name="Text 99"/>
          <p:cNvSpPr/>
          <p:nvPr/>
        </p:nvSpPr>
        <p:spPr>
          <a:xfrm>
            <a:off x="15452725" y="3582293"/>
            <a:ext cx="196850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spc="-9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Snowflake</a:t>
            </a:r>
            <a:endParaRPr lang="en-US" sz="86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63" spc="-9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Databricks</a:t>
            </a:r>
            <a:endParaRPr lang="en-US" sz="863" dirty="0"/>
          </a:p>
        </p:txBody>
      </p:sp>
      <p:sp>
        <p:nvSpPr>
          <p:cNvPr id="109" name="Shape 100"/>
          <p:cNvSpPr/>
          <p:nvPr/>
        </p:nvSpPr>
        <p:spPr>
          <a:xfrm>
            <a:off x="15230475" y="4025205"/>
            <a:ext cx="2114550" cy="9525"/>
          </a:xfrm>
          <a:prstGeom prst="rect">
            <a:avLst/>
          </a:prstGeom>
          <a:solidFill>
            <a:srgbClr val="ECECEC"/>
          </a:solidFill>
          <a:ln/>
        </p:spPr>
      </p:sp>
      <p:pic>
        <p:nvPicPr>
          <p:cNvPr id="11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278100" y="4187130"/>
            <a:ext cx="133350" cy="133350"/>
          </a:xfrm>
          <a:prstGeom prst="rect">
            <a:avLst/>
          </a:prstGeom>
        </p:spPr>
      </p:pic>
      <p:sp>
        <p:nvSpPr>
          <p:cNvPr id="111" name="Text 101"/>
          <p:cNvSpPr/>
          <p:nvPr/>
        </p:nvSpPr>
        <p:spPr>
          <a:xfrm>
            <a:off x="15554325" y="4129980"/>
            <a:ext cx="18669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Knowledge Base / RAG</a:t>
            </a:r>
            <a:endParaRPr lang="en-US" sz="1050" dirty="0"/>
          </a:p>
        </p:txBody>
      </p:sp>
      <p:sp>
        <p:nvSpPr>
          <p:cNvPr id="112" name="Text 102"/>
          <p:cNvSpPr/>
          <p:nvPr/>
        </p:nvSpPr>
        <p:spPr>
          <a:xfrm>
            <a:off x="15452725" y="4353818"/>
            <a:ext cx="1968500" cy="20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spc="-9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LLM Suite</a:t>
            </a:r>
            <a:endParaRPr lang="en-US" sz="863" dirty="0"/>
          </a:p>
        </p:txBody>
      </p:sp>
      <p:sp>
        <p:nvSpPr>
          <p:cNvPr id="113" name="Shape 103"/>
          <p:cNvSpPr/>
          <p:nvPr/>
        </p:nvSpPr>
        <p:spPr>
          <a:xfrm>
            <a:off x="15230475" y="4613374"/>
            <a:ext cx="2114550" cy="9525"/>
          </a:xfrm>
          <a:prstGeom prst="rect">
            <a:avLst/>
          </a:prstGeom>
          <a:solidFill>
            <a:srgbClr val="ECECEC"/>
          </a:solidFill>
          <a:ln/>
        </p:spPr>
      </p:sp>
      <p:pic>
        <p:nvPicPr>
          <p:cNvPr id="1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278100" y="4775299"/>
            <a:ext cx="133350" cy="133350"/>
          </a:xfrm>
          <a:prstGeom prst="rect">
            <a:avLst/>
          </a:prstGeom>
        </p:spPr>
      </p:pic>
      <p:sp>
        <p:nvSpPr>
          <p:cNvPr id="115" name="Text 104"/>
          <p:cNvSpPr/>
          <p:nvPr/>
        </p:nvSpPr>
        <p:spPr>
          <a:xfrm>
            <a:off x="15554325" y="4718149"/>
            <a:ext cx="18669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116" name="Text 105"/>
          <p:cNvSpPr/>
          <p:nvPr/>
        </p:nvSpPr>
        <p:spPr>
          <a:xfrm>
            <a:off x="15452725" y="4941987"/>
            <a:ext cx="19685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spc="-9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Splunk · Dynatrace</a:t>
            </a:r>
            <a:endParaRPr lang="en-US" sz="86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63" spc="-9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Cortex · Apica</a:t>
            </a:r>
            <a:endParaRPr lang="en-US" sz="86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63" spc="-9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Alert Hub · Netcool</a:t>
            </a:r>
            <a:endParaRPr lang="en-US" sz="86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63" spc="-9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CloudWatch</a:t>
            </a:r>
            <a:endParaRPr lang="en-US" sz="863" dirty="0"/>
          </a:p>
        </p:txBody>
      </p:sp>
      <p:sp>
        <p:nvSpPr>
          <p:cNvPr id="117" name="Shape 106"/>
          <p:cNvSpPr/>
          <p:nvPr/>
        </p:nvSpPr>
        <p:spPr>
          <a:xfrm>
            <a:off x="15230475" y="5751612"/>
            <a:ext cx="2114550" cy="9525"/>
          </a:xfrm>
          <a:prstGeom prst="rect">
            <a:avLst/>
          </a:prstGeom>
          <a:solidFill>
            <a:srgbClr val="ECECEC"/>
          </a:solidFill>
          <a:ln/>
        </p:spPr>
      </p:sp>
      <p:pic>
        <p:nvPicPr>
          <p:cNvPr id="11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78100" y="5913537"/>
            <a:ext cx="133350" cy="133350"/>
          </a:xfrm>
          <a:prstGeom prst="rect">
            <a:avLst/>
          </a:prstGeom>
        </p:spPr>
      </p:pic>
      <p:sp>
        <p:nvSpPr>
          <p:cNvPr id="119" name="Text 107"/>
          <p:cNvSpPr/>
          <p:nvPr/>
        </p:nvSpPr>
        <p:spPr>
          <a:xfrm>
            <a:off x="15554325" y="5856387"/>
            <a:ext cx="18669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SDLC / JET</a:t>
            </a:r>
            <a:endParaRPr lang="en-US" sz="1050" dirty="0"/>
          </a:p>
        </p:txBody>
      </p:sp>
      <p:sp>
        <p:nvSpPr>
          <p:cNvPr id="120" name="Text 108"/>
          <p:cNvSpPr/>
          <p:nvPr/>
        </p:nvSpPr>
        <p:spPr>
          <a:xfrm>
            <a:off x="15452725" y="6080224"/>
            <a:ext cx="196850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spc="-9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JIRA</a:t>
            </a:r>
            <a:endParaRPr lang="en-US" sz="86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63" spc="-9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Bitbucket · GitHub</a:t>
            </a:r>
            <a:endParaRPr lang="en-US" sz="86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63" spc="-9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Pipeline · OCD · Analytics</a:t>
            </a:r>
            <a:endParaRPr lang="en-US" sz="86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63" spc="-9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DORA Metrics</a:t>
            </a:r>
            <a:endParaRPr lang="en-US" sz="863" dirty="0"/>
          </a:p>
        </p:txBody>
      </p:sp>
      <p:sp>
        <p:nvSpPr>
          <p:cNvPr id="121" name="Shape 109"/>
          <p:cNvSpPr/>
          <p:nvPr/>
        </p:nvSpPr>
        <p:spPr>
          <a:xfrm>
            <a:off x="15230475" y="6889849"/>
            <a:ext cx="2114550" cy="9525"/>
          </a:xfrm>
          <a:prstGeom prst="rect">
            <a:avLst/>
          </a:prstGeom>
          <a:solidFill>
            <a:srgbClr val="ECECEC"/>
          </a:solidFill>
          <a:ln/>
        </p:spPr>
      </p:sp>
      <p:pic>
        <p:nvPicPr>
          <p:cNvPr id="12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278100" y="7051774"/>
            <a:ext cx="133350" cy="133350"/>
          </a:xfrm>
          <a:prstGeom prst="rect">
            <a:avLst/>
          </a:prstGeom>
        </p:spPr>
      </p:pic>
      <p:sp>
        <p:nvSpPr>
          <p:cNvPr id="123" name="Text 110"/>
          <p:cNvSpPr/>
          <p:nvPr/>
        </p:nvSpPr>
        <p:spPr>
          <a:xfrm>
            <a:off x="15554325" y="6994624"/>
            <a:ext cx="18669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spc="-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Internal Systems</a:t>
            </a:r>
            <a:endParaRPr lang="en-US" sz="1050" dirty="0"/>
          </a:p>
        </p:txBody>
      </p:sp>
      <p:sp>
        <p:nvSpPr>
          <p:cNvPr id="124" name="Text 111"/>
          <p:cNvSpPr/>
          <p:nvPr/>
        </p:nvSpPr>
        <p:spPr>
          <a:xfrm>
            <a:off x="15452725" y="7218462"/>
            <a:ext cx="1968500" cy="569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63" spc="-9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Matrix · ServiceNow</a:t>
            </a:r>
            <a:endParaRPr lang="en-US" sz="86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63" spc="-9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GTAM Insights</a:t>
            </a:r>
            <a:endParaRPr lang="en-US" sz="863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863" spc="-9" kern="0" dirty="0">
                <a:solidFill>
                  <a:srgbClr val="7A706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IEP · ArchExchange</a:t>
            </a:r>
            <a:endParaRPr lang="en-US" sz="863" dirty="0"/>
          </a:p>
        </p:txBody>
      </p:sp>
      <p:sp>
        <p:nvSpPr>
          <p:cNvPr id="125" name="Shape 112"/>
          <p:cNvSpPr/>
          <p:nvPr/>
        </p:nvSpPr>
        <p:spPr>
          <a:xfrm>
            <a:off x="762000" y="8722965"/>
            <a:ext cx="16764000" cy="1030635"/>
          </a:xfrm>
          <a:prstGeom prst="roundRect">
            <a:avLst>
              <a:gd name="adj" fmla="val 7394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26" name="Shape 113"/>
          <p:cNvSpPr/>
          <p:nvPr/>
        </p:nvSpPr>
        <p:spPr>
          <a:xfrm>
            <a:off x="2314575" y="9081046"/>
            <a:ext cx="9525" cy="314325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7" name="Text 114"/>
          <p:cNvSpPr/>
          <p:nvPr/>
        </p:nvSpPr>
        <p:spPr>
          <a:xfrm>
            <a:off x="1000125" y="9081046"/>
            <a:ext cx="1162050" cy="161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spc="120" kern="0" dirty="0">
                <a:solidFill>
                  <a:srgbClr val="C953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L4 · FOUNDATION</a:t>
            </a:r>
            <a:endParaRPr lang="en-US" sz="750" dirty="0"/>
          </a:p>
        </p:txBody>
      </p:sp>
      <p:sp>
        <p:nvSpPr>
          <p:cNvPr id="128" name="Text 115"/>
          <p:cNvSpPr/>
          <p:nvPr/>
        </p:nvSpPr>
        <p:spPr>
          <a:xfrm>
            <a:off x="1000125" y="9242971"/>
            <a:ext cx="116205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-5" kern="0" dirty="0">
                <a:solidFill>
                  <a:srgbClr val="1511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129" name="Shape 116"/>
          <p:cNvSpPr/>
          <p:nvPr/>
        </p:nvSpPr>
        <p:spPr>
          <a:xfrm>
            <a:off x="2552700" y="9104858"/>
            <a:ext cx="749052" cy="266700"/>
          </a:xfrm>
          <a:prstGeom prst="roundRect">
            <a:avLst>
              <a:gd name="adj" fmla="val 14286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130" name="Text 117"/>
          <p:cNvSpPr/>
          <p:nvPr/>
        </p:nvSpPr>
        <p:spPr>
          <a:xfrm>
            <a:off x="2657475" y="9162008"/>
            <a:ext cx="61570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-9" kern="0" dirty="0">
                <a:solidFill>
                  <a:srgbClr val="A843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SmartSDK</a:t>
            </a:r>
            <a:endParaRPr lang="en-US" sz="900" dirty="0"/>
          </a:p>
        </p:txBody>
      </p:sp>
      <p:sp>
        <p:nvSpPr>
          <p:cNvPr id="131" name="Shape 118"/>
          <p:cNvSpPr/>
          <p:nvPr/>
        </p:nvSpPr>
        <p:spPr>
          <a:xfrm>
            <a:off x="3358902" y="9104858"/>
            <a:ext cx="681633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32" name="Text 119"/>
          <p:cNvSpPr/>
          <p:nvPr/>
        </p:nvSpPr>
        <p:spPr>
          <a:xfrm>
            <a:off x="3463677" y="9162008"/>
            <a:ext cx="54828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A41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DataAPI</a:t>
            </a:r>
            <a:endParaRPr lang="en-US" sz="900" dirty="0"/>
          </a:p>
        </p:txBody>
      </p:sp>
      <p:sp>
        <p:nvSpPr>
          <p:cNvPr id="133" name="Shape 120"/>
          <p:cNvSpPr/>
          <p:nvPr/>
        </p:nvSpPr>
        <p:spPr>
          <a:xfrm>
            <a:off x="4097685" y="9104858"/>
            <a:ext cx="479375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34" name="Text 121"/>
          <p:cNvSpPr/>
          <p:nvPr/>
        </p:nvSpPr>
        <p:spPr>
          <a:xfrm>
            <a:off x="4202460" y="9162008"/>
            <a:ext cx="34602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A41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EKHT</a:t>
            </a:r>
            <a:endParaRPr lang="en-US" sz="900" dirty="0"/>
          </a:p>
        </p:txBody>
      </p:sp>
      <p:sp>
        <p:nvSpPr>
          <p:cNvPr id="135" name="Shape 122"/>
          <p:cNvSpPr/>
          <p:nvPr/>
        </p:nvSpPr>
        <p:spPr>
          <a:xfrm>
            <a:off x="4634210" y="9104858"/>
            <a:ext cx="614214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36" name="Text 123"/>
          <p:cNvSpPr/>
          <p:nvPr/>
        </p:nvSpPr>
        <p:spPr>
          <a:xfrm>
            <a:off x="4738985" y="9162008"/>
            <a:ext cx="48086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A41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Skills</a:t>
            </a:r>
            <a:endParaRPr lang="en-US" sz="900" dirty="0"/>
          </a:p>
        </p:txBody>
      </p:sp>
      <p:sp>
        <p:nvSpPr>
          <p:cNvPr id="137" name="Shape 124"/>
          <p:cNvSpPr/>
          <p:nvPr/>
        </p:nvSpPr>
        <p:spPr>
          <a:xfrm>
            <a:off x="5305574" y="9104858"/>
            <a:ext cx="614214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38" name="Text 125"/>
          <p:cNvSpPr/>
          <p:nvPr/>
        </p:nvSpPr>
        <p:spPr>
          <a:xfrm>
            <a:off x="5410349" y="9162008"/>
            <a:ext cx="48086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A41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S3</a:t>
            </a:r>
            <a:endParaRPr lang="en-US" sz="900" dirty="0"/>
          </a:p>
        </p:txBody>
      </p:sp>
      <p:sp>
        <p:nvSpPr>
          <p:cNvPr id="139" name="Shape 126"/>
          <p:cNvSpPr/>
          <p:nvPr/>
        </p:nvSpPr>
        <p:spPr>
          <a:xfrm>
            <a:off x="5976938" y="9104858"/>
            <a:ext cx="1221135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40" name="Text 127"/>
          <p:cNvSpPr/>
          <p:nvPr/>
        </p:nvSpPr>
        <p:spPr>
          <a:xfrm>
            <a:off x="6081712" y="9162008"/>
            <a:ext cx="1087785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A41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ECS NextGen</a:t>
            </a:r>
            <a:endParaRPr lang="en-US" sz="900" dirty="0"/>
          </a:p>
        </p:txBody>
      </p:sp>
      <p:sp>
        <p:nvSpPr>
          <p:cNvPr id="141" name="Shape 128"/>
          <p:cNvSpPr/>
          <p:nvPr/>
        </p:nvSpPr>
        <p:spPr>
          <a:xfrm>
            <a:off x="7255222" y="9104858"/>
            <a:ext cx="1356122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42" name="Text 129"/>
          <p:cNvSpPr/>
          <p:nvPr/>
        </p:nvSpPr>
        <p:spPr>
          <a:xfrm>
            <a:off x="7359997" y="9162008"/>
            <a:ext cx="122277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A41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Elastic Cache</a:t>
            </a:r>
            <a:endParaRPr lang="en-US" sz="900" dirty="0"/>
          </a:p>
        </p:txBody>
      </p:sp>
      <p:sp>
        <p:nvSpPr>
          <p:cNvPr id="143" name="Shape 130"/>
          <p:cNvSpPr/>
          <p:nvPr/>
        </p:nvSpPr>
        <p:spPr>
          <a:xfrm>
            <a:off x="8668494" y="9104858"/>
            <a:ext cx="1490960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44" name="Text 131"/>
          <p:cNvSpPr/>
          <p:nvPr/>
        </p:nvSpPr>
        <p:spPr>
          <a:xfrm>
            <a:off x="8773269" y="9162008"/>
            <a:ext cx="135761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A41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AWS Aurora Postgres</a:t>
            </a:r>
            <a:endParaRPr lang="en-US" sz="900" dirty="0"/>
          </a:p>
        </p:txBody>
      </p:sp>
      <p:sp>
        <p:nvSpPr>
          <p:cNvPr id="145" name="Shape 132"/>
          <p:cNvSpPr/>
          <p:nvPr/>
        </p:nvSpPr>
        <p:spPr>
          <a:xfrm>
            <a:off x="10216604" y="9104858"/>
            <a:ext cx="816620" cy="2667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E0E0E0"/>
            </a:solidFill>
            <a:prstDash val="solid"/>
          </a:ln>
        </p:spPr>
      </p:sp>
      <p:sp>
        <p:nvSpPr>
          <p:cNvPr id="146" name="Text 133"/>
          <p:cNvSpPr/>
          <p:nvPr/>
        </p:nvSpPr>
        <p:spPr>
          <a:xfrm>
            <a:off x="10321379" y="9162008"/>
            <a:ext cx="68327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spc="-9" kern="0" dirty="0">
                <a:solidFill>
                  <a:srgbClr val="4A413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Dynatrace</a:t>
            </a:r>
            <a:endParaRPr lang="en-US" sz="900" dirty="0"/>
          </a:p>
        </p:txBody>
      </p:sp>
      <p:sp>
        <p:nvSpPr>
          <p:cNvPr id="147" name="Shape 134"/>
          <p:cNvSpPr/>
          <p:nvPr/>
        </p:nvSpPr>
        <p:spPr>
          <a:xfrm>
            <a:off x="11090374" y="9104858"/>
            <a:ext cx="1558379" cy="266700"/>
          </a:xfrm>
          <a:prstGeom prst="roundRect">
            <a:avLst>
              <a:gd name="adj" fmla="val 14286"/>
            </a:avLst>
          </a:prstGeom>
          <a:solidFill>
            <a:srgbClr val="FBEFE5"/>
          </a:solidFill>
          <a:ln w="9525">
            <a:solidFill>
              <a:srgbClr val="E8B998"/>
            </a:solidFill>
            <a:prstDash val="solid"/>
          </a:ln>
        </p:spPr>
      </p:sp>
      <p:sp>
        <p:nvSpPr>
          <p:cNvPr id="148" name="Text 135"/>
          <p:cNvSpPr/>
          <p:nvPr/>
        </p:nvSpPr>
        <p:spPr>
          <a:xfrm>
            <a:off x="11195149" y="9162008"/>
            <a:ext cx="14250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-9" kern="0" dirty="0">
                <a:solidFill>
                  <a:srgbClr val="A8431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Fusion AI Governance</a:t>
            </a:r>
            <a:endParaRPr lang="en-US" sz="900" dirty="0"/>
          </a:p>
        </p:txBody>
      </p:sp>
      <p:sp>
        <p:nvSpPr>
          <p:cNvPr id="149" name="Shape 136"/>
          <p:cNvSpPr/>
          <p:nvPr/>
        </p:nvSpPr>
        <p:spPr>
          <a:xfrm>
            <a:off x="16474380" y="9095333"/>
            <a:ext cx="9525" cy="285750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0" name="Text 137"/>
          <p:cNvSpPr/>
          <p:nvPr/>
        </p:nvSpPr>
        <p:spPr>
          <a:xfrm>
            <a:off x="16636305" y="9095333"/>
            <a:ext cx="72777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108" kern="0" dirty="0">
                <a:solidFill>
                  <a:srgbClr val="A89F9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POWERED BY</a:t>
            </a:r>
            <a:endParaRPr lang="en-US" sz="675" dirty="0"/>
          </a:p>
        </p:txBody>
      </p:sp>
      <p:sp>
        <p:nvSpPr>
          <p:cNvPr id="151" name="Text 138"/>
          <p:cNvSpPr/>
          <p:nvPr/>
        </p:nvSpPr>
        <p:spPr>
          <a:xfrm>
            <a:off x="16834693" y="9228683"/>
            <a:ext cx="52938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spc="21" kern="0" dirty="0">
                <a:solidFill>
                  <a:srgbClr val="C9531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Fusion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2026-05-05T22:23:44Z</dcterms:created>
  <dcterms:modified xsi:type="dcterms:W3CDTF">2026-05-05T22:23:44Z</dcterms:modified>
</cp:coreProperties>
</file>