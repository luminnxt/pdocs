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381000"/>
            <a:ext cx="9820126" cy="200025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381000"/>
            <a:ext cx="101147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638175"/>
            <a:ext cx="1011473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50" b="1" spc="-52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Reference Architecture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09600" y="1174403"/>
            <a:ext cx="101147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Agent-driven incident response, change governance, and problem management — built on the LLM Suite.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345073" y="694432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244292" y="656332"/>
            <a:ext cx="1434108" cy="29334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9" name="Text 7"/>
          <p:cNvSpPr/>
          <p:nvPr/>
        </p:nvSpPr>
        <p:spPr>
          <a:xfrm>
            <a:off x="16263342" y="684907"/>
            <a:ext cx="131980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96" kern="0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— Draft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47026" y="949672"/>
            <a:ext cx="27313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 </a:t>
            </a:r>
            <a:pPr algn="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47026" y="1185863"/>
            <a:ext cx="27313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</a:t>
            </a:r>
            <a:pPr algn="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" y="1764953"/>
            <a:ext cx="914400" cy="731058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6D28D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200" y="1945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2069753"/>
            <a:ext cx="209550" cy="2095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0885" y="2479328"/>
            <a:ext cx="35168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838200" y="39853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4109145"/>
            <a:ext cx="209550" cy="209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5413" y="4518720"/>
            <a:ext cx="28262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838200" y="602471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6148536"/>
            <a:ext cx="209550" cy="209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5566" y="6558111"/>
            <a:ext cx="70246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 Assistants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838200" y="821263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8336459"/>
            <a:ext cx="209550" cy="2095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7209" y="8746034"/>
            <a:ext cx="59918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975" dirty="0"/>
          </a:p>
        </p:txBody>
      </p:sp>
      <p:sp>
        <p:nvSpPr>
          <p:cNvPr id="25" name="Shape 19"/>
          <p:cNvSpPr/>
          <p:nvPr/>
        </p:nvSpPr>
        <p:spPr>
          <a:xfrm>
            <a:off x="1657350" y="1764953"/>
            <a:ext cx="12211050" cy="2143720"/>
          </a:xfrm>
          <a:prstGeom prst="roundRect">
            <a:avLst>
              <a:gd name="adj" fmla="val 622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680210" y="1926878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857375" y="2193578"/>
            <a:ext cx="3860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000250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962150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2438400" y="2393603"/>
            <a:ext cx="1383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Agent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832425" y="2193578"/>
            <a:ext cx="3860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975300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937200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975" dirty="0"/>
          </a:p>
        </p:txBody>
      </p:sp>
      <p:sp>
        <p:nvSpPr>
          <p:cNvPr id="34" name="Text 28"/>
          <p:cNvSpPr/>
          <p:nvPr/>
        </p:nvSpPr>
        <p:spPr>
          <a:xfrm>
            <a:off x="6413450" y="2393603"/>
            <a:ext cx="1281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 Agent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807476" y="2193578"/>
            <a:ext cx="3860899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950351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9912251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975" dirty="0"/>
          </a:p>
        </p:txBody>
      </p:sp>
      <p:sp>
        <p:nvSpPr>
          <p:cNvPr id="38" name="Text 32"/>
          <p:cNvSpPr/>
          <p:nvPr/>
        </p:nvSpPr>
        <p:spPr>
          <a:xfrm>
            <a:off x="10388501" y="2393603"/>
            <a:ext cx="13998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Agent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657350" y="4042023"/>
            <a:ext cx="12211050" cy="1735485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1680210" y="4203948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1857375" y="4470648"/>
            <a:ext cx="209550" cy="20955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5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518273"/>
            <a:ext cx="114300" cy="114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181225" y="4494461"/>
            <a:ext cx="37665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incidents — live signal from observability + ticketing</a:t>
            </a:r>
            <a:endParaRPr lang="en-US" sz="1125" dirty="0"/>
          </a:p>
        </p:txBody>
      </p:sp>
      <p:sp>
        <p:nvSpPr>
          <p:cNvPr id="44" name="Shape 37"/>
          <p:cNvSpPr/>
          <p:nvPr/>
        </p:nvSpPr>
        <p:spPr>
          <a:xfrm>
            <a:off x="1857375" y="4775448"/>
            <a:ext cx="209550" cy="20955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5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823073"/>
            <a:ext cx="114300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181225" y="4799261"/>
            <a:ext cx="3877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changes — recent deploys, configs, and feature flags</a:t>
            </a:r>
            <a:endParaRPr lang="en-US" sz="1125" dirty="0"/>
          </a:p>
        </p:txBody>
      </p:sp>
      <p:sp>
        <p:nvSpPr>
          <p:cNvPr id="47" name="Shape 39"/>
          <p:cNvSpPr/>
          <p:nvPr/>
        </p:nvSpPr>
        <p:spPr>
          <a:xfrm>
            <a:off x="1657350" y="5910858"/>
            <a:ext cx="12211050" cy="3164681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1680210" y="6072783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EXPERIENCE | PERSONA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1857375" y="634900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1933575" y="637758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2261295" y="6339483"/>
            <a:ext cx="2419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 change-governance gating</a:t>
            </a:r>
            <a:endParaRPr lang="en-US" sz="1125" dirty="0"/>
          </a:p>
        </p:txBody>
      </p:sp>
      <p:sp>
        <p:nvSpPr>
          <p:cNvPr id="52" name="Shape 44"/>
          <p:cNvSpPr/>
          <p:nvPr/>
        </p:nvSpPr>
        <p:spPr>
          <a:xfrm>
            <a:off x="7896225" y="634900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3" name="Text 45"/>
          <p:cNvSpPr/>
          <p:nvPr/>
        </p:nvSpPr>
        <p:spPr>
          <a:xfrm>
            <a:off x="7972425" y="637758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8300145" y="6339483"/>
            <a:ext cx="3419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AI-enabled production acceleration with reduced risk</a:t>
            </a:r>
            <a:endParaRPr lang="en-US" sz="1125" dirty="0"/>
          </a:p>
        </p:txBody>
      </p:sp>
      <p:sp>
        <p:nvSpPr>
          <p:cNvPr id="55" name="Shape 47"/>
          <p:cNvSpPr/>
          <p:nvPr/>
        </p:nvSpPr>
        <p:spPr>
          <a:xfrm>
            <a:off x="1857375" y="6663333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6" name="Text 48"/>
          <p:cNvSpPr/>
          <p:nvPr/>
        </p:nvSpPr>
        <p:spPr>
          <a:xfrm>
            <a:off x="1933575" y="6691908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2261295" y="6653808"/>
            <a:ext cx="26997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event detection and resolution</a:t>
            </a:r>
            <a:endParaRPr lang="en-US" sz="1125" dirty="0"/>
          </a:p>
        </p:txBody>
      </p:sp>
      <p:sp>
        <p:nvSpPr>
          <p:cNvPr id="58" name="Shape 50"/>
          <p:cNvSpPr/>
          <p:nvPr/>
        </p:nvSpPr>
        <p:spPr>
          <a:xfrm>
            <a:off x="7896225" y="6663333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9" name="Text 51"/>
          <p:cNvSpPr/>
          <p:nvPr/>
        </p:nvSpPr>
        <p:spPr>
          <a:xfrm>
            <a:off x="7972425" y="6691908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8300145" y="6653808"/>
            <a:ext cx="30594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 and accelerate problem management</a:t>
            </a:r>
            <a:endParaRPr lang="en-US" sz="1125" dirty="0"/>
          </a:p>
        </p:txBody>
      </p:sp>
      <p:sp>
        <p:nvSpPr>
          <p:cNvPr id="61" name="Shape 53"/>
          <p:cNvSpPr/>
          <p:nvPr/>
        </p:nvSpPr>
        <p:spPr>
          <a:xfrm>
            <a:off x="1857375" y="697765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62" name="Text 54"/>
          <p:cNvSpPr/>
          <p:nvPr/>
        </p:nvSpPr>
        <p:spPr>
          <a:xfrm>
            <a:off x="1933575" y="700623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2261295" y="6968133"/>
            <a:ext cx="24351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AIOps-enabled incident management</a:t>
            </a:r>
            <a:endParaRPr lang="en-US" sz="1125" dirty="0"/>
          </a:p>
        </p:txBody>
      </p:sp>
      <p:sp>
        <p:nvSpPr>
          <p:cNvPr id="64" name="Shape 56"/>
          <p:cNvSpPr/>
          <p:nvPr/>
        </p:nvSpPr>
        <p:spPr>
          <a:xfrm>
            <a:off x="7896225" y="697765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65" name="Text 57"/>
          <p:cNvSpPr/>
          <p:nvPr/>
        </p:nvSpPr>
        <p:spPr>
          <a:xfrm>
            <a:off x="7972425" y="700623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66" name="Text 58"/>
          <p:cNvSpPr/>
          <p:nvPr/>
        </p:nvSpPr>
        <p:spPr>
          <a:xfrm>
            <a:off x="8300145" y="6968133"/>
            <a:ext cx="34846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 across recurring incident classes</a:t>
            </a:r>
            <a:endParaRPr lang="en-US" sz="1125" dirty="0"/>
          </a:p>
        </p:txBody>
      </p:sp>
      <p:sp>
        <p:nvSpPr>
          <p:cNvPr id="67" name="Shape 59"/>
          <p:cNvSpPr/>
          <p:nvPr/>
        </p:nvSpPr>
        <p:spPr>
          <a:xfrm>
            <a:off x="14001750" y="1764953"/>
            <a:ext cx="1257300" cy="7310586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EA580C">
                <a:alpha val="30000"/>
              </a:srgbClr>
            </a:outerShdw>
          </a:effectLst>
        </p:spPr>
      </p:sp>
      <p:sp>
        <p:nvSpPr>
          <p:cNvPr id="68" name="Text 60"/>
          <p:cNvSpPr/>
          <p:nvPr/>
        </p:nvSpPr>
        <p:spPr>
          <a:xfrm>
            <a:off x="14068425" y="190782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EA58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</a:t>
            </a:r>
            <a:endParaRPr lang="en-US" sz="1050" dirty="0"/>
          </a:p>
        </p:txBody>
      </p:sp>
      <p:sp>
        <p:nvSpPr>
          <p:cNvPr id="69" name="Shape 61"/>
          <p:cNvSpPr/>
          <p:nvPr/>
        </p:nvSpPr>
        <p:spPr>
          <a:xfrm>
            <a:off x="14420850" y="2926110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0" name="Text 62"/>
          <p:cNvSpPr/>
          <p:nvPr/>
        </p:nvSpPr>
        <p:spPr>
          <a:xfrm>
            <a:off x="14382750" y="292611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200" dirty="0"/>
          </a:p>
        </p:txBody>
      </p:sp>
      <p:sp>
        <p:nvSpPr>
          <p:cNvPr id="71" name="Text 63"/>
          <p:cNvSpPr/>
          <p:nvPr/>
        </p:nvSpPr>
        <p:spPr>
          <a:xfrm>
            <a:off x="14285714" y="3402360"/>
            <a:ext cx="76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14410283" y="361191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825" dirty="0"/>
          </a:p>
        </p:txBody>
      </p:sp>
      <p:sp>
        <p:nvSpPr>
          <p:cNvPr id="73" name="Shape 65"/>
          <p:cNvSpPr/>
          <p:nvPr/>
        </p:nvSpPr>
        <p:spPr>
          <a:xfrm>
            <a:off x="14420701" y="5134421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14382601" y="513442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200" dirty="0"/>
          </a:p>
        </p:txBody>
      </p:sp>
      <p:sp>
        <p:nvSpPr>
          <p:cNvPr id="75" name="Text 67"/>
          <p:cNvSpPr/>
          <p:nvPr/>
        </p:nvSpPr>
        <p:spPr>
          <a:xfrm>
            <a:off x="14289435" y="5610671"/>
            <a:ext cx="7579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76" name="Text 68"/>
          <p:cNvSpPr/>
          <p:nvPr/>
        </p:nvSpPr>
        <p:spPr>
          <a:xfrm>
            <a:off x="14504491" y="5820221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</a:t>
            </a:r>
            <a:endParaRPr lang="en-US" sz="825" dirty="0"/>
          </a:p>
        </p:txBody>
      </p:sp>
      <p:sp>
        <p:nvSpPr>
          <p:cNvPr id="77" name="Shape 69"/>
          <p:cNvSpPr/>
          <p:nvPr/>
        </p:nvSpPr>
        <p:spPr>
          <a:xfrm>
            <a:off x="14420701" y="7342584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8" name="Text 70"/>
          <p:cNvSpPr/>
          <p:nvPr/>
        </p:nvSpPr>
        <p:spPr>
          <a:xfrm>
            <a:off x="14382601" y="73425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1200" dirty="0"/>
          </a:p>
        </p:txBody>
      </p:sp>
      <p:sp>
        <p:nvSpPr>
          <p:cNvPr id="79" name="Text 71"/>
          <p:cNvSpPr/>
          <p:nvPr/>
        </p:nvSpPr>
        <p:spPr>
          <a:xfrm>
            <a:off x="14267259" y="7818834"/>
            <a:ext cx="8023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80" name="Text 72"/>
          <p:cNvSpPr/>
          <p:nvPr/>
        </p:nvSpPr>
        <p:spPr>
          <a:xfrm>
            <a:off x="14347329" y="8028384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retrieval</a:t>
            </a:r>
            <a:endParaRPr lang="en-US" sz="825" dirty="0"/>
          </a:p>
        </p:txBody>
      </p:sp>
      <p:sp>
        <p:nvSpPr>
          <p:cNvPr id="81" name="Shape 73"/>
          <p:cNvSpPr/>
          <p:nvPr/>
        </p:nvSpPr>
        <p:spPr>
          <a:xfrm>
            <a:off x="15392400" y="1764953"/>
            <a:ext cx="2286000" cy="731058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15803D">
                <a:alpha val="30000"/>
              </a:srgbClr>
            </a:outerShdw>
          </a:effectLst>
        </p:spPr>
      </p:sp>
      <p:sp>
        <p:nvSpPr>
          <p:cNvPr id="82" name="Shape 74"/>
          <p:cNvSpPr/>
          <p:nvPr/>
        </p:nvSpPr>
        <p:spPr>
          <a:xfrm>
            <a:off x="15573375" y="186972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  <a:effectLst>
            <a:outerShdw sx="100000" sy="100000" kx="0" ky="0" algn="bl" rotWithShape="0" blurRad="95250" dist="38100" dir="5400000">
              <a:srgbClr val="15803D">
                <a:alpha val="50000"/>
              </a:srgbClr>
            </a:outerShdw>
          </a:effectLst>
        </p:spPr>
      </p:sp>
      <p:sp>
        <p:nvSpPr>
          <p:cNvPr id="83" name="Text 75"/>
          <p:cNvSpPr/>
          <p:nvPr/>
        </p:nvSpPr>
        <p:spPr>
          <a:xfrm>
            <a:off x="15535275" y="186972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750" dirty="0"/>
          </a:p>
        </p:txBody>
      </p:sp>
      <p:sp>
        <p:nvSpPr>
          <p:cNvPr id="84" name="Text 76"/>
          <p:cNvSpPr/>
          <p:nvPr/>
        </p:nvSpPr>
        <p:spPr>
          <a:xfrm>
            <a:off x="15897225" y="1898303"/>
            <a:ext cx="15149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6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| Connectors</a:t>
            </a:r>
            <a:endParaRPr lang="en-US" sz="1200" dirty="0"/>
          </a:p>
        </p:txBody>
      </p:sp>
      <p:sp>
        <p:nvSpPr>
          <p:cNvPr id="85" name="Shape 77"/>
          <p:cNvSpPr/>
          <p:nvPr/>
        </p:nvSpPr>
        <p:spPr>
          <a:xfrm>
            <a:off x="15535275" y="2155478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15640050" y="223167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D2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 (DBC)</a:t>
            </a:r>
            <a:endParaRPr lang="en-US" sz="825" dirty="0"/>
          </a:p>
        </p:txBody>
      </p:sp>
      <p:sp>
        <p:nvSpPr>
          <p:cNvPr id="87" name="Shape 79"/>
          <p:cNvSpPr/>
          <p:nvPr/>
        </p:nvSpPr>
        <p:spPr>
          <a:xfrm>
            <a:off x="15640050" y="2393603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88" name="Text 80"/>
          <p:cNvSpPr/>
          <p:nvPr/>
        </p:nvSpPr>
        <p:spPr>
          <a:xfrm>
            <a:off x="15725775" y="2431703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data-warehouse</a:t>
            </a:r>
            <a:endParaRPr lang="en-US" sz="825" dirty="0"/>
          </a:p>
        </p:txBody>
      </p:sp>
      <p:sp>
        <p:nvSpPr>
          <p:cNvPr id="89" name="Shape 81"/>
          <p:cNvSpPr/>
          <p:nvPr/>
        </p:nvSpPr>
        <p:spPr>
          <a:xfrm>
            <a:off x="16729770" y="2393603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0" name="Text 82"/>
          <p:cNvSpPr/>
          <p:nvPr/>
        </p:nvSpPr>
        <p:spPr>
          <a:xfrm>
            <a:off x="16815495" y="2431703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lakehouse</a:t>
            </a:r>
            <a:endParaRPr lang="en-US" sz="825" dirty="0"/>
          </a:p>
        </p:txBody>
      </p:sp>
      <p:sp>
        <p:nvSpPr>
          <p:cNvPr id="91" name="Shape 83"/>
          <p:cNvSpPr/>
          <p:nvPr/>
        </p:nvSpPr>
        <p:spPr>
          <a:xfrm>
            <a:off x="15640050" y="2641253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2" name="Text 84"/>
          <p:cNvSpPr/>
          <p:nvPr/>
        </p:nvSpPr>
        <p:spPr>
          <a:xfrm>
            <a:off x="15725775" y="2679353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vector-db</a:t>
            </a:r>
            <a:endParaRPr lang="en-US" sz="825" dirty="0"/>
          </a:p>
        </p:txBody>
      </p:sp>
      <p:sp>
        <p:nvSpPr>
          <p:cNvPr id="93" name="Shape 85"/>
          <p:cNvSpPr/>
          <p:nvPr/>
        </p:nvSpPr>
        <p:spPr>
          <a:xfrm>
            <a:off x="16415445" y="2641253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4" name="Text 86"/>
          <p:cNvSpPr/>
          <p:nvPr/>
        </p:nvSpPr>
        <p:spPr>
          <a:xfrm>
            <a:off x="16501170" y="2679353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825" dirty="0"/>
          </a:p>
        </p:txBody>
      </p:sp>
      <p:sp>
        <p:nvSpPr>
          <p:cNvPr id="95" name="Shape 87"/>
          <p:cNvSpPr/>
          <p:nvPr/>
        </p:nvSpPr>
        <p:spPr>
          <a:xfrm>
            <a:off x="15535275" y="2984153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96" name="Text 88"/>
          <p:cNvSpPr/>
          <p:nvPr/>
        </p:nvSpPr>
        <p:spPr>
          <a:xfrm>
            <a:off x="15640050" y="3060353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825" dirty="0"/>
          </a:p>
        </p:txBody>
      </p:sp>
      <p:sp>
        <p:nvSpPr>
          <p:cNvPr id="97" name="Shape 89"/>
          <p:cNvSpPr/>
          <p:nvPr/>
        </p:nvSpPr>
        <p:spPr>
          <a:xfrm>
            <a:off x="15640050" y="3222278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98" name="Text 90"/>
          <p:cNvSpPr/>
          <p:nvPr/>
        </p:nvSpPr>
        <p:spPr>
          <a:xfrm>
            <a:off x="15725775" y="3260378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</a:t>
            </a:r>
            <a:endParaRPr lang="en-US" sz="825" dirty="0"/>
          </a:p>
        </p:txBody>
      </p:sp>
      <p:sp>
        <p:nvSpPr>
          <p:cNvPr id="99" name="Shape 91"/>
          <p:cNvSpPr/>
          <p:nvPr/>
        </p:nvSpPr>
        <p:spPr>
          <a:xfrm>
            <a:off x="16352639" y="3222278"/>
            <a:ext cx="863054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00" name="Text 92"/>
          <p:cNvSpPr/>
          <p:nvPr/>
        </p:nvSpPr>
        <p:spPr>
          <a:xfrm>
            <a:off x="16438364" y="3260378"/>
            <a:ext cx="7678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postmortems</a:t>
            </a:r>
            <a:endParaRPr lang="en-US" sz="825" dirty="0"/>
          </a:p>
        </p:txBody>
      </p:sp>
      <p:sp>
        <p:nvSpPr>
          <p:cNvPr id="101" name="Shape 93"/>
          <p:cNvSpPr/>
          <p:nvPr/>
        </p:nvSpPr>
        <p:spPr>
          <a:xfrm>
            <a:off x="15640050" y="3469928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02" name="Text 94"/>
          <p:cNvSpPr/>
          <p:nvPr/>
        </p:nvSpPr>
        <p:spPr>
          <a:xfrm>
            <a:off x="15725775" y="3508028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arch-docs</a:t>
            </a:r>
            <a:endParaRPr lang="en-US" sz="825" dirty="0"/>
          </a:p>
        </p:txBody>
      </p:sp>
      <p:sp>
        <p:nvSpPr>
          <p:cNvPr id="103" name="Shape 95"/>
          <p:cNvSpPr/>
          <p:nvPr/>
        </p:nvSpPr>
        <p:spPr>
          <a:xfrm>
            <a:off x="15535275" y="3812828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04" name="Text 96"/>
          <p:cNvSpPr/>
          <p:nvPr/>
        </p:nvSpPr>
        <p:spPr>
          <a:xfrm>
            <a:off x="15640050" y="388902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TOOLS</a:t>
            </a:r>
            <a:endParaRPr lang="en-US" sz="825" dirty="0"/>
          </a:p>
        </p:txBody>
      </p:sp>
      <p:sp>
        <p:nvSpPr>
          <p:cNvPr id="105" name="Shape 97"/>
          <p:cNvSpPr/>
          <p:nvPr/>
        </p:nvSpPr>
        <p:spPr>
          <a:xfrm>
            <a:off x="15640050" y="4050953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06" name="Text 98"/>
          <p:cNvSpPr/>
          <p:nvPr/>
        </p:nvSpPr>
        <p:spPr>
          <a:xfrm>
            <a:off x="15725775" y="4089053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</a:t>
            </a:r>
            <a:endParaRPr lang="en-US" sz="825" dirty="0"/>
          </a:p>
        </p:txBody>
      </p:sp>
      <p:sp>
        <p:nvSpPr>
          <p:cNvPr id="107" name="Shape 99"/>
          <p:cNvSpPr/>
          <p:nvPr/>
        </p:nvSpPr>
        <p:spPr>
          <a:xfrm>
            <a:off x="16101120" y="4050953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08" name="Text 100"/>
          <p:cNvSpPr/>
          <p:nvPr/>
        </p:nvSpPr>
        <p:spPr>
          <a:xfrm>
            <a:off x="16186845" y="4089053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traces</a:t>
            </a:r>
            <a:endParaRPr lang="en-US" sz="825" dirty="0"/>
          </a:p>
        </p:txBody>
      </p:sp>
      <p:sp>
        <p:nvSpPr>
          <p:cNvPr id="109" name="Shape 101"/>
          <p:cNvSpPr/>
          <p:nvPr/>
        </p:nvSpPr>
        <p:spPr>
          <a:xfrm>
            <a:off x="16687949" y="4050953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0" name="Text 102"/>
          <p:cNvSpPr/>
          <p:nvPr/>
        </p:nvSpPr>
        <p:spPr>
          <a:xfrm>
            <a:off x="16773674" y="4089053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</a:t>
            </a:r>
            <a:endParaRPr lang="en-US" sz="825" dirty="0"/>
          </a:p>
        </p:txBody>
      </p:sp>
      <p:sp>
        <p:nvSpPr>
          <p:cNvPr id="111" name="Shape 103"/>
          <p:cNvSpPr/>
          <p:nvPr/>
        </p:nvSpPr>
        <p:spPr>
          <a:xfrm>
            <a:off x="15640050" y="4298603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2" name="Text 104"/>
          <p:cNvSpPr/>
          <p:nvPr/>
        </p:nvSpPr>
        <p:spPr>
          <a:xfrm>
            <a:off x="15725775" y="4336703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alerting</a:t>
            </a:r>
            <a:endParaRPr lang="en-US" sz="825" dirty="0"/>
          </a:p>
        </p:txBody>
      </p:sp>
      <p:sp>
        <p:nvSpPr>
          <p:cNvPr id="113" name="Shape 105"/>
          <p:cNvSpPr/>
          <p:nvPr/>
        </p:nvSpPr>
        <p:spPr>
          <a:xfrm>
            <a:off x="16352639" y="4298603"/>
            <a:ext cx="360164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4" name="Text 106"/>
          <p:cNvSpPr/>
          <p:nvPr/>
        </p:nvSpPr>
        <p:spPr>
          <a:xfrm>
            <a:off x="16438364" y="4336703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apm</a:t>
            </a:r>
            <a:endParaRPr lang="en-US" sz="825" dirty="0"/>
          </a:p>
        </p:txBody>
      </p:sp>
      <p:sp>
        <p:nvSpPr>
          <p:cNvPr id="115" name="Shape 107"/>
          <p:cNvSpPr/>
          <p:nvPr/>
        </p:nvSpPr>
        <p:spPr>
          <a:xfrm>
            <a:off x="16750903" y="4298603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6" name="Text 108"/>
          <p:cNvSpPr/>
          <p:nvPr/>
        </p:nvSpPr>
        <p:spPr>
          <a:xfrm>
            <a:off x="16836628" y="4336703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data-bus</a:t>
            </a:r>
            <a:endParaRPr lang="en-US" sz="825" dirty="0"/>
          </a:p>
        </p:txBody>
      </p:sp>
      <p:sp>
        <p:nvSpPr>
          <p:cNvPr id="117" name="Shape 109"/>
          <p:cNvSpPr/>
          <p:nvPr/>
        </p:nvSpPr>
        <p:spPr>
          <a:xfrm>
            <a:off x="15535275" y="4641503"/>
            <a:ext cx="20383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18" name="Text 110"/>
          <p:cNvSpPr/>
          <p:nvPr/>
        </p:nvSpPr>
        <p:spPr>
          <a:xfrm>
            <a:off x="15640050" y="4717703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 TOOLS</a:t>
            </a:r>
            <a:endParaRPr lang="en-US" sz="825" dirty="0"/>
          </a:p>
        </p:txBody>
      </p:sp>
      <p:sp>
        <p:nvSpPr>
          <p:cNvPr id="119" name="Shape 111"/>
          <p:cNvSpPr/>
          <p:nvPr/>
        </p:nvSpPr>
        <p:spPr>
          <a:xfrm>
            <a:off x="15640050" y="4879628"/>
            <a:ext cx="988814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0" name="Text 112"/>
          <p:cNvSpPr/>
          <p:nvPr/>
        </p:nvSpPr>
        <p:spPr>
          <a:xfrm>
            <a:off x="15725775" y="4917728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issue-tracker</a:t>
            </a:r>
            <a:endParaRPr lang="en-US" sz="825" dirty="0"/>
          </a:p>
        </p:txBody>
      </p:sp>
      <p:sp>
        <p:nvSpPr>
          <p:cNvPr id="121" name="Shape 113"/>
          <p:cNvSpPr/>
          <p:nvPr/>
        </p:nvSpPr>
        <p:spPr>
          <a:xfrm>
            <a:off x="16666964" y="4879628"/>
            <a:ext cx="360164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2" name="Text 114"/>
          <p:cNvSpPr/>
          <p:nvPr/>
        </p:nvSpPr>
        <p:spPr>
          <a:xfrm>
            <a:off x="16752689" y="4917728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vcs</a:t>
            </a:r>
            <a:endParaRPr lang="en-US" sz="825" dirty="0"/>
          </a:p>
        </p:txBody>
      </p:sp>
      <p:sp>
        <p:nvSpPr>
          <p:cNvPr id="123" name="Shape 115"/>
          <p:cNvSpPr/>
          <p:nvPr/>
        </p:nvSpPr>
        <p:spPr>
          <a:xfrm>
            <a:off x="15640050" y="5127278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4" name="Text 116"/>
          <p:cNvSpPr/>
          <p:nvPr/>
        </p:nvSpPr>
        <p:spPr>
          <a:xfrm>
            <a:off x="15725775" y="5165378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pipelines</a:t>
            </a:r>
            <a:endParaRPr lang="en-US" sz="825" dirty="0"/>
          </a:p>
        </p:txBody>
      </p:sp>
      <p:sp>
        <p:nvSpPr>
          <p:cNvPr id="125" name="Shape 117"/>
          <p:cNvSpPr/>
          <p:nvPr/>
        </p:nvSpPr>
        <p:spPr>
          <a:xfrm>
            <a:off x="16415445" y="5127278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6" name="Text 118"/>
          <p:cNvSpPr/>
          <p:nvPr/>
        </p:nvSpPr>
        <p:spPr>
          <a:xfrm>
            <a:off x="16501170" y="5165378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ci-cd-insights</a:t>
            </a:r>
            <a:endParaRPr lang="en-US" sz="825" dirty="0"/>
          </a:p>
        </p:txBody>
      </p:sp>
      <p:sp>
        <p:nvSpPr>
          <p:cNvPr id="127" name="Shape 119"/>
          <p:cNvSpPr/>
          <p:nvPr/>
        </p:nvSpPr>
        <p:spPr>
          <a:xfrm>
            <a:off x="15640050" y="5374928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8" name="Text 120"/>
          <p:cNvSpPr/>
          <p:nvPr/>
        </p:nvSpPr>
        <p:spPr>
          <a:xfrm>
            <a:off x="15725775" y="5413028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DORA</a:t>
            </a:r>
            <a:endParaRPr lang="en-US" sz="825" dirty="0"/>
          </a:p>
        </p:txBody>
      </p:sp>
      <p:sp>
        <p:nvSpPr>
          <p:cNvPr id="129" name="Shape 121"/>
          <p:cNvSpPr/>
          <p:nvPr/>
        </p:nvSpPr>
        <p:spPr>
          <a:xfrm>
            <a:off x="15535275" y="5717828"/>
            <a:ext cx="20383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15640050" y="579402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DATA &amp; SYSTEMS</a:t>
            </a:r>
            <a:endParaRPr lang="en-US" sz="825" dirty="0"/>
          </a:p>
        </p:txBody>
      </p:sp>
      <p:sp>
        <p:nvSpPr>
          <p:cNvPr id="131" name="Shape 123"/>
          <p:cNvSpPr/>
          <p:nvPr/>
        </p:nvSpPr>
        <p:spPr>
          <a:xfrm>
            <a:off x="15640050" y="5955953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2" name="Text 124"/>
          <p:cNvSpPr/>
          <p:nvPr/>
        </p:nvSpPr>
        <p:spPr>
          <a:xfrm>
            <a:off x="15725775" y="5994053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itsm</a:t>
            </a:r>
            <a:endParaRPr lang="en-US" sz="825" dirty="0"/>
          </a:p>
        </p:txBody>
      </p:sp>
      <p:sp>
        <p:nvSpPr>
          <p:cNvPr id="133" name="Shape 125"/>
          <p:cNvSpPr/>
          <p:nvPr/>
        </p:nvSpPr>
        <p:spPr>
          <a:xfrm>
            <a:off x="16101120" y="5955953"/>
            <a:ext cx="988814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4" name="Text 126"/>
          <p:cNvSpPr/>
          <p:nvPr/>
        </p:nvSpPr>
        <p:spPr>
          <a:xfrm>
            <a:off x="16186845" y="5994053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arch-exchange</a:t>
            </a:r>
            <a:endParaRPr lang="en-US" sz="825" dirty="0"/>
          </a:p>
        </p:txBody>
      </p:sp>
      <p:sp>
        <p:nvSpPr>
          <p:cNvPr id="135" name="Shape 127"/>
          <p:cNvSpPr/>
          <p:nvPr/>
        </p:nvSpPr>
        <p:spPr>
          <a:xfrm>
            <a:off x="15640050" y="6203603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6" name="Text 128"/>
          <p:cNvSpPr/>
          <p:nvPr/>
        </p:nvSpPr>
        <p:spPr>
          <a:xfrm>
            <a:off x="15725775" y="6241703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asset-registry</a:t>
            </a:r>
            <a:endParaRPr lang="en-US" sz="825" dirty="0"/>
          </a:p>
        </p:txBody>
      </p:sp>
      <p:sp>
        <p:nvSpPr>
          <p:cNvPr id="137" name="Shape 129"/>
          <p:cNvSpPr/>
          <p:nvPr/>
        </p:nvSpPr>
        <p:spPr>
          <a:xfrm>
            <a:off x="15640050" y="6451253"/>
            <a:ext cx="80010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8" name="Text 130"/>
          <p:cNvSpPr/>
          <p:nvPr/>
        </p:nvSpPr>
        <p:spPr>
          <a:xfrm>
            <a:off x="15725775" y="6489353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eng-portal</a:t>
            </a:r>
            <a:endParaRPr lang="en-US" sz="825" dirty="0"/>
          </a:p>
        </p:txBody>
      </p:sp>
      <p:sp>
        <p:nvSpPr>
          <p:cNvPr id="139" name="Shape 131"/>
          <p:cNvSpPr/>
          <p:nvPr/>
        </p:nvSpPr>
        <p:spPr>
          <a:xfrm>
            <a:off x="16478250" y="6451253"/>
            <a:ext cx="92586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40" name="Text 132"/>
          <p:cNvSpPr/>
          <p:nvPr/>
        </p:nvSpPr>
        <p:spPr>
          <a:xfrm>
            <a:off x="16563975" y="6489353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build-assist</a:t>
            </a:r>
            <a:endParaRPr lang="en-US" sz="825" dirty="0"/>
          </a:p>
        </p:txBody>
      </p:sp>
      <p:sp>
        <p:nvSpPr>
          <p:cNvPr id="141" name="Shape 133"/>
          <p:cNvSpPr/>
          <p:nvPr/>
        </p:nvSpPr>
        <p:spPr>
          <a:xfrm>
            <a:off x="609600" y="9208889"/>
            <a:ext cx="17068800" cy="659011"/>
          </a:xfrm>
          <a:prstGeom prst="roundRect">
            <a:avLst>
              <a:gd name="adj" fmla="val 2023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90500" dist="76200" dir="5400000">
              <a:srgbClr val="B45309">
                <a:alpha val="25000"/>
              </a:srgbClr>
            </a:outerShdw>
          </a:effectLst>
        </p:spPr>
      </p:sp>
      <p:sp>
        <p:nvSpPr>
          <p:cNvPr id="142" name="Shape 134"/>
          <p:cNvSpPr/>
          <p:nvPr/>
        </p:nvSpPr>
        <p:spPr>
          <a:xfrm>
            <a:off x="1930003" y="9466957"/>
            <a:ext cx="9525" cy="142875"/>
          </a:xfrm>
          <a:prstGeom prst="rect">
            <a:avLst/>
          </a:prstGeom>
          <a:solidFill>
            <a:srgbClr val="EAEEF6"/>
          </a:solidFill>
          <a:ln/>
        </p:spPr>
      </p:sp>
      <p:sp>
        <p:nvSpPr>
          <p:cNvPr id="143" name="Text 135"/>
          <p:cNvSpPr/>
          <p:nvPr/>
        </p:nvSpPr>
        <p:spPr>
          <a:xfrm>
            <a:off x="771525" y="9466957"/>
            <a:ext cx="10632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75" dirty="0"/>
          </a:p>
        </p:txBody>
      </p:sp>
      <p:sp>
        <p:nvSpPr>
          <p:cNvPr id="144" name="Shape 136"/>
          <p:cNvSpPr/>
          <p:nvPr/>
        </p:nvSpPr>
        <p:spPr>
          <a:xfrm>
            <a:off x="2091928" y="9433620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45" name="Text 137"/>
          <p:cNvSpPr/>
          <p:nvPr/>
        </p:nvSpPr>
        <p:spPr>
          <a:xfrm>
            <a:off x="2177653" y="9471720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825" dirty="0"/>
          </a:p>
        </p:txBody>
      </p:sp>
      <p:sp>
        <p:nvSpPr>
          <p:cNvPr id="146" name="Shape 138"/>
          <p:cNvSpPr/>
          <p:nvPr/>
        </p:nvSpPr>
        <p:spPr>
          <a:xfrm>
            <a:off x="2716857" y="9433620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7" name="Text 139"/>
          <p:cNvSpPr/>
          <p:nvPr/>
        </p:nvSpPr>
        <p:spPr>
          <a:xfrm>
            <a:off x="2802582" y="9471720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825" dirty="0"/>
          </a:p>
        </p:txBody>
      </p:sp>
      <p:sp>
        <p:nvSpPr>
          <p:cNvPr id="148" name="Shape 140"/>
          <p:cNvSpPr/>
          <p:nvPr/>
        </p:nvSpPr>
        <p:spPr>
          <a:xfrm>
            <a:off x="3467546" y="9433620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9" name="Text 141"/>
          <p:cNvSpPr/>
          <p:nvPr/>
        </p:nvSpPr>
        <p:spPr>
          <a:xfrm>
            <a:off x="3553271" y="947172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825" dirty="0"/>
          </a:p>
        </p:txBody>
      </p:sp>
      <p:sp>
        <p:nvSpPr>
          <p:cNvPr id="150" name="Shape 142"/>
          <p:cNvSpPr/>
          <p:nvPr/>
        </p:nvSpPr>
        <p:spPr>
          <a:xfrm>
            <a:off x="4155281" y="9433620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1" name="Text 143"/>
          <p:cNvSpPr/>
          <p:nvPr/>
        </p:nvSpPr>
        <p:spPr>
          <a:xfrm>
            <a:off x="4241006" y="9471720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 Kit</a:t>
            </a:r>
            <a:endParaRPr lang="en-US" sz="825" dirty="0"/>
          </a:p>
        </p:txBody>
      </p:sp>
      <p:sp>
        <p:nvSpPr>
          <p:cNvPr id="152" name="Shape 144"/>
          <p:cNvSpPr/>
          <p:nvPr/>
        </p:nvSpPr>
        <p:spPr>
          <a:xfrm>
            <a:off x="5283101" y="9433620"/>
            <a:ext cx="124018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3" name="Text 145"/>
          <p:cNvSpPr/>
          <p:nvPr/>
        </p:nvSpPr>
        <p:spPr>
          <a:xfrm>
            <a:off x="5368826" y="9471720"/>
            <a:ext cx="11449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 Runtime</a:t>
            </a:r>
            <a:endParaRPr lang="en-US" sz="825" dirty="0"/>
          </a:p>
        </p:txBody>
      </p:sp>
      <p:sp>
        <p:nvSpPr>
          <p:cNvPr id="154" name="Shape 146"/>
          <p:cNvSpPr/>
          <p:nvPr/>
        </p:nvSpPr>
        <p:spPr>
          <a:xfrm>
            <a:off x="6599486" y="9433620"/>
            <a:ext cx="117737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5" name="Text 147"/>
          <p:cNvSpPr/>
          <p:nvPr/>
        </p:nvSpPr>
        <p:spPr>
          <a:xfrm>
            <a:off x="6685211" y="9471720"/>
            <a:ext cx="108212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Managed Postgres</a:t>
            </a:r>
            <a:endParaRPr lang="en-US" sz="825" dirty="0"/>
          </a:p>
        </p:txBody>
      </p:sp>
      <p:sp>
        <p:nvSpPr>
          <p:cNvPr id="156" name="Shape 148"/>
          <p:cNvSpPr/>
          <p:nvPr/>
        </p:nvSpPr>
        <p:spPr>
          <a:xfrm>
            <a:off x="7853065" y="9433620"/>
            <a:ext cx="111442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7" name="Text 149"/>
          <p:cNvSpPr/>
          <p:nvPr/>
        </p:nvSpPr>
        <p:spPr>
          <a:xfrm>
            <a:off x="7938790" y="9471720"/>
            <a:ext cx="1019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In-Memory Cache</a:t>
            </a:r>
            <a:endParaRPr lang="en-US" sz="825" dirty="0"/>
          </a:p>
        </p:txBody>
      </p:sp>
      <p:sp>
        <p:nvSpPr>
          <p:cNvPr id="158" name="Shape 150"/>
          <p:cNvSpPr/>
          <p:nvPr/>
        </p:nvSpPr>
        <p:spPr>
          <a:xfrm>
            <a:off x="9043690" y="9433620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9" name="Text 151"/>
          <p:cNvSpPr/>
          <p:nvPr/>
        </p:nvSpPr>
        <p:spPr>
          <a:xfrm>
            <a:off x="9129415" y="9471720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Storage</a:t>
            </a:r>
            <a:endParaRPr lang="en-US" sz="825" dirty="0"/>
          </a:p>
        </p:txBody>
      </p:sp>
      <p:sp>
        <p:nvSpPr>
          <p:cNvPr id="160" name="Shape 152"/>
          <p:cNvSpPr/>
          <p:nvPr/>
        </p:nvSpPr>
        <p:spPr>
          <a:xfrm>
            <a:off x="10171509" y="9433620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61" name="Text 153"/>
          <p:cNvSpPr/>
          <p:nvPr/>
        </p:nvSpPr>
        <p:spPr>
          <a:xfrm>
            <a:off x="10257234" y="947172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SDK</a:t>
            </a:r>
            <a:endParaRPr lang="en-US" sz="825" dirty="0"/>
          </a:p>
        </p:txBody>
      </p:sp>
      <p:sp>
        <p:nvSpPr>
          <p:cNvPr id="162" name="Shape 154"/>
          <p:cNvSpPr/>
          <p:nvPr/>
        </p:nvSpPr>
        <p:spPr>
          <a:xfrm>
            <a:off x="16070461" y="9313664"/>
            <a:ext cx="1446014" cy="449461"/>
          </a:xfrm>
          <a:prstGeom prst="roundRect">
            <a:avLst>
              <a:gd name="adj" fmla="val 211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52400" dist="57150" dir="5400000">
              <a:srgbClr val="7C3AED">
                <a:alpha val="45000"/>
              </a:srgbClr>
            </a:outerShdw>
          </a:effectLst>
        </p:spPr>
      </p:sp>
      <p:sp>
        <p:nvSpPr>
          <p:cNvPr id="163" name="Text 155"/>
          <p:cNvSpPr/>
          <p:nvPr/>
        </p:nvSpPr>
        <p:spPr>
          <a:xfrm>
            <a:off x="16165711" y="9389864"/>
            <a:ext cx="125551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 GEN-AI SERVICES</a:t>
            </a:r>
            <a:endParaRPr lang="en-US" sz="900" dirty="0"/>
          </a:p>
        </p:txBody>
      </p:sp>
      <p:sp>
        <p:nvSpPr>
          <p:cNvPr id="164" name="Shape 156"/>
          <p:cNvSpPr/>
          <p:nvPr/>
        </p:nvSpPr>
        <p:spPr>
          <a:xfrm>
            <a:off x="609600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165" name="Text 157"/>
          <p:cNvSpPr/>
          <p:nvPr/>
        </p:nvSpPr>
        <p:spPr>
          <a:xfrm>
            <a:off x="781050" y="9886950"/>
            <a:ext cx="624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</a:t>
            </a:r>
            <a:endParaRPr lang="en-US" sz="900" dirty="0"/>
          </a:p>
        </p:txBody>
      </p:sp>
      <p:sp>
        <p:nvSpPr>
          <p:cNvPr id="166" name="Shape 158"/>
          <p:cNvSpPr/>
          <p:nvPr/>
        </p:nvSpPr>
        <p:spPr>
          <a:xfrm>
            <a:off x="1539329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7" name="Text 159"/>
          <p:cNvSpPr/>
          <p:nvPr/>
        </p:nvSpPr>
        <p:spPr>
          <a:xfrm>
            <a:off x="1710779" y="9886950"/>
            <a:ext cx="48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900" dirty="0"/>
          </a:p>
        </p:txBody>
      </p:sp>
      <p:sp>
        <p:nvSpPr>
          <p:cNvPr id="168" name="Shape 160"/>
          <p:cNvSpPr/>
          <p:nvPr/>
        </p:nvSpPr>
        <p:spPr>
          <a:xfrm>
            <a:off x="2331839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</p:spPr>
      </p:sp>
      <p:sp>
        <p:nvSpPr>
          <p:cNvPr id="169" name="Text 161"/>
          <p:cNvSpPr/>
          <p:nvPr/>
        </p:nvSpPr>
        <p:spPr>
          <a:xfrm>
            <a:off x="2503289" y="9886950"/>
            <a:ext cx="624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900" dirty="0"/>
          </a:p>
        </p:txBody>
      </p:sp>
      <p:sp>
        <p:nvSpPr>
          <p:cNvPr id="170" name="Shape 162"/>
          <p:cNvSpPr/>
          <p:nvPr/>
        </p:nvSpPr>
        <p:spPr>
          <a:xfrm>
            <a:off x="32615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/>
        </p:spPr>
      </p:sp>
      <p:sp>
        <p:nvSpPr>
          <p:cNvPr id="171" name="Text 163"/>
          <p:cNvSpPr/>
          <p:nvPr/>
        </p:nvSpPr>
        <p:spPr>
          <a:xfrm>
            <a:off x="3433018" y="98869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72" name="Shape 164"/>
          <p:cNvSpPr/>
          <p:nvPr/>
        </p:nvSpPr>
        <p:spPr>
          <a:xfrm>
            <a:off x="43283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/>
        </p:spPr>
      </p:sp>
      <p:sp>
        <p:nvSpPr>
          <p:cNvPr id="173" name="Text 165"/>
          <p:cNvSpPr/>
          <p:nvPr/>
        </p:nvSpPr>
        <p:spPr>
          <a:xfrm>
            <a:off x="4499818" y="98869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174" name="Shape 166"/>
          <p:cNvSpPr/>
          <p:nvPr/>
        </p:nvSpPr>
        <p:spPr>
          <a:xfrm>
            <a:off x="50522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75" name="Text 167"/>
          <p:cNvSpPr/>
          <p:nvPr/>
        </p:nvSpPr>
        <p:spPr>
          <a:xfrm>
            <a:off x="5223718" y="9886950"/>
            <a:ext cx="13107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/ Connectors</a:t>
            </a:r>
            <a:endParaRPr lang="en-US" sz="900" dirty="0"/>
          </a:p>
        </p:txBody>
      </p:sp>
      <p:sp>
        <p:nvSpPr>
          <p:cNvPr id="176" name="Text 168"/>
          <p:cNvSpPr/>
          <p:nvPr/>
        </p:nvSpPr>
        <p:spPr>
          <a:xfrm>
            <a:off x="15140880" y="9906000"/>
            <a:ext cx="26137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reference-architecture · v0.4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2026-05-05T14:16:57Z</dcterms:created>
  <dcterms:modified xsi:type="dcterms:W3CDTF">2026-05-05T14:16:57Z</dcterms:modified>
</cp:coreProperties>
</file>