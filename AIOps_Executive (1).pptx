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639068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285750" dist="133350" dir="5400000">
              <a:srgbClr val="2563EB">
                <a:alpha val="5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91468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90650" y="419100"/>
            <a:ext cx="99027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PLATFORM · EXECUTIVE OVERVIEW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390650" y="590550"/>
            <a:ext cx="9902726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66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Signal to Resolution — Autonomously.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390650" y="1068586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 agent-driven platform that detects, diagnoses, and acts on production events — pairing AI with governance to accelerate delivery and reduce risk.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2706350" y="610493"/>
            <a:ext cx="158115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209550" dist="76200" dir="5400000">
              <a:srgbClr val="0F1734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2868275" y="734318"/>
            <a:ext cx="1333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-39" kern="0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↓ 60 </a:t>
            </a:r>
            <a:pPr algn="l" indent="0" marL="0">
              <a:lnSpc>
                <a:spcPct val="100000"/>
              </a:lnSpc>
              <a:buNone/>
            </a:pPr>
            <a:r>
              <a:rPr lang="en-US" sz="1050" b="1" spc="-39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2868275" y="1039118"/>
            <a:ext cx="1333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MTTR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14401800" y="610493"/>
            <a:ext cx="158115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209550" dist="76200" dir="5400000">
              <a:srgbClr val="0F1734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4563725" y="734318"/>
            <a:ext cx="1333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-39" kern="0" dirty="0">
                <a:solidFill>
                  <a:srgbClr val="DB27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↑ 3 </a:t>
            </a:r>
            <a:pPr algn="l" indent="0" marL="0">
              <a:lnSpc>
                <a:spcPct val="100000"/>
              </a:lnSpc>
              <a:buNone/>
            </a:pPr>
            <a:r>
              <a:rPr lang="en-US" sz="1050" b="1" spc="-39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4563725" y="1039118"/>
            <a:ext cx="1333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CHANGE VELOCITY</a:t>
            </a:r>
            <a:endParaRPr lang="en-US" sz="825" dirty="0"/>
          </a:p>
        </p:txBody>
      </p:sp>
      <p:sp>
        <p:nvSpPr>
          <p:cNvPr id="14" name="Shape 11"/>
          <p:cNvSpPr/>
          <p:nvPr/>
        </p:nvSpPr>
        <p:spPr>
          <a:xfrm>
            <a:off x="16097250" y="610493"/>
            <a:ext cx="158115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209550" dist="76200" dir="5400000">
              <a:srgbClr val="0F1734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6259175" y="734318"/>
            <a:ext cx="1333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-39" kern="0" dirty="0">
                <a:solidFill>
                  <a:srgbClr val="1580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99.9 </a:t>
            </a:r>
            <a:pPr algn="l" indent="0" marL="0">
              <a:lnSpc>
                <a:spcPct val="100000"/>
              </a:lnSpc>
              <a:buNone/>
            </a:pPr>
            <a:r>
              <a:rPr lang="en-US" sz="1050" b="1" spc="-39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6259175" y="1039118"/>
            <a:ext cx="1333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UPTIME GOAL</a:t>
            </a:r>
            <a:endParaRPr lang="en-US" sz="825" dirty="0"/>
          </a:p>
        </p:txBody>
      </p:sp>
      <p:sp>
        <p:nvSpPr>
          <p:cNvPr id="17" name="Shape 14"/>
          <p:cNvSpPr/>
          <p:nvPr/>
        </p:nvSpPr>
        <p:spPr>
          <a:xfrm>
            <a:off x="609600" y="1640086"/>
            <a:ext cx="3867150" cy="295275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304800" dist="133350" dir="5400000">
              <a:srgbClr val="0F1734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542109" y="1782961"/>
            <a:ext cx="772716" cy="190500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19" name="Text 16"/>
          <p:cNvSpPr/>
          <p:nvPr/>
        </p:nvSpPr>
        <p:spPr>
          <a:xfrm>
            <a:off x="3618309" y="1811536"/>
            <a:ext cx="6965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01</a:t>
            </a:r>
            <a:endParaRPr lang="en-US" sz="825" dirty="0"/>
          </a:p>
        </p:txBody>
      </p:sp>
      <p:sp>
        <p:nvSpPr>
          <p:cNvPr id="20" name="Shape 17"/>
          <p:cNvSpPr/>
          <p:nvPr/>
        </p:nvSpPr>
        <p:spPr>
          <a:xfrm>
            <a:off x="790575" y="1802011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209550" dist="95250" dir="5400000">
              <a:srgbClr val="7C3AED">
                <a:alpha val="100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935361"/>
            <a:ext cx="266700" cy="2667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90575" y="2430661"/>
            <a:ext cx="36103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SENSE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90575" y="2621161"/>
            <a:ext cx="36103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Streaming Signal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790575" y="30021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F1EBFE"/>
          </a:solidFill>
          <a:ln/>
        </p:spPr>
      </p:sp>
      <p:sp>
        <p:nvSpPr>
          <p:cNvPr id="25" name="Shape 21"/>
          <p:cNvSpPr/>
          <p:nvPr/>
        </p:nvSpPr>
        <p:spPr>
          <a:xfrm>
            <a:off x="885825" y="30783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145036"/>
            <a:ext cx="133350" cy="13335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28725" y="3140273"/>
            <a:ext cx="5098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Metrics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2581275" y="30021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F1EBFE"/>
          </a:solidFill>
          <a:ln/>
        </p:spPr>
      </p:sp>
      <p:sp>
        <p:nvSpPr>
          <p:cNvPr id="29" name="Shape 24"/>
          <p:cNvSpPr/>
          <p:nvPr/>
        </p:nvSpPr>
        <p:spPr>
          <a:xfrm>
            <a:off x="2676525" y="30783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145036"/>
            <a:ext cx="133350" cy="13335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019425" y="3140273"/>
            <a:ext cx="3720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Logs</a:t>
            </a:r>
            <a:endParaRPr lang="en-US" sz="975" dirty="0"/>
          </a:p>
        </p:txBody>
      </p:sp>
      <p:sp>
        <p:nvSpPr>
          <p:cNvPr id="32" name="Shape 26"/>
          <p:cNvSpPr/>
          <p:nvPr/>
        </p:nvSpPr>
        <p:spPr>
          <a:xfrm>
            <a:off x="790575" y="34974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F1EBFE"/>
          </a:solidFill>
          <a:ln/>
        </p:spPr>
      </p:sp>
      <p:sp>
        <p:nvSpPr>
          <p:cNvPr id="33" name="Shape 27"/>
          <p:cNvSpPr/>
          <p:nvPr/>
        </p:nvSpPr>
        <p:spPr>
          <a:xfrm>
            <a:off x="885825" y="35736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640336"/>
            <a:ext cx="133350" cy="13335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28725" y="3635573"/>
            <a:ext cx="468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Traces</a:t>
            </a:r>
            <a:endParaRPr lang="en-US" sz="975" dirty="0"/>
          </a:p>
        </p:txBody>
      </p:sp>
      <p:sp>
        <p:nvSpPr>
          <p:cNvPr id="36" name="Shape 29"/>
          <p:cNvSpPr/>
          <p:nvPr/>
        </p:nvSpPr>
        <p:spPr>
          <a:xfrm>
            <a:off x="2581275" y="34974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F1EBFE"/>
          </a:solidFill>
          <a:ln/>
        </p:spPr>
      </p:sp>
      <p:sp>
        <p:nvSpPr>
          <p:cNvPr id="37" name="Shape 30"/>
          <p:cNvSpPr/>
          <p:nvPr/>
        </p:nvSpPr>
        <p:spPr>
          <a:xfrm>
            <a:off x="2676525" y="35736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3640336"/>
            <a:ext cx="133350" cy="13335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019425" y="3635573"/>
            <a:ext cx="4272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Alerts</a:t>
            </a:r>
            <a:endParaRPr lang="en-US" sz="975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2950" y="2925961"/>
            <a:ext cx="381000" cy="381000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5010150" y="1640086"/>
            <a:ext cx="3867150" cy="295275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304800" dist="133350" dir="5400000">
              <a:srgbClr val="0F1734">
                <a:alpha val="2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7942659" y="1782961"/>
            <a:ext cx="772716" cy="19050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43" name="Text 34"/>
          <p:cNvSpPr/>
          <p:nvPr/>
        </p:nvSpPr>
        <p:spPr>
          <a:xfrm>
            <a:off x="8018859" y="1811536"/>
            <a:ext cx="6965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02</a:t>
            </a:r>
            <a:endParaRPr lang="en-US" sz="825" dirty="0"/>
          </a:p>
        </p:txBody>
      </p:sp>
      <p:sp>
        <p:nvSpPr>
          <p:cNvPr id="44" name="Shape 35"/>
          <p:cNvSpPr/>
          <p:nvPr/>
        </p:nvSpPr>
        <p:spPr>
          <a:xfrm>
            <a:off x="5191125" y="1802011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209550" dist="95250" dir="5400000">
              <a:srgbClr val="2563EB">
                <a:alpha val="100000"/>
              </a:srgbClr>
            </a:outerShdw>
          </a:effectLst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4475" y="1935361"/>
            <a:ext cx="266700" cy="26670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191125" y="2430661"/>
            <a:ext cx="36103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THINK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5191125" y="2621161"/>
            <a:ext cx="36103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Agents Reason</a:t>
            </a:r>
            <a:endParaRPr lang="en-US" sz="1350" dirty="0"/>
          </a:p>
        </p:txBody>
      </p:sp>
      <p:sp>
        <p:nvSpPr>
          <p:cNvPr id="48" name="Shape 38"/>
          <p:cNvSpPr/>
          <p:nvPr/>
        </p:nvSpPr>
        <p:spPr>
          <a:xfrm>
            <a:off x="5191125" y="3002161"/>
            <a:ext cx="3505200" cy="419100"/>
          </a:xfrm>
          <a:prstGeom prst="roundRect">
            <a:avLst>
              <a:gd name="adj" fmla="val 22727"/>
            </a:avLst>
          </a:prstGeom>
          <a:solidFill>
            <a:srgbClr val="E6EFFF"/>
          </a:solidFill>
          <a:ln/>
        </p:spPr>
      </p:sp>
      <p:sp>
        <p:nvSpPr>
          <p:cNvPr id="49" name="Shape 39"/>
          <p:cNvSpPr/>
          <p:nvPr/>
        </p:nvSpPr>
        <p:spPr>
          <a:xfrm>
            <a:off x="5286375" y="30783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5257800" y="3087886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A1</a:t>
            </a:r>
            <a:endParaRPr lang="en-US" sz="975" dirty="0"/>
          </a:p>
        </p:txBody>
      </p:sp>
      <p:sp>
        <p:nvSpPr>
          <p:cNvPr id="51" name="Text 41"/>
          <p:cNvSpPr/>
          <p:nvPr/>
        </p:nvSpPr>
        <p:spPr>
          <a:xfrm>
            <a:off x="5629275" y="3140273"/>
            <a:ext cx="11380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Alert Triage Agent</a:t>
            </a:r>
            <a:endParaRPr lang="en-US" sz="975" dirty="0"/>
          </a:p>
        </p:txBody>
      </p:sp>
      <p:sp>
        <p:nvSpPr>
          <p:cNvPr id="52" name="Shape 42"/>
          <p:cNvSpPr/>
          <p:nvPr/>
        </p:nvSpPr>
        <p:spPr>
          <a:xfrm>
            <a:off x="5191125" y="3497461"/>
            <a:ext cx="3505200" cy="419100"/>
          </a:xfrm>
          <a:prstGeom prst="roundRect">
            <a:avLst>
              <a:gd name="adj" fmla="val 22727"/>
            </a:avLst>
          </a:prstGeom>
          <a:solidFill>
            <a:srgbClr val="E6EFFF"/>
          </a:solidFill>
          <a:ln/>
        </p:spPr>
      </p:sp>
      <p:sp>
        <p:nvSpPr>
          <p:cNvPr id="53" name="Shape 43"/>
          <p:cNvSpPr/>
          <p:nvPr/>
        </p:nvSpPr>
        <p:spPr>
          <a:xfrm>
            <a:off x="5286375" y="35736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5257800" y="3583186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A2</a:t>
            </a:r>
            <a:endParaRPr lang="en-US" sz="975" dirty="0"/>
          </a:p>
        </p:txBody>
      </p:sp>
      <p:sp>
        <p:nvSpPr>
          <p:cNvPr id="55" name="Text 45"/>
          <p:cNvSpPr/>
          <p:nvPr/>
        </p:nvSpPr>
        <p:spPr>
          <a:xfrm>
            <a:off x="5629275" y="3635573"/>
            <a:ext cx="11516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Root-Cause Agent</a:t>
            </a:r>
            <a:endParaRPr lang="en-US" sz="975" dirty="0"/>
          </a:p>
        </p:txBody>
      </p:sp>
      <p:sp>
        <p:nvSpPr>
          <p:cNvPr id="56" name="Shape 46"/>
          <p:cNvSpPr/>
          <p:nvPr/>
        </p:nvSpPr>
        <p:spPr>
          <a:xfrm>
            <a:off x="5191125" y="3992761"/>
            <a:ext cx="3505200" cy="419100"/>
          </a:xfrm>
          <a:prstGeom prst="roundRect">
            <a:avLst>
              <a:gd name="adj" fmla="val 22727"/>
            </a:avLst>
          </a:prstGeom>
          <a:solidFill>
            <a:srgbClr val="E6EFFF"/>
          </a:solidFill>
          <a:ln/>
        </p:spPr>
      </p:sp>
      <p:sp>
        <p:nvSpPr>
          <p:cNvPr id="57" name="Shape 47"/>
          <p:cNvSpPr/>
          <p:nvPr/>
        </p:nvSpPr>
        <p:spPr>
          <a:xfrm>
            <a:off x="5286375" y="40689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5257800" y="4078486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A3</a:t>
            </a:r>
            <a:endParaRPr lang="en-US" sz="975" dirty="0"/>
          </a:p>
        </p:txBody>
      </p:sp>
      <p:sp>
        <p:nvSpPr>
          <p:cNvPr id="59" name="Text 49"/>
          <p:cNvSpPr/>
          <p:nvPr/>
        </p:nvSpPr>
        <p:spPr>
          <a:xfrm>
            <a:off x="5629275" y="4130873"/>
            <a:ext cx="10554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Job Agent</a:t>
            </a:r>
            <a:endParaRPr lang="en-US" sz="975" dirty="0"/>
          </a:p>
        </p:txBody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925961"/>
            <a:ext cx="381000" cy="381000"/>
          </a:xfrm>
          <a:prstGeom prst="rect">
            <a:avLst/>
          </a:prstGeom>
        </p:spPr>
      </p:pic>
      <p:sp>
        <p:nvSpPr>
          <p:cNvPr id="61" name="Shape 50"/>
          <p:cNvSpPr/>
          <p:nvPr/>
        </p:nvSpPr>
        <p:spPr>
          <a:xfrm>
            <a:off x="9410700" y="1640086"/>
            <a:ext cx="3867150" cy="295275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304800" dist="133350" dir="5400000">
              <a:srgbClr val="0F1734">
                <a:alpha val="20000"/>
              </a:srgbClr>
            </a:outerShdw>
          </a:effectLst>
        </p:spPr>
      </p:sp>
      <p:sp>
        <p:nvSpPr>
          <p:cNvPr id="62" name="Shape 51"/>
          <p:cNvSpPr/>
          <p:nvPr/>
        </p:nvSpPr>
        <p:spPr>
          <a:xfrm>
            <a:off x="12343209" y="1782961"/>
            <a:ext cx="772716" cy="19050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63" name="Text 52"/>
          <p:cNvSpPr/>
          <p:nvPr/>
        </p:nvSpPr>
        <p:spPr>
          <a:xfrm>
            <a:off x="12419409" y="1811536"/>
            <a:ext cx="6965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0891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03</a:t>
            </a:r>
            <a:endParaRPr lang="en-US" sz="825" dirty="0"/>
          </a:p>
        </p:txBody>
      </p:sp>
      <p:sp>
        <p:nvSpPr>
          <p:cNvPr id="64" name="Shape 53"/>
          <p:cNvSpPr/>
          <p:nvPr/>
        </p:nvSpPr>
        <p:spPr>
          <a:xfrm>
            <a:off x="9591675" y="1802011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209550" dist="95250" dir="5400000">
              <a:srgbClr val="0891B2">
                <a:alpha val="100000"/>
              </a:srgbClr>
            </a:outerShdw>
          </a:effectLst>
        </p:spPr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5025" y="1935361"/>
            <a:ext cx="266700" cy="266700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9591675" y="2430661"/>
            <a:ext cx="36103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ACT</a:t>
            </a:r>
            <a:endParaRPr lang="en-US" sz="900" dirty="0"/>
          </a:p>
        </p:txBody>
      </p:sp>
      <p:sp>
        <p:nvSpPr>
          <p:cNvPr id="67" name="Text 55"/>
          <p:cNvSpPr/>
          <p:nvPr/>
        </p:nvSpPr>
        <p:spPr>
          <a:xfrm>
            <a:off x="9591675" y="2621161"/>
            <a:ext cx="36103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Tools &amp; Connectors</a:t>
            </a:r>
            <a:endParaRPr lang="en-US" sz="1350" dirty="0"/>
          </a:p>
        </p:txBody>
      </p:sp>
      <p:sp>
        <p:nvSpPr>
          <p:cNvPr id="68" name="Shape 56"/>
          <p:cNvSpPr/>
          <p:nvPr/>
        </p:nvSpPr>
        <p:spPr>
          <a:xfrm>
            <a:off x="9591675" y="30021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E1F4F8"/>
          </a:solidFill>
          <a:ln/>
        </p:spPr>
      </p:sp>
      <p:sp>
        <p:nvSpPr>
          <p:cNvPr id="69" name="Shape 57"/>
          <p:cNvSpPr/>
          <p:nvPr/>
        </p:nvSpPr>
        <p:spPr>
          <a:xfrm>
            <a:off x="9686925" y="30783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pic>
        <p:nvPicPr>
          <p:cNvPr id="7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3600" y="3145036"/>
            <a:ext cx="133350" cy="133350"/>
          </a:xfrm>
          <a:prstGeom prst="rect">
            <a:avLst/>
          </a:prstGeom>
        </p:spPr>
      </p:pic>
      <p:sp>
        <p:nvSpPr>
          <p:cNvPr id="71" name="Text 58"/>
          <p:cNvSpPr/>
          <p:nvPr/>
        </p:nvSpPr>
        <p:spPr>
          <a:xfrm>
            <a:off x="10029825" y="3140273"/>
            <a:ext cx="3446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</a:t>
            </a:r>
            <a:endParaRPr lang="en-US" sz="975" dirty="0"/>
          </a:p>
        </p:txBody>
      </p:sp>
      <p:sp>
        <p:nvSpPr>
          <p:cNvPr id="72" name="Shape 59"/>
          <p:cNvSpPr/>
          <p:nvPr/>
        </p:nvSpPr>
        <p:spPr>
          <a:xfrm>
            <a:off x="11382375" y="30021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E1F4F8"/>
          </a:solidFill>
          <a:ln/>
        </p:spPr>
      </p:sp>
      <p:sp>
        <p:nvSpPr>
          <p:cNvPr id="73" name="Shape 60"/>
          <p:cNvSpPr/>
          <p:nvPr/>
        </p:nvSpPr>
        <p:spPr>
          <a:xfrm>
            <a:off x="11477625" y="30783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pic>
        <p:nvPicPr>
          <p:cNvPr id="7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44300" y="3145036"/>
            <a:ext cx="133350" cy="133350"/>
          </a:xfrm>
          <a:prstGeom prst="rect">
            <a:avLst/>
          </a:prstGeom>
        </p:spPr>
      </p:pic>
      <p:sp>
        <p:nvSpPr>
          <p:cNvPr id="75" name="Text 61"/>
          <p:cNvSpPr/>
          <p:nvPr/>
        </p:nvSpPr>
        <p:spPr>
          <a:xfrm>
            <a:off x="11820525" y="3140273"/>
            <a:ext cx="8608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Observability</a:t>
            </a:r>
            <a:endParaRPr lang="en-US" sz="975" dirty="0"/>
          </a:p>
        </p:txBody>
      </p:sp>
      <p:sp>
        <p:nvSpPr>
          <p:cNvPr id="76" name="Shape 62"/>
          <p:cNvSpPr/>
          <p:nvPr/>
        </p:nvSpPr>
        <p:spPr>
          <a:xfrm>
            <a:off x="9591675" y="34974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E1F4F8"/>
          </a:solidFill>
          <a:ln/>
        </p:spPr>
      </p:sp>
      <p:sp>
        <p:nvSpPr>
          <p:cNvPr id="77" name="Shape 63"/>
          <p:cNvSpPr/>
          <p:nvPr/>
        </p:nvSpPr>
        <p:spPr>
          <a:xfrm>
            <a:off x="9686925" y="35736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pic>
        <p:nvPicPr>
          <p:cNvPr id="7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53600" y="3640336"/>
            <a:ext cx="133350" cy="133350"/>
          </a:xfrm>
          <a:prstGeom prst="rect">
            <a:avLst/>
          </a:prstGeom>
        </p:spPr>
      </p:pic>
      <p:sp>
        <p:nvSpPr>
          <p:cNvPr id="79" name="Text 64"/>
          <p:cNvSpPr/>
          <p:nvPr/>
        </p:nvSpPr>
        <p:spPr>
          <a:xfrm>
            <a:off x="10029825" y="3635573"/>
            <a:ext cx="8536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/ CI/CD</a:t>
            </a:r>
            <a:endParaRPr lang="en-US" sz="975" dirty="0"/>
          </a:p>
        </p:txBody>
      </p:sp>
      <p:sp>
        <p:nvSpPr>
          <p:cNvPr id="80" name="Shape 65"/>
          <p:cNvSpPr/>
          <p:nvPr/>
        </p:nvSpPr>
        <p:spPr>
          <a:xfrm>
            <a:off x="11382375" y="3497461"/>
            <a:ext cx="1714500" cy="419100"/>
          </a:xfrm>
          <a:prstGeom prst="roundRect">
            <a:avLst>
              <a:gd name="adj" fmla="val 22727"/>
            </a:avLst>
          </a:prstGeom>
          <a:solidFill>
            <a:srgbClr val="E1F4F8"/>
          </a:solidFill>
          <a:ln/>
        </p:spPr>
      </p:sp>
      <p:sp>
        <p:nvSpPr>
          <p:cNvPr id="81" name="Shape 66"/>
          <p:cNvSpPr/>
          <p:nvPr/>
        </p:nvSpPr>
        <p:spPr>
          <a:xfrm>
            <a:off x="11477625" y="35736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pic>
        <p:nvPicPr>
          <p:cNvPr id="8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44300" y="3640336"/>
            <a:ext cx="133350" cy="133350"/>
          </a:xfrm>
          <a:prstGeom prst="rect">
            <a:avLst/>
          </a:prstGeom>
        </p:spPr>
      </p:pic>
      <p:sp>
        <p:nvSpPr>
          <p:cNvPr id="83" name="Text 67"/>
          <p:cNvSpPr/>
          <p:nvPr/>
        </p:nvSpPr>
        <p:spPr>
          <a:xfrm>
            <a:off x="11820525" y="3635573"/>
            <a:ext cx="11150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/ RAG</a:t>
            </a:r>
            <a:endParaRPr lang="en-US" sz="975" dirty="0"/>
          </a:p>
        </p:txBody>
      </p:sp>
      <p:pic>
        <p:nvPicPr>
          <p:cNvPr id="8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354050" y="2925961"/>
            <a:ext cx="381000" cy="381000"/>
          </a:xfrm>
          <a:prstGeom prst="rect">
            <a:avLst/>
          </a:prstGeom>
        </p:spPr>
      </p:pic>
      <p:sp>
        <p:nvSpPr>
          <p:cNvPr id="85" name="Shape 68"/>
          <p:cNvSpPr/>
          <p:nvPr/>
        </p:nvSpPr>
        <p:spPr>
          <a:xfrm>
            <a:off x="13811250" y="1640086"/>
            <a:ext cx="3867150" cy="295275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304800" dist="133350" dir="5400000">
              <a:srgbClr val="0F1734">
                <a:alpha val="20000"/>
              </a:srgbClr>
            </a:outerShdw>
          </a:effectLst>
        </p:spPr>
      </p:sp>
      <p:sp>
        <p:nvSpPr>
          <p:cNvPr id="86" name="Shape 69"/>
          <p:cNvSpPr/>
          <p:nvPr/>
        </p:nvSpPr>
        <p:spPr>
          <a:xfrm>
            <a:off x="16743759" y="1782961"/>
            <a:ext cx="772716" cy="19050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87" name="Text 70"/>
          <p:cNvSpPr/>
          <p:nvPr/>
        </p:nvSpPr>
        <p:spPr>
          <a:xfrm>
            <a:off x="16819959" y="1811536"/>
            <a:ext cx="6965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DB2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04</a:t>
            </a:r>
            <a:endParaRPr lang="en-US" sz="825" dirty="0"/>
          </a:p>
        </p:txBody>
      </p:sp>
      <p:sp>
        <p:nvSpPr>
          <p:cNvPr id="88" name="Shape 71"/>
          <p:cNvSpPr/>
          <p:nvPr/>
        </p:nvSpPr>
        <p:spPr>
          <a:xfrm>
            <a:off x="13992225" y="1802011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/>
          <a:effectLst>
            <a:outerShdw sx="100000" sy="100000" kx="0" ky="0" algn="bl" rotWithShape="0" blurRad="209550" dist="95250" dir="5400000">
              <a:srgbClr val="DB2777">
                <a:alpha val="100000"/>
              </a:srgbClr>
            </a:outerShdw>
          </a:effectLst>
        </p:spPr>
      </p:sp>
      <p:pic>
        <p:nvPicPr>
          <p:cNvPr id="8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125575" y="1935361"/>
            <a:ext cx="266700" cy="266700"/>
          </a:xfrm>
          <a:prstGeom prst="rect">
            <a:avLst/>
          </a:prstGeom>
        </p:spPr>
      </p:pic>
      <p:sp>
        <p:nvSpPr>
          <p:cNvPr id="90" name="Text 72"/>
          <p:cNvSpPr/>
          <p:nvPr/>
        </p:nvSpPr>
        <p:spPr>
          <a:xfrm>
            <a:off x="13992225" y="2430661"/>
            <a:ext cx="36103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RESOLVE</a:t>
            </a:r>
            <a:endParaRPr lang="en-US" sz="900" dirty="0"/>
          </a:p>
        </p:txBody>
      </p:sp>
      <p:sp>
        <p:nvSpPr>
          <p:cNvPr id="91" name="Text 73"/>
          <p:cNvSpPr/>
          <p:nvPr/>
        </p:nvSpPr>
        <p:spPr>
          <a:xfrm>
            <a:off x="13992225" y="2621161"/>
            <a:ext cx="36103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Business Outcome</a:t>
            </a:r>
            <a:endParaRPr lang="en-US" sz="1350" dirty="0"/>
          </a:p>
        </p:txBody>
      </p:sp>
      <p:sp>
        <p:nvSpPr>
          <p:cNvPr id="92" name="Shape 74"/>
          <p:cNvSpPr/>
          <p:nvPr/>
        </p:nvSpPr>
        <p:spPr>
          <a:xfrm>
            <a:off x="13992225" y="3002161"/>
            <a:ext cx="3505200" cy="419100"/>
          </a:xfrm>
          <a:prstGeom prst="roundRect">
            <a:avLst>
              <a:gd name="adj" fmla="val 22727"/>
            </a:avLst>
          </a:prstGeom>
          <a:solidFill>
            <a:srgbClr val="FDE6F0"/>
          </a:solidFill>
          <a:ln/>
        </p:spPr>
      </p:sp>
      <p:sp>
        <p:nvSpPr>
          <p:cNvPr id="93" name="Shape 75"/>
          <p:cNvSpPr/>
          <p:nvPr/>
        </p:nvSpPr>
        <p:spPr>
          <a:xfrm>
            <a:off x="14087475" y="30783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B2777"/>
            </a:solidFill>
            <a:prstDash val="solid"/>
          </a:ln>
        </p:spPr>
      </p:sp>
      <p:pic>
        <p:nvPicPr>
          <p:cNvPr id="9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154150" y="3145036"/>
            <a:ext cx="133350" cy="133350"/>
          </a:xfrm>
          <a:prstGeom prst="rect">
            <a:avLst/>
          </a:prstGeom>
        </p:spPr>
      </p:pic>
      <p:sp>
        <p:nvSpPr>
          <p:cNvPr id="95" name="Text 76"/>
          <p:cNvSpPr/>
          <p:nvPr/>
        </p:nvSpPr>
        <p:spPr>
          <a:xfrm>
            <a:off x="14430375" y="3140273"/>
            <a:ext cx="8261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Faster MTTR</a:t>
            </a:r>
            <a:endParaRPr lang="en-US" sz="975" dirty="0"/>
          </a:p>
        </p:txBody>
      </p:sp>
      <p:sp>
        <p:nvSpPr>
          <p:cNvPr id="96" name="Shape 77"/>
          <p:cNvSpPr/>
          <p:nvPr/>
        </p:nvSpPr>
        <p:spPr>
          <a:xfrm>
            <a:off x="13992225" y="3497461"/>
            <a:ext cx="3505200" cy="419100"/>
          </a:xfrm>
          <a:prstGeom prst="roundRect">
            <a:avLst>
              <a:gd name="adj" fmla="val 22727"/>
            </a:avLst>
          </a:prstGeom>
          <a:solidFill>
            <a:srgbClr val="FDE6F0"/>
          </a:solidFill>
          <a:ln/>
        </p:spPr>
      </p:sp>
      <p:sp>
        <p:nvSpPr>
          <p:cNvPr id="97" name="Shape 78"/>
          <p:cNvSpPr/>
          <p:nvPr/>
        </p:nvSpPr>
        <p:spPr>
          <a:xfrm>
            <a:off x="14087475" y="35736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B2777"/>
            </a:solidFill>
            <a:prstDash val="solid"/>
          </a:ln>
        </p:spPr>
      </p:sp>
      <p:pic>
        <p:nvPicPr>
          <p:cNvPr id="9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154150" y="3640336"/>
            <a:ext cx="133350" cy="133350"/>
          </a:xfrm>
          <a:prstGeom prst="rect">
            <a:avLst/>
          </a:prstGeom>
        </p:spPr>
      </p:pic>
      <p:sp>
        <p:nvSpPr>
          <p:cNvPr id="99" name="Text 79"/>
          <p:cNvSpPr/>
          <p:nvPr/>
        </p:nvSpPr>
        <p:spPr>
          <a:xfrm>
            <a:off x="14430375" y="3635573"/>
            <a:ext cx="9708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Higher Velocity</a:t>
            </a:r>
            <a:endParaRPr lang="en-US" sz="975" dirty="0"/>
          </a:p>
        </p:txBody>
      </p:sp>
      <p:sp>
        <p:nvSpPr>
          <p:cNvPr id="100" name="Shape 80"/>
          <p:cNvSpPr/>
          <p:nvPr/>
        </p:nvSpPr>
        <p:spPr>
          <a:xfrm>
            <a:off x="13992225" y="3992761"/>
            <a:ext cx="3505200" cy="419100"/>
          </a:xfrm>
          <a:prstGeom prst="roundRect">
            <a:avLst>
              <a:gd name="adj" fmla="val 22727"/>
            </a:avLst>
          </a:prstGeom>
          <a:solidFill>
            <a:srgbClr val="FDE6F0"/>
          </a:solidFill>
          <a:ln/>
        </p:spPr>
      </p:sp>
      <p:sp>
        <p:nvSpPr>
          <p:cNvPr id="101" name="Shape 81"/>
          <p:cNvSpPr/>
          <p:nvPr/>
        </p:nvSpPr>
        <p:spPr>
          <a:xfrm>
            <a:off x="14087475" y="4068961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B2777"/>
            </a:solidFill>
            <a:prstDash val="solid"/>
          </a:ln>
        </p:spPr>
      </p:sp>
      <p:pic>
        <p:nvPicPr>
          <p:cNvPr id="10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154150" y="4135636"/>
            <a:ext cx="133350" cy="133350"/>
          </a:xfrm>
          <a:prstGeom prst="rect">
            <a:avLst/>
          </a:prstGeom>
        </p:spPr>
      </p:pic>
      <p:sp>
        <p:nvSpPr>
          <p:cNvPr id="103" name="Text 82"/>
          <p:cNvSpPr/>
          <p:nvPr/>
        </p:nvSpPr>
        <p:spPr>
          <a:xfrm>
            <a:off x="14430375" y="4130873"/>
            <a:ext cx="8952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Reduced Risk</a:t>
            </a:r>
            <a:endParaRPr lang="en-US" sz="975" dirty="0"/>
          </a:p>
        </p:txBody>
      </p:sp>
      <p:sp>
        <p:nvSpPr>
          <p:cNvPr id="104" name="Shape 83"/>
          <p:cNvSpPr/>
          <p:nvPr/>
        </p:nvSpPr>
        <p:spPr>
          <a:xfrm>
            <a:off x="609600" y="4745236"/>
            <a:ext cx="6134100" cy="5008364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247650" dist="114300" dir="5400000">
              <a:srgbClr val="0F1734">
                <a:alpha val="18000"/>
              </a:srgbClr>
            </a:outerShdw>
          </a:effectLst>
        </p:spPr>
      </p:sp>
      <p:sp>
        <p:nvSpPr>
          <p:cNvPr id="105" name="Shape 84"/>
          <p:cNvSpPr/>
          <p:nvPr/>
        </p:nvSpPr>
        <p:spPr>
          <a:xfrm>
            <a:off x="790575" y="4916686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DB2777"/>
          </a:solidFill>
          <a:ln/>
          <a:effectLst>
            <a:outerShdw sx="100000" sy="100000" kx="0" ky="0" algn="bl" rotWithShape="0" blurRad="133350" dist="57150" dir="5400000">
              <a:srgbClr val="DB2777">
                <a:alpha val="100000"/>
              </a:srgbClr>
            </a:outerShdw>
          </a:effectLst>
        </p:spPr>
      </p:sp>
      <p:pic>
        <p:nvPicPr>
          <p:cNvPr id="10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7250" y="4983361"/>
            <a:ext cx="171450" cy="171450"/>
          </a:xfrm>
          <a:prstGeom prst="rect">
            <a:avLst/>
          </a:prstGeom>
        </p:spPr>
      </p:pic>
      <p:sp>
        <p:nvSpPr>
          <p:cNvPr id="107" name="Text 85"/>
          <p:cNvSpPr/>
          <p:nvPr/>
        </p:nvSpPr>
        <p:spPr>
          <a:xfrm>
            <a:off x="1190625" y="4888111"/>
            <a:ext cx="27152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6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Six Strategic Outcomes</a:t>
            </a:r>
            <a:endParaRPr lang="en-US" sz="1275" dirty="0"/>
          </a:p>
        </p:txBody>
      </p:sp>
      <p:sp>
        <p:nvSpPr>
          <p:cNvPr id="108" name="Text 86"/>
          <p:cNvSpPr/>
          <p:nvPr/>
        </p:nvSpPr>
        <p:spPr>
          <a:xfrm>
            <a:off x="1190625" y="5116711"/>
            <a:ext cx="271527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 THIS MATTERS TO THE BUSINESS</a:t>
            </a:r>
            <a:endParaRPr lang="en-US" sz="900" dirty="0"/>
          </a:p>
        </p:txBody>
      </p:sp>
      <p:sp>
        <p:nvSpPr>
          <p:cNvPr id="109" name="Shape 87"/>
          <p:cNvSpPr/>
          <p:nvPr/>
        </p:nvSpPr>
        <p:spPr>
          <a:xfrm>
            <a:off x="790575" y="5345311"/>
            <a:ext cx="5772150" cy="487561"/>
          </a:xfrm>
          <a:prstGeom prst="roundRect">
            <a:avLst>
              <a:gd name="adj" fmla="val 19536"/>
            </a:avLst>
          </a:prstGeom>
          <a:solidFill>
            <a:srgbClr val="FDF6FA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10" name="Shape 88"/>
          <p:cNvSpPr/>
          <p:nvPr/>
        </p:nvSpPr>
        <p:spPr>
          <a:xfrm>
            <a:off x="895350" y="5431036"/>
            <a:ext cx="247650" cy="24765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11" name="Text 89"/>
          <p:cNvSpPr/>
          <p:nvPr/>
        </p:nvSpPr>
        <p:spPr>
          <a:xfrm>
            <a:off x="857250" y="5431036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112" name="Text 90"/>
          <p:cNvSpPr/>
          <p:nvPr/>
        </p:nvSpPr>
        <p:spPr>
          <a:xfrm>
            <a:off x="1238250" y="5431036"/>
            <a:ext cx="245030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Automated change governance</a:t>
            </a:r>
            <a:endParaRPr lang="en-US" sz="1050" dirty="0"/>
          </a:p>
        </p:txBody>
      </p:sp>
      <p:sp>
        <p:nvSpPr>
          <p:cNvPr id="113" name="Text 91"/>
          <p:cNvSpPr/>
          <p:nvPr/>
        </p:nvSpPr>
        <p:spPr>
          <a:xfrm>
            <a:off x="1238250" y="5592961"/>
            <a:ext cx="2450306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 gates run automatically on every deploy.</a:t>
            </a:r>
            <a:endParaRPr lang="en-US" sz="900" dirty="0"/>
          </a:p>
        </p:txBody>
      </p:sp>
      <p:sp>
        <p:nvSpPr>
          <p:cNvPr id="114" name="Shape 92"/>
          <p:cNvSpPr/>
          <p:nvPr/>
        </p:nvSpPr>
        <p:spPr>
          <a:xfrm>
            <a:off x="790575" y="5909072"/>
            <a:ext cx="5772150" cy="487561"/>
          </a:xfrm>
          <a:prstGeom prst="roundRect">
            <a:avLst>
              <a:gd name="adj" fmla="val 19536"/>
            </a:avLst>
          </a:prstGeom>
          <a:solidFill>
            <a:srgbClr val="FDF6FA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15" name="Shape 93"/>
          <p:cNvSpPr/>
          <p:nvPr/>
        </p:nvSpPr>
        <p:spPr>
          <a:xfrm>
            <a:off x="895350" y="5994797"/>
            <a:ext cx="247650" cy="24765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16" name="Text 94"/>
          <p:cNvSpPr/>
          <p:nvPr/>
        </p:nvSpPr>
        <p:spPr>
          <a:xfrm>
            <a:off x="857250" y="5994797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17" name="Text 95"/>
          <p:cNvSpPr/>
          <p:nvPr/>
        </p:nvSpPr>
        <p:spPr>
          <a:xfrm>
            <a:off x="1238250" y="5994797"/>
            <a:ext cx="22807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Faster event detection</a:t>
            </a:r>
            <a:endParaRPr lang="en-US" sz="1050" dirty="0"/>
          </a:p>
        </p:txBody>
      </p:sp>
      <p:sp>
        <p:nvSpPr>
          <p:cNvPr id="118" name="Text 96"/>
          <p:cNvSpPr/>
          <p:nvPr/>
        </p:nvSpPr>
        <p:spPr>
          <a:xfrm>
            <a:off x="1238250" y="6156722"/>
            <a:ext cx="2280791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Anomalies surface in seconds, not minutes.</a:t>
            </a:r>
            <a:endParaRPr lang="en-US" sz="900" dirty="0"/>
          </a:p>
        </p:txBody>
      </p:sp>
      <p:sp>
        <p:nvSpPr>
          <p:cNvPr id="119" name="Shape 97"/>
          <p:cNvSpPr/>
          <p:nvPr/>
        </p:nvSpPr>
        <p:spPr>
          <a:xfrm>
            <a:off x="790575" y="6472833"/>
            <a:ext cx="5772150" cy="487561"/>
          </a:xfrm>
          <a:prstGeom prst="roundRect">
            <a:avLst>
              <a:gd name="adj" fmla="val 19536"/>
            </a:avLst>
          </a:prstGeom>
          <a:solidFill>
            <a:srgbClr val="FDF6FA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20" name="Shape 98"/>
          <p:cNvSpPr/>
          <p:nvPr/>
        </p:nvSpPr>
        <p:spPr>
          <a:xfrm>
            <a:off x="895350" y="6558558"/>
            <a:ext cx="247650" cy="24765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21" name="Text 99"/>
          <p:cNvSpPr/>
          <p:nvPr/>
        </p:nvSpPr>
        <p:spPr>
          <a:xfrm>
            <a:off x="857250" y="6558558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122" name="Text 100"/>
          <p:cNvSpPr/>
          <p:nvPr/>
        </p:nvSpPr>
        <p:spPr>
          <a:xfrm>
            <a:off x="1238250" y="6558558"/>
            <a:ext cx="24459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AI-led incident management</a:t>
            </a:r>
            <a:endParaRPr lang="en-US" sz="1050" dirty="0"/>
          </a:p>
        </p:txBody>
      </p:sp>
      <p:sp>
        <p:nvSpPr>
          <p:cNvPr id="123" name="Text 101"/>
          <p:cNvSpPr/>
          <p:nvPr/>
        </p:nvSpPr>
        <p:spPr>
          <a:xfrm>
            <a:off x="1238250" y="6720483"/>
            <a:ext cx="2445990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Agents triage, correlate, and recommend fixes.</a:t>
            </a:r>
            <a:endParaRPr lang="en-US" sz="900" dirty="0"/>
          </a:p>
        </p:txBody>
      </p:sp>
      <p:sp>
        <p:nvSpPr>
          <p:cNvPr id="124" name="Shape 102"/>
          <p:cNvSpPr/>
          <p:nvPr/>
        </p:nvSpPr>
        <p:spPr>
          <a:xfrm>
            <a:off x="790575" y="7036594"/>
            <a:ext cx="5772150" cy="487561"/>
          </a:xfrm>
          <a:prstGeom prst="roundRect">
            <a:avLst>
              <a:gd name="adj" fmla="val 19536"/>
            </a:avLst>
          </a:prstGeom>
          <a:solidFill>
            <a:srgbClr val="FDF6FA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25" name="Shape 103"/>
          <p:cNvSpPr/>
          <p:nvPr/>
        </p:nvSpPr>
        <p:spPr>
          <a:xfrm>
            <a:off x="895350" y="7122319"/>
            <a:ext cx="247650" cy="24765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26" name="Text 104"/>
          <p:cNvSpPr/>
          <p:nvPr/>
        </p:nvSpPr>
        <p:spPr>
          <a:xfrm>
            <a:off x="857250" y="7122319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127" name="Text 105"/>
          <p:cNvSpPr/>
          <p:nvPr/>
        </p:nvSpPr>
        <p:spPr>
          <a:xfrm>
            <a:off x="1238250" y="7122319"/>
            <a:ext cx="2121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Safer production releases</a:t>
            </a:r>
            <a:endParaRPr lang="en-US" sz="1050" dirty="0"/>
          </a:p>
        </p:txBody>
      </p:sp>
      <p:sp>
        <p:nvSpPr>
          <p:cNvPr id="128" name="Text 106"/>
          <p:cNvSpPr/>
          <p:nvPr/>
        </p:nvSpPr>
        <p:spPr>
          <a:xfrm>
            <a:off x="1238250" y="7284244"/>
            <a:ext cx="2121991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Risk scored and mitigated before rollout.</a:t>
            </a:r>
            <a:endParaRPr lang="en-US" sz="900" dirty="0"/>
          </a:p>
        </p:txBody>
      </p:sp>
      <p:sp>
        <p:nvSpPr>
          <p:cNvPr id="129" name="Shape 107"/>
          <p:cNvSpPr/>
          <p:nvPr/>
        </p:nvSpPr>
        <p:spPr>
          <a:xfrm>
            <a:off x="790575" y="7600355"/>
            <a:ext cx="5772150" cy="487561"/>
          </a:xfrm>
          <a:prstGeom prst="roundRect">
            <a:avLst>
              <a:gd name="adj" fmla="val 19536"/>
            </a:avLst>
          </a:prstGeom>
          <a:solidFill>
            <a:srgbClr val="FDF6FA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30" name="Shape 108"/>
          <p:cNvSpPr/>
          <p:nvPr/>
        </p:nvSpPr>
        <p:spPr>
          <a:xfrm>
            <a:off x="895350" y="7686080"/>
            <a:ext cx="247650" cy="24765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31" name="Text 109"/>
          <p:cNvSpPr/>
          <p:nvPr/>
        </p:nvSpPr>
        <p:spPr>
          <a:xfrm>
            <a:off x="857250" y="768608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132" name="Text 110"/>
          <p:cNvSpPr/>
          <p:nvPr/>
        </p:nvSpPr>
        <p:spPr>
          <a:xfrm>
            <a:off x="1238250" y="7686080"/>
            <a:ext cx="214357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Optimized problem management</a:t>
            </a:r>
            <a:endParaRPr lang="en-US" sz="1050" dirty="0"/>
          </a:p>
        </p:txBody>
      </p:sp>
      <p:sp>
        <p:nvSpPr>
          <p:cNvPr id="133" name="Text 111"/>
          <p:cNvSpPr/>
          <p:nvPr/>
        </p:nvSpPr>
        <p:spPr>
          <a:xfrm>
            <a:off x="1238250" y="7848005"/>
            <a:ext cx="2143571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Recurring incidents close out faster.</a:t>
            </a:r>
            <a:endParaRPr lang="en-US" sz="900" dirty="0"/>
          </a:p>
        </p:txBody>
      </p:sp>
      <p:sp>
        <p:nvSpPr>
          <p:cNvPr id="134" name="Shape 112"/>
          <p:cNvSpPr/>
          <p:nvPr/>
        </p:nvSpPr>
        <p:spPr>
          <a:xfrm>
            <a:off x="790575" y="8164116"/>
            <a:ext cx="5772150" cy="487561"/>
          </a:xfrm>
          <a:prstGeom prst="roundRect">
            <a:avLst>
              <a:gd name="adj" fmla="val 19536"/>
            </a:avLst>
          </a:prstGeom>
          <a:solidFill>
            <a:srgbClr val="FDF6FA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35" name="Shape 113"/>
          <p:cNvSpPr/>
          <p:nvPr/>
        </p:nvSpPr>
        <p:spPr>
          <a:xfrm>
            <a:off x="895350" y="8249841"/>
            <a:ext cx="247650" cy="24765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36" name="Text 114"/>
          <p:cNvSpPr/>
          <p:nvPr/>
        </p:nvSpPr>
        <p:spPr>
          <a:xfrm>
            <a:off x="857250" y="8249841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137" name="Text 115"/>
          <p:cNvSpPr/>
          <p:nvPr/>
        </p:nvSpPr>
        <p:spPr>
          <a:xfrm>
            <a:off x="1238250" y="8249841"/>
            <a:ext cx="22871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Continuous learning</a:t>
            </a:r>
            <a:endParaRPr lang="en-US" sz="1050" dirty="0"/>
          </a:p>
        </p:txBody>
      </p:sp>
      <p:sp>
        <p:nvSpPr>
          <p:cNvPr id="138" name="Text 116"/>
          <p:cNvSpPr/>
          <p:nvPr/>
        </p:nvSpPr>
        <p:spPr>
          <a:xfrm>
            <a:off x="1238250" y="8411766"/>
            <a:ext cx="2287191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postmortem feeds the next response.</a:t>
            </a:r>
            <a:endParaRPr lang="en-US" sz="900" dirty="0"/>
          </a:p>
        </p:txBody>
      </p:sp>
      <p:sp>
        <p:nvSpPr>
          <p:cNvPr id="139" name="Shape 117"/>
          <p:cNvSpPr/>
          <p:nvPr/>
        </p:nvSpPr>
        <p:spPr>
          <a:xfrm>
            <a:off x="6877050" y="4745236"/>
            <a:ext cx="5334000" cy="5008364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247650" dist="114300" dir="5400000">
              <a:srgbClr val="0F1734">
                <a:alpha val="18000"/>
              </a:srgbClr>
            </a:outerShdw>
          </a:effectLst>
        </p:spPr>
      </p:sp>
      <p:sp>
        <p:nvSpPr>
          <p:cNvPr id="140" name="Shape 118"/>
          <p:cNvSpPr/>
          <p:nvPr/>
        </p:nvSpPr>
        <p:spPr>
          <a:xfrm>
            <a:off x="7058025" y="4916686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EA580C"/>
          </a:solidFill>
          <a:ln/>
          <a:effectLst>
            <a:outerShdw sx="100000" sy="100000" kx="0" ky="0" algn="bl" rotWithShape="0" blurRad="133350" dist="57150" dir="5400000">
              <a:srgbClr val="EA580C">
                <a:alpha val="100000"/>
              </a:srgbClr>
            </a:outerShdw>
          </a:effectLst>
        </p:spPr>
      </p:sp>
      <p:pic>
        <p:nvPicPr>
          <p:cNvPr id="14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24700" y="4983361"/>
            <a:ext cx="171450" cy="171450"/>
          </a:xfrm>
          <a:prstGeom prst="rect">
            <a:avLst/>
          </a:prstGeom>
        </p:spPr>
      </p:pic>
      <p:sp>
        <p:nvSpPr>
          <p:cNvPr id="142" name="Text 119"/>
          <p:cNvSpPr/>
          <p:nvPr/>
        </p:nvSpPr>
        <p:spPr>
          <a:xfrm>
            <a:off x="7458075" y="4888111"/>
            <a:ext cx="25122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6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Foundation</a:t>
            </a:r>
            <a:endParaRPr lang="en-US" sz="1275" dirty="0"/>
          </a:p>
        </p:txBody>
      </p:sp>
      <p:sp>
        <p:nvSpPr>
          <p:cNvPr id="143" name="Text 120"/>
          <p:cNvSpPr/>
          <p:nvPr/>
        </p:nvSpPr>
        <p:spPr>
          <a:xfrm>
            <a:off x="7458075" y="5116711"/>
            <a:ext cx="25122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MODELS, DATA &amp; PLATFORM STACK</a:t>
            </a:r>
            <a:endParaRPr lang="en-US" sz="900" dirty="0"/>
          </a:p>
        </p:txBody>
      </p:sp>
      <p:sp>
        <p:nvSpPr>
          <p:cNvPr id="144" name="Shape 121"/>
          <p:cNvSpPr/>
          <p:nvPr/>
        </p:nvSpPr>
        <p:spPr>
          <a:xfrm>
            <a:off x="7058025" y="5345311"/>
            <a:ext cx="24384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EF1F8"/>
            </a:solidFill>
            <a:prstDash val="solid"/>
          </a:ln>
        </p:spPr>
      </p:sp>
      <p:sp>
        <p:nvSpPr>
          <p:cNvPr id="145" name="Shape 122"/>
          <p:cNvSpPr/>
          <p:nvPr/>
        </p:nvSpPr>
        <p:spPr>
          <a:xfrm>
            <a:off x="7181850" y="5450086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EA580C"/>
          </a:solidFill>
          <a:ln/>
        </p:spPr>
      </p:sp>
      <p:pic>
        <p:nvPicPr>
          <p:cNvPr id="14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29475" y="5497711"/>
            <a:ext cx="114300" cy="114300"/>
          </a:xfrm>
          <a:prstGeom prst="rect">
            <a:avLst/>
          </a:prstGeom>
        </p:spPr>
      </p:pic>
      <p:sp>
        <p:nvSpPr>
          <p:cNvPr id="147" name="Text 123"/>
          <p:cNvSpPr/>
          <p:nvPr/>
        </p:nvSpPr>
        <p:spPr>
          <a:xfrm>
            <a:off x="7467600" y="5473898"/>
            <a:ext cx="6782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A580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MODELS</a:t>
            </a:r>
            <a:endParaRPr lang="en-US" sz="900" dirty="0"/>
          </a:p>
        </p:txBody>
      </p:sp>
      <p:sp>
        <p:nvSpPr>
          <p:cNvPr id="148" name="Shape 124"/>
          <p:cNvSpPr/>
          <p:nvPr/>
        </p:nvSpPr>
        <p:spPr>
          <a:xfrm>
            <a:off x="7181850" y="5716786"/>
            <a:ext cx="781050" cy="190500"/>
          </a:xfrm>
          <a:prstGeom prst="roundRect">
            <a:avLst>
              <a:gd name="adj" fmla="val 50000"/>
            </a:avLst>
          </a:prstGeom>
          <a:solidFill>
            <a:srgbClr val="FEEADB"/>
          </a:solidFill>
          <a:ln/>
        </p:spPr>
      </p:sp>
      <p:sp>
        <p:nvSpPr>
          <p:cNvPr id="149" name="Text 125"/>
          <p:cNvSpPr/>
          <p:nvPr/>
        </p:nvSpPr>
        <p:spPr>
          <a:xfrm>
            <a:off x="7258050" y="5745361"/>
            <a:ext cx="704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A5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Generative</a:t>
            </a:r>
            <a:endParaRPr lang="en-US" sz="825" dirty="0"/>
          </a:p>
        </p:txBody>
      </p:sp>
      <p:sp>
        <p:nvSpPr>
          <p:cNvPr id="150" name="Shape 126"/>
          <p:cNvSpPr/>
          <p:nvPr/>
        </p:nvSpPr>
        <p:spPr>
          <a:xfrm>
            <a:off x="8001000" y="5716786"/>
            <a:ext cx="718245" cy="190500"/>
          </a:xfrm>
          <a:prstGeom prst="roundRect">
            <a:avLst>
              <a:gd name="adj" fmla="val 50000"/>
            </a:avLst>
          </a:prstGeom>
          <a:solidFill>
            <a:srgbClr val="FEEADB"/>
          </a:solidFill>
          <a:ln/>
        </p:spPr>
      </p:sp>
      <p:sp>
        <p:nvSpPr>
          <p:cNvPr id="151" name="Text 127"/>
          <p:cNvSpPr/>
          <p:nvPr/>
        </p:nvSpPr>
        <p:spPr>
          <a:xfrm>
            <a:off x="8077200" y="5745361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A5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Reasoning</a:t>
            </a:r>
            <a:endParaRPr lang="en-US" sz="825" dirty="0"/>
          </a:p>
        </p:txBody>
      </p:sp>
      <p:sp>
        <p:nvSpPr>
          <p:cNvPr id="152" name="Shape 128"/>
          <p:cNvSpPr/>
          <p:nvPr/>
        </p:nvSpPr>
        <p:spPr>
          <a:xfrm>
            <a:off x="7181850" y="5945386"/>
            <a:ext cx="781050" cy="190500"/>
          </a:xfrm>
          <a:prstGeom prst="roundRect">
            <a:avLst>
              <a:gd name="adj" fmla="val 50000"/>
            </a:avLst>
          </a:prstGeom>
          <a:solidFill>
            <a:srgbClr val="FEEADB"/>
          </a:solidFill>
          <a:ln/>
        </p:spPr>
      </p:sp>
      <p:sp>
        <p:nvSpPr>
          <p:cNvPr id="153" name="Text 129"/>
          <p:cNvSpPr/>
          <p:nvPr/>
        </p:nvSpPr>
        <p:spPr>
          <a:xfrm>
            <a:off x="7258050" y="5973961"/>
            <a:ext cx="704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A5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Embeddings</a:t>
            </a:r>
            <a:endParaRPr lang="en-US" sz="825" dirty="0"/>
          </a:p>
        </p:txBody>
      </p:sp>
      <p:sp>
        <p:nvSpPr>
          <p:cNvPr id="154" name="Shape 130"/>
          <p:cNvSpPr/>
          <p:nvPr/>
        </p:nvSpPr>
        <p:spPr>
          <a:xfrm>
            <a:off x="9591675" y="5345311"/>
            <a:ext cx="24384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EF1F8"/>
            </a:solidFill>
            <a:prstDash val="solid"/>
          </a:ln>
        </p:spPr>
      </p:sp>
      <p:sp>
        <p:nvSpPr>
          <p:cNvPr id="155" name="Shape 131"/>
          <p:cNvSpPr/>
          <p:nvPr/>
        </p:nvSpPr>
        <p:spPr>
          <a:xfrm>
            <a:off x="9715500" y="5450086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2563EB"/>
          </a:solidFill>
          <a:ln/>
        </p:spPr>
      </p:sp>
      <p:pic>
        <p:nvPicPr>
          <p:cNvPr id="15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63125" y="5497711"/>
            <a:ext cx="114300" cy="114300"/>
          </a:xfrm>
          <a:prstGeom prst="rect">
            <a:avLst/>
          </a:prstGeom>
        </p:spPr>
      </p:pic>
      <p:sp>
        <p:nvSpPr>
          <p:cNvPr id="157" name="Text 132"/>
          <p:cNvSpPr/>
          <p:nvPr/>
        </p:nvSpPr>
        <p:spPr>
          <a:xfrm>
            <a:off x="10001250" y="5473898"/>
            <a:ext cx="8724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CHANNELS</a:t>
            </a:r>
            <a:endParaRPr lang="en-US" sz="900" dirty="0"/>
          </a:p>
        </p:txBody>
      </p:sp>
      <p:sp>
        <p:nvSpPr>
          <p:cNvPr id="158" name="Shape 133"/>
          <p:cNvSpPr/>
          <p:nvPr/>
        </p:nvSpPr>
        <p:spPr>
          <a:xfrm>
            <a:off x="9715500" y="5716786"/>
            <a:ext cx="403920" cy="19050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159" name="Text 134"/>
          <p:cNvSpPr/>
          <p:nvPr/>
        </p:nvSpPr>
        <p:spPr>
          <a:xfrm>
            <a:off x="9791700" y="5745361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endParaRPr lang="en-US" sz="825" dirty="0"/>
          </a:p>
        </p:txBody>
      </p:sp>
      <p:sp>
        <p:nvSpPr>
          <p:cNvPr id="160" name="Shape 135"/>
          <p:cNvSpPr/>
          <p:nvPr/>
        </p:nvSpPr>
        <p:spPr>
          <a:xfrm>
            <a:off x="10157520" y="5716786"/>
            <a:ext cx="341114" cy="19050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161" name="Text 136"/>
          <p:cNvSpPr/>
          <p:nvPr/>
        </p:nvSpPr>
        <p:spPr>
          <a:xfrm>
            <a:off x="10233720" y="5745361"/>
            <a:ext cx="2649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</a:t>
            </a:r>
            <a:endParaRPr lang="en-US" sz="825" dirty="0"/>
          </a:p>
        </p:txBody>
      </p:sp>
      <p:sp>
        <p:nvSpPr>
          <p:cNvPr id="162" name="Shape 137"/>
          <p:cNvSpPr/>
          <p:nvPr/>
        </p:nvSpPr>
        <p:spPr>
          <a:xfrm>
            <a:off x="10536734" y="5716786"/>
            <a:ext cx="718245" cy="19050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163" name="Text 138"/>
          <p:cNvSpPr/>
          <p:nvPr/>
        </p:nvSpPr>
        <p:spPr>
          <a:xfrm>
            <a:off x="10612934" y="5745361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Assistant</a:t>
            </a:r>
            <a:endParaRPr lang="en-US" sz="825" dirty="0"/>
          </a:p>
        </p:txBody>
      </p:sp>
      <p:sp>
        <p:nvSpPr>
          <p:cNvPr id="164" name="Shape 139"/>
          <p:cNvSpPr/>
          <p:nvPr/>
        </p:nvSpPr>
        <p:spPr>
          <a:xfrm>
            <a:off x="9715500" y="5945386"/>
            <a:ext cx="655439" cy="19050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165" name="Text 140"/>
          <p:cNvSpPr/>
          <p:nvPr/>
        </p:nvSpPr>
        <p:spPr>
          <a:xfrm>
            <a:off x="9791700" y="5973961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AIOps UI</a:t>
            </a:r>
            <a:endParaRPr lang="en-US" sz="825" dirty="0"/>
          </a:p>
        </p:txBody>
      </p:sp>
      <p:sp>
        <p:nvSpPr>
          <p:cNvPr id="166" name="Shape 141"/>
          <p:cNvSpPr/>
          <p:nvPr/>
        </p:nvSpPr>
        <p:spPr>
          <a:xfrm>
            <a:off x="7058025" y="6335911"/>
            <a:ext cx="24384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EF1F8"/>
            </a:solidFill>
            <a:prstDash val="solid"/>
          </a:ln>
        </p:spPr>
      </p:sp>
      <p:sp>
        <p:nvSpPr>
          <p:cNvPr id="167" name="Shape 142"/>
          <p:cNvSpPr/>
          <p:nvPr/>
        </p:nvSpPr>
        <p:spPr>
          <a:xfrm>
            <a:off x="7181850" y="6440686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15803D"/>
          </a:solidFill>
          <a:ln/>
        </p:spPr>
      </p:sp>
      <p:pic>
        <p:nvPicPr>
          <p:cNvPr id="16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29475" y="6488311"/>
            <a:ext cx="114300" cy="114300"/>
          </a:xfrm>
          <a:prstGeom prst="rect">
            <a:avLst/>
          </a:prstGeom>
        </p:spPr>
      </p:pic>
      <p:sp>
        <p:nvSpPr>
          <p:cNvPr id="169" name="Text 143"/>
          <p:cNvSpPr/>
          <p:nvPr/>
        </p:nvSpPr>
        <p:spPr>
          <a:xfrm>
            <a:off x="7467600" y="6464498"/>
            <a:ext cx="45065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1580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</a:t>
            </a:r>
            <a:endParaRPr lang="en-US" sz="900" dirty="0"/>
          </a:p>
        </p:txBody>
      </p:sp>
      <p:sp>
        <p:nvSpPr>
          <p:cNvPr id="170" name="Shape 144"/>
          <p:cNvSpPr/>
          <p:nvPr/>
        </p:nvSpPr>
        <p:spPr>
          <a:xfrm>
            <a:off x="7181850" y="6707386"/>
            <a:ext cx="718245" cy="19050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71" name="Text 145"/>
          <p:cNvSpPr/>
          <p:nvPr/>
        </p:nvSpPr>
        <p:spPr>
          <a:xfrm>
            <a:off x="7258050" y="6735961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580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Warehouse</a:t>
            </a:r>
            <a:endParaRPr lang="en-US" sz="825" dirty="0"/>
          </a:p>
        </p:txBody>
      </p:sp>
      <p:sp>
        <p:nvSpPr>
          <p:cNvPr id="172" name="Shape 146"/>
          <p:cNvSpPr/>
          <p:nvPr/>
        </p:nvSpPr>
        <p:spPr>
          <a:xfrm>
            <a:off x="7938195" y="6707386"/>
            <a:ext cx="718245" cy="19050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73" name="Text 147"/>
          <p:cNvSpPr/>
          <p:nvPr/>
        </p:nvSpPr>
        <p:spPr>
          <a:xfrm>
            <a:off x="8014395" y="6735961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580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Lakehouse</a:t>
            </a:r>
            <a:endParaRPr lang="en-US" sz="825" dirty="0"/>
          </a:p>
        </p:txBody>
      </p:sp>
      <p:sp>
        <p:nvSpPr>
          <p:cNvPr id="174" name="Shape 148"/>
          <p:cNvSpPr/>
          <p:nvPr/>
        </p:nvSpPr>
        <p:spPr>
          <a:xfrm>
            <a:off x="7181850" y="6935986"/>
            <a:ext cx="718245" cy="19050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75" name="Text 149"/>
          <p:cNvSpPr/>
          <p:nvPr/>
        </p:nvSpPr>
        <p:spPr>
          <a:xfrm>
            <a:off x="7258050" y="6964561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580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 DB</a:t>
            </a:r>
            <a:endParaRPr lang="en-US" sz="825" dirty="0"/>
          </a:p>
        </p:txBody>
      </p:sp>
      <p:sp>
        <p:nvSpPr>
          <p:cNvPr id="176" name="Shape 150"/>
          <p:cNvSpPr/>
          <p:nvPr/>
        </p:nvSpPr>
        <p:spPr>
          <a:xfrm>
            <a:off x="7938195" y="6935986"/>
            <a:ext cx="655439" cy="19050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77" name="Text 151"/>
          <p:cNvSpPr/>
          <p:nvPr/>
        </p:nvSpPr>
        <p:spPr>
          <a:xfrm>
            <a:off x="8014395" y="6964561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580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Runbooks</a:t>
            </a:r>
            <a:endParaRPr lang="en-US" sz="825" dirty="0"/>
          </a:p>
        </p:txBody>
      </p:sp>
      <p:sp>
        <p:nvSpPr>
          <p:cNvPr id="178" name="Shape 152"/>
          <p:cNvSpPr/>
          <p:nvPr/>
        </p:nvSpPr>
        <p:spPr>
          <a:xfrm>
            <a:off x="9591675" y="6335911"/>
            <a:ext cx="24384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EF1F8"/>
            </a:solidFill>
            <a:prstDash val="solid"/>
          </a:ln>
        </p:spPr>
      </p:sp>
      <p:sp>
        <p:nvSpPr>
          <p:cNvPr id="179" name="Shape 153"/>
          <p:cNvSpPr/>
          <p:nvPr/>
        </p:nvSpPr>
        <p:spPr>
          <a:xfrm>
            <a:off x="9715500" y="6440686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B45309"/>
          </a:solidFill>
          <a:ln/>
        </p:spPr>
      </p:sp>
      <p:pic>
        <p:nvPicPr>
          <p:cNvPr id="18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63125" y="6488311"/>
            <a:ext cx="114300" cy="114300"/>
          </a:xfrm>
          <a:prstGeom prst="rect">
            <a:avLst/>
          </a:prstGeom>
        </p:spPr>
      </p:pic>
      <p:sp>
        <p:nvSpPr>
          <p:cNvPr id="181" name="Text 154"/>
          <p:cNvSpPr/>
          <p:nvPr/>
        </p:nvSpPr>
        <p:spPr>
          <a:xfrm>
            <a:off x="10001250" y="6464498"/>
            <a:ext cx="8582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</a:t>
            </a:r>
            <a:endParaRPr lang="en-US" sz="900" dirty="0"/>
          </a:p>
        </p:txBody>
      </p:sp>
      <p:sp>
        <p:nvSpPr>
          <p:cNvPr id="182" name="Shape 155"/>
          <p:cNvSpPr/>
          <p:nvPr/>
        </p:nvSpPr>
        <p:spPr>
          <a:xfrm>
            <a:off x="9715500" y="6707386"/>
            <a:ext cx="592485" cy="190500"/>
          </a:xfrm>
          <a:prstGeom prst="roundRect">
            <a:avLst>
              <a:gd name="adj" fmla="val 50000"/>
            </a:avLst>
          </a:prstGeom>
          <a:solidFill>
            <a:srgbClr val="FDF3DA"/>
          </a:solidFill>
          <a:ln/>
        </p:spPr>
      </p:sp>
      <p:sp>
        <p:nvSpPr>
          <p:cNvPr id="183" name="Text 156"/>
          <p:cNvSpPr/>
          <p:nvPr/>
        </p:nvSpPr>
        <p:spPr>
          <a:xfrm>
            <a:off x="9791700" y="6735961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</a:t>
            </a:r>
            <a:endParaRPr lang="en-US" sz="825" dirty="0"/>
          </a:p>
        </p:txBody>
      </p:sp>
      <p:sp>
        <p:nvSpPr>
          <p:cNvPr id="184" name="Shape 157"/>
          <p:cNvSpPr/>
          <p:nvPr/>
        </p:nvSpPr>
        <p:spPr>
          <a:xfrm>
            <a:off x="10346085" y="6707386"/>
            <a:ext cx="781050" cy="190500"/>
          </a:xfrm>
          <a:prstGeom prst="roundRect">
            <a:avLst>
              <a:gd name="adj" fmla="val 50000"/>
            </a:avLst>
          </a:prstGeom>
          <a:solidFill>
            <a:srgbClr val="FDF3DA"/>
          </a:solidFill>
          <a:ln/>
        </p:spPr>
      </p:sp>
      <p:sp>
        <p:nvSpPr>
          <p:cNvPr id="185" name="Text 158"/>
          <p:cNvSpPr/>
          <p:nvPr/>
        </p:nvSpPr>
        <p:spPr>
          <a:xfrm>
            <a:off x="10422285" y="6735961"/>
            <a:ext cx="704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Containers</a:t>
            </a:r>
            <a:endParaRPr lang="en-US" sz="825" dirty="0"/>
          </a:p>
        </p:txBody>
      </p:sp>
      <p:sp>
        <p:nvSpPr>
          <p:cNvPr id="186" name="Shape 159"/>
          <p:cNvSpPr/>
          <p:nvPr/>
        </p:nvSpPr>
        <p:spPr>
          <a:xfrm>
            <a:off x="11165235" y="6707386"/>
            <a:ext cx="655439" cy="190500"/>
          </a:xfrm>
          <a:prstGeom prst="roundRect">
            <a:avLst>
              <a:gd name="adj" fmla="val 50000"/>
            </a:avLst>
          </a:prstGeom>
          <a:solidFill>
            <a:srgbClr val="FDF3DA"/>
          </a:solidFill>
          <a:ln/>
        </p:spPr>
      </p:sp>
      <p:sp>
        <p:nvSpPr>
          <p:cNvPr id="187" name="Text 160"/>
          <p:cNvSpPr/>
          <p:nvPr/>
        </p:nvSpPr>
        <p:spPr>
          <a:xfrm>
            <a:off x="11241435" y="6735961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</a:t>
            </a:r>
            <a:endParaRPr lang="en-US" sz="825" dirty="0"/>
          </a:p>
        </p:txBody>
      </p:sp>
      <p:sp>
        <p:nvSpPr>
          <p:cNvPr id="188" name="Shape 161"/>
          <p:cNvSpPr/>
          <p:nvPr/>
        </p:nvSpPr>
        <p:spPr>
          <a:xfrm>
            <a:off x="9715500" y="6935986"/>
            <a:ext cx="906810" cy="190500"/>
          </a:xfrm>
          <a:prstGeom prst="roundRect">
            <a:avLst>
              <a:gd name="adj" fmla="val 50000"/>
            </a:avLst>
          </a:prstGeom>
          <a:solidFill>
            <a:srgbClr val="FDF3DA"/>
          </a:solidFill>
          <a:ln/>
        </p:spPr>
      </p:sp>
      <p:sp>
        <p:nvSpPr>
          <p:cNvPr id="189" name="Text 162"/>
          <p:cNvSpPr/>
          <p:nvPr/>
        </p:nvSpPr>
        <p:spPr>
          <a:xfrm>
            <a:off x="9791700" y="6964561"/>
            <a:ext cx="8306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 Store</a:t>
            </a:r>
            <a:endParaRPr lang="en-US" sz="825" dirty="0"/>
          </a:p>
        </p:txBody>
      </p:sp>
      <p:sp>
        <p:nvSpPr>
          <p:cNvPr id="190" name="Shape 163"/>
          <p:cNvSpPr/>
          <p:nvPr/>
        </p:nvSpPr>
        <p:spPr>
          <a:xfrm>
            <a:off x="12344400" y="4745236"/>
            <a:ext cx="5334000" cy="5008364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  <a:effectLst>
            <a:outerShdw sx="100000" sy="100000" kx="0" ky="0" algn="bl" rotWithShape="0" blurRad="247650" dist="114300" dir="5400000">
              <a:srgbClr val="0F1734">
                <a:alpha val="18000"/>
              </a:srgbClr>
            </a:outerShdw>
          </a:effectLst>
        </p:spPr>
      </p:sp>
      <p:sp>
        <p:nvSpPr>
          <p:cNvPr id="191" name="Shape 164"/>
          <p:cNvSpPr/>
          <p:nvPr/>
        </p:nvSpPr>
        <p:spPr>
          <a:xfrm>
            <a:off x="12525375" y="4916686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4338CA"/>
          </a:solidFill>
          <a:ln/>
          <a:effectLst>
            <a:outerShdw sx="100000" sy="100000" kx="0" ky="0" algn="bl" rotWithShape="0" blurRad="133350" dist="57150" dir="5400000">
              <a:srgbClr val="4338CA">
                <a:alpha val="100000"/>
              </a:srgbClr>
            </a:outerShdw>
          </a:effectLst>
        </p:spPr>
      </p:sp>
      <p:pic>
        <p:nvPicPr>
          <p:cNvPr id="19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592050" y="4983361"/>
            <a:ext cx="171450" cy="171450"/>
          </a:xfrm>
          <a:prstGeom prst="rect">
            <a:avLst/>
          </a:prstGeom>
        </p:spPr>
      </p:pic>
      <p:sp>
        <p:nvSpPr>
          <p:cNvPr id="193" name="Text 165"/>
          <p:cNvSpPr/>
          <p:nvPr/>
        </p:nvSpPr>
        <p:spPr>
          <a:xfrm>
            <a:off x="12925425" y="4888111"/>
            <a:ext cx="292253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6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Trust &amp; Personas</a:t>
            </a:r>
            <a:endParaRPr lang="en-US" sz="1275" dirty="0"/>
          </a:p>
        </p:txBody>
      </p:sp>
      <p:sp>
        <p:nvSpPr>
          <p:cNvPr id="194" name="Text 166"/>
          <p:cNvSpPr/>
          <p:nvPr/>
        </p:nvSpPr>
        <p:spPr>
          <a:xfrm>
            <a:off x="12925425" y="5116711"/>
            <a:ext cx="29225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GOVERNANCE FOR EVERY STAKEHOLDER</a:t>
            </a:r>
            <a:endParaRPr lang="en-US" sz="900" dirty="0"/>
          </a:p>
        </p:txBody>
      </p:sp>
      <p:sp>
        <p:nvSpPr>
          <p:cNvPr id="195" name="Shape 167"/>
          <p:cNvSpPr/>
          <p:nvPr/>
        </p:nvSpPr>
        <p:spPr>
          <a:xfrm>
            <a:off x="12525375" y="5859661"/>
            <a:ext cx="4972050" cy="9525"/>
          </a:xfrm>
          <a:prstGeom prst="rect">
            <a:avLst/>
          </a:prstGeom>
          <a:solidFill>
            <a:srgbClr val="E2E7F1"/>
          </a:solidFill>
          <a:ln/>
        </p:spPr>
      </p:sp>
      <p:sp>
        <p:nvSpPr>
          <p:cNvPr id="196" name="Shape 168"/>
          <p:cNvSpPr/>
          <p:nvPr/>
        </p:nvSpPr>
        <p:spPr>
          <a:xfrm>
            <a:off x="12525375" y="5421511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EF1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197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620625" y="5516761"/>
            <a:ext cx="171450" cy="171450"/>
          </a:xfrm>
          <a:prstGeom prst="rect">
            <a:avLst/>
          </a:prstGeom>
        </p:spPr>
      </p:pic>
      <p:sp>
        <p:nvSpPr>
          <p:cNvPr id="198" name="Text 169"/>
          <p:cNvSpPr/>
          <p:nvPr/>
        </p:nvSpPr>
        <p:spPr>
          <a:xfrm>
            <a:off x="13001625" y="5426273"/>
            <a:ext cx="158621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Governance</a:t>
            </a:r>
            <a:endParaRPr lang="en-US" sz="1050" dirty="0"/>
          </a:p>
        </p:txBody>
      </p:sp>
      <p:sp>
        <p:nvSpPr>
          <p:cNvPr id="199" name="Text 170"/>
          <p:cNvSpPr/>
          <p:nvPr/>
        </p:nvSpPr>
        <p:spPr>
          <a:xfrm>
            <a:off x="13001625" y="5635823"/>
            <a:ext cx="15862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Policy, audit, model approvals</a:t>
            </a:r>
            <a:endParaRPr lang="en-US" sz="900" dirty="0"/>
          </a:p>
        </p:txBody>
      </p:sp>
      <p:sp>
        <p:nvSpPr>
          <p:cNvPr id="200" name="Shape 171"/>
          <p:cNvSpPr/>
          <p:nvPr/>
        </p:nvSpPr>
        <p:spPr>
          <a:xfrm>
            <a:off x="16803886" y="5497711"/>
            <a:ext cx="693539" cy="209550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/>
        </p:spPr>
      </p:sp>
      <p:sp>
        <p:nvSpPr>
          <p:cNvPr id="201" name="Text 172"/>
          <p:cNvSpPr/>
          <p:nvPr/>
        </p:nvSpPr>
        <p:spPr>
          <a:xfrm>
            <a:off x="16899136" y="5535811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338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enforced</a:t>
            </a:r>
            <a:endParaRPr lang="en-US" sz="825" dirty="0"/>
          </a:p>
        </p:txBody>
      </p:sp>
      <p:sp>
        <p:nvSpPr>
          <p:cNvPr id="202" name="Shape 173"/>
          <p:cNvSpPr/>
          <p:nvPr/>
        </p:nvSpPr>
        <p:spPr>
          <a:xfrm>
            <a:off x="12525375" y="6383536"/>
            <a:ext cx="4972050" cy="9525"/>
          </a:xfrm>
          <a:prstGeom prst="rect">
            <a:avLst/>
          </a:prstGeom>
          <a:solidFill>
            <a:srgbClr val="E2E7F1"/>
          </a:solidFill>
          <a:ln/>
        </p:spPr>
      </p:sp>
      <p:sp>
        <p:nvSpPr>
          <p:cNvPr id="203" name="Shape 174"/>
          <p:cNvSpPr/>
          <p:nvPr/>
        </p:nvSpPr>
        <p:spPr>
          <a:xfrm>
            <a:off x="12525375" y="5945386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EF1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20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620625" y="6040636"/>
            <a:ext cx="171450" cy="171450"/>
          </a:xfrm>
          <a:prstGeom prst="rect">
            <a:avLst/>
          </a:prstGeom>
        </p:spPr>
      </p:pic>
      <p:sp>
        <p:nvSpPr>
          <p:cNvPr id="205" name="Text 175"/>
          <p:cNvSpPr/>
          <p:nvPr/>
        </p:nvSpPr>
        <p:spPr>
          <a:xfrm>
            <a:off x="13001625" y="5950148"/>
            <a:ext cx="132144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SRE &amp; Platform</a:t>
            </a:r>
            <a:endParaRPr lang="en-US" sz="1050" dirty="0"/>
          </a:p>
        </p:txBody>
      </p:sp>
      <p:sp>
        <p:nvSpPr>
          <p:cNvPr id="206" name="Text 176"/>
          <p:cNvSpPr/>
          <p:nvPr/>
        </p:nvSpPr>
        <p:spPr>
          <a:xfrm>
            <a:off x="13001625" y="6159698"/>
            <a:ext cx="13214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Owns reliability &amp; tooling</a:t>
            </a:r>
            <a:endParaRPr lang="en-US" sz="900" dirty="0"/>
          </a:p>
        </p:txBody>
      </p:sp>
      <p:sp>
        <p:nvSpPr>
          <p:cNvPr id="207" name="Shape 177"/>
          <p:cNvSpPr/>
          <p:nvPr/>
        </p:nvSpPr>
        <p:spPr>
          <a:xfrm>
            <a:off x="16866840" y="6021586"/>
            <a:ext cx="630585" cy="209550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/>
        </p:spPr>
      </p:sp>
      <p:sp>
        <p:nvSpPr>
          <p:cNvPr id="208" name="Text 178"/>
          <p:cNvSpPr/>
          <p:nvPr/>
        </p:nvSpPr>
        <p:spPr>
          <a:xfrm>
            <a:off x="16962090" y="6059686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338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</a:t>
            </a:r>
            <a:endParaRPr lang="en-US" sz="825" dirty="0"/>
          </a:p>
        </p:txBody>
      </p:sp>
      <p:sp>
        <p:nvSpPr>
          <p:cNvPr id="209" name="Shape 179"/>
          <p:cNvSpPr/>
          <p:nvPr/>
        </p:nvSpPr>
        <p:spPr>
          <a:xfrm>
            <a:off x="12525375" y="6907411"/>
            <a:ext cx="4972050" cy="9525"/>
          </a:xfrm>
          <a:prstGeom prst="rect">
            <a:avLst/>
          </a:prstGeom>
          <a:solidFill>
            <a:srgbClr val="E2E7F1"/>
          </a:solidFill>
          <a:ln/>
        </p:spPr>
      </p:sp>
      <p:sp>
        <p:nvSpPr>
          <p:cNvPr id="210" name="Shape 180"/>
          <p:cNvSpPr/>
          <p:nvPr/>
        </p:nvSpPr>
        <p:spPr>
          <a:xfrm>
            <a:off x="12525375" y="6469261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EF1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21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620625" y="6564511"/>
            <a:ext cx="171450" cy="171450"/>
          </a:xfrm>
          <a:prstGeom prst="rect">
            <a:avLst/>
          </a:prstGeom>
        </p:spPr>
      </p:pic>
      <p:sp>
        <p:nvSpPr>
          <p:cNvPr id="212" name="Text 181"/>
          <p:cNvSpPr/>
          <p:nvPr/>
        </p:nvSpPr>
        <p:spPr>
          <a:xfrm>
            <a:off x="13001625" y="6474023"/>
            <a:ext cx="99104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213" name="Text 182"/>
          <p:cNvSpPr/>
          <p:nvPr/>
        </p:nvSpPr>
        <p:spPr>
          <a:xfrm>
            <a:off x="13001625" y="6683573"/>
            <a:ext cx="99104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Ships safer, faster</a:t>
            </a:r>
            <a:endParaRPr lang="en-US" sz="900" dirty="0"/>
          </a:p>
        </p:txBody>
      </p:sp>
      <p:sp>
        <p:nvSpPr>
          <p:cNvPr id="214" name="Shape 183"/>
          <p:cNvSpPr/>
          <p:nvPr/>
        </p:nvSpPr>
        <p:spPr>
          <a:xfrm>
            <a:off x="16866840" y="6545461"/>
            <a:ext cx="630585" cy="209550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/>
        </p:spPr>
      </p:sp>
      <p:sp>
        <p:nvSpPr>
          <p:cNvPr id="215" name="Text 184"/>
          <p:cNvSpPr/>
          <p:nvPr/>
        </p:nvSpPr>
        <p:spPr>
          <a:xfrm>
            <a:off x="16962090" y="6583561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338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enabled</a:t>
            </a:r>
            <a:endParaRPr lang="en-US" sz="825" dirty="0"/>
          </a:p>
        </p:txBody>
      </p:sp>
      <p:sp>
        <p:nvSpPr>
          <p:cNvPr id="216" name="Shape 185"/>
          <p:cNvSpPr/>
          <p:nvPr/>
        </p:nvSpPr>
        <p:spPr>
          <a:xfrm>
            <a:off x="12525375" y="6993136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EF1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21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620625" y="7088386"/>
            <a:ext cx="171450" cy="171450"/>
          </a:xfrm>
          <a:prstGeom prst="rect">
            <a:avLst/>
          </a:prstGeom>
        </p:spPr>
      </p:pic>
      <p:sp>
        <p:nvSpPr>
          <p:cNvPr id="218" name="Text 186"/>
          <p:cNvSpPr/>
          <p:nvPr/>
        </p:nvSpPr>
        <p:spPr>
          <a:xfrm>
            <a:off x="13001625" y="6997898"/>
            <a:ext cx="118154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Leadership</a:t>
            </a:r>
            <a:endParaRPr lang="en-US" sz="1050" dirty="0"/>
          </a:p>
        </p:txBody>
      </p:sp>
      <p:sp>
        <p:nvSpPr>
          <p:cNvPr id="219" name="Text 187"/>
          <p:cNvSpPr/>
          <p:nvPr/>
        </p:nvSpPr>
        <p:spPr>
          <a:xfrm>
            <a:off x="13001625" y="7207448"/>
            <a:ext cx="118154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Sees outcomes &amp; risk</a:t>
            </a:r>
            <a:endParaRPr lang="en-US" sz="900" dirty="0"/>
          </a:p>
        </p:txBody>
      </p:sp>
      <p:sp>
        <p:nvSpPr>
          <p:cNvPr id="220" name="Shape 188"/>
          <p:cNvSpPr/>
          <p:nvPr/>
        </p:nvSpPr>
        <p:spPr>
          <a:xfrm>
            <a:off x="16866840" y="7069336"/>
            <a:ext cx="630585" cy="209550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/>
        </p:spPr>
      </p:sp>
      <p:sp>
        <p:nvSpPr>
          <p:cNvPr id="221" name="Text 189"/>
          <p:cNvSpPr/>
          <p:nvPr/>
        </p:nvSpPr>
        <p:spPr>
          <a:xfrm>
            <a:off x="16962090" y="7107436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338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visible</a:t>
            </a:r>
            <a:endParaRPr lang="en-US" sz="825" dirty="0"/>
          </a:p>
        </p:txBody>
      </p:sp>
      <p:sp>
        <p:nvSpPr>
          <p:cNvPr id="222" name="Shape 190"/>
          <p:cNvSpPr/>
          <p:nvPr/>
        </p:nvSpPr>
        <p:spPr>
          <a:xfrm>
            <a:off x="609600" y="988695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223" name="Text 191"/>
          <p:cNvSpPr/>
          <p:nvPr/>
        </p:nvSpPr>
        <p:spPr>
          <a:xfrm>
            <a:off x="781050" y="986790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Sense</a:t>
            </a:r>
            <a:endParaRPr lang="en-US" sz="900" dirty="0"/>
          </a:p>
        </p:txBody>
      </p:sp>
      <p:sp>
        <p:nvSpPr>
          <p:cNvPr id="224" name="Shape 192"/>
          <p:cNvSpPr/>
          <p:nvPr/>
        </p:nvSpPr>
        <p:spPr>
          <a:xfrm>
            <a:off x="1295400" y="988695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</p:spPr>
      </p:sp>
      <p:sp>
        <p:nvSpPr>
          <p:cNvPr id="225" name="Text 193"/>
          <p:cNvSpPr/>
          <p:nvPr/>
        </p:nvSpPr>
        <p:spPr>
          <a:xfrm>
            <a:off x="1466850" y="986790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Think</a:t>
            </a:r>
            <a:endParaRPr lang="en-US" sz="900" dirty="0"/>
          </a:p>
        </p:txBody>
      </p:sp>
      <p:sp>
        <p:nvSpPr>
          <p:cNvPr id="226" name="Shape 194"/>
          <p:cNvSpPr/>
          <p:nvPr/>
        </p:nvSpPr>
        <p:spPr>
          <a:xfrm>
            <a:off x="1981200" y="988695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0891B2"/>
          </a:solidFill>
          <a:ln/>
        </p:spPr>
      </p:sp>
      <p:sp>
        <p:nvSpPr>
          <p:cNvPr id="227" name="Text 195"/>
          <p:cNvSpPr/>
          <p:nvPr/>
        </p:nvSpPr>
        <p:spPr>
          <a:xfrm>
            <a:off x="2152650" y="9867900"/>
            <a:ext cx="2820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</a:t>
            </a:r>
            <a:endParaRPr lang="en-US" sz="900" dirty="0"/>
          </a:p>
        </p:txBody>
      </p:sp>
      <p:sp>
        <p:nvSpPr>
          <p:cNvPr id="228" name="Shape 196"/>
          <p:cNvSpPr/>
          <p:nvPr/>
        </p:nvSpPr>
        <p:spPr>
          <a:xfrm>
            <a:off x="2529929" y="988695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DB2777"/>
          </a:solidFill>
          <a:ln/>
        </p:spPr>
      </p:sp>
      <p:sp>
        <p:nvSpPr>
          <p:cNvPr id="229" name="Text 197"/>
          <p:cNvSpPr/>
          <p:nvPr/>
        </p:nvSpPr>
        <p:spPr>
          <a:xfrm>
            <a:off x="2701379" y="9867900"/>
            <a:ext cx="556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Resolve</a:t>
            </a:r>
            <a:endParaRPr lang="en-US" sz="900" dirty="0"/>
          </a:p>
        </p:txBody>
      </p:sp>
      <p:sp>
        <p:nvSpPr>
          <p:cNvPr id="230" name="Shape 198"/>
          <p:cNvSpPr/>
          <p:nvPr/>
        </p:nvSpPr>
        <p:spPr>
          <a:xfrm>
            <a:off x="3352949" y="988695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4338CA"/>
          </a:solidFill>
          <a:ln/>
        </p:spPr>
      </p:sp>
      <p:sp>
        <p:nvSpPr>
          <p:cNvPr id="231" name="Text 199"/>
          <p:cNvSpPr/>
          <p:nvPr/>
        </p:nvSpPr>
        <p:spPr>
          <a:xfrm>
            <a:off x="3524399" y="986790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232" name="Text 200"/>
          <p:cNvSpPr/>
          <p:nvPr/>
        </p:nvSpPr>
        <p:spPr>
          <a:xfrm>
            <a:off x="14660761" y="9867900"/>
            <a:ext cx="31081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aiops · executive overview · v1.0 ·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2026-05-05T15:09:36Z</dcterms:created>
  <dcterms:modified xsi:type="dcterms:W3CDTF">2026-05-05T15:09:36Z</dcterms:modified>
</cp:coreProperties>
</file>