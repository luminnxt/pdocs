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61" r:id="rId4"/>
    <p:sldId id="267" r:id="rId5"/>
    <p:sldId id="269" r:id="rId6"/>
    <p:sldId id="27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1D6"/>
    <a:srgbClr val="E7F4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58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Velocity</c:v>
                </c:pt>
              </c:strCache>
            </c:strRef>
          </c:tx>
          <c:spPr>
            <a:solidFill>
              <a:srgbClr val="E59A1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B647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S10</c:v>
                </c:pt>
                <c:pt idx="1">
                  <c:v>S11</c:v>
                </c:pt>
                <c:pt idx="2">
                  <c:v>S12</c:v>
                </c:pt>
                <c:pt idx="3">
                  <c:v>S13</c:v>
                </c:pt>
                <c:pt idx="4">
                  <c:v>S14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</c:v>
                </c:pt>
                <c:pt idx="1">
                  <c:v>31</c:v>
                </c:pt>
                <c:pt idx="2">
                  <c:v>36</c:v>
                </c:pt>
                <c:pt idx="3">
                  <c:v>33</c:v>
                </c:pt>
                <c:pt idx="4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D0-4492-972E-BBBD3FBDE7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29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6350" cap="flat">
              <a:solidFill>
                <a:srgbClr val="EFEA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2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</c:v>
                </c:pt>
              </c:strCache>
            </c:strRef>
          </c:tx>
          <c:spPr>
            <a:ln w="31750" cap="flat">
              <a:solidFill>
                <a:srgbClr val="8A929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A929C"/>
              </a:solidFill>
              <a:ln w="9525" cap="flat">
                <a:solidFill>
                  <a:srgbClr val="8A929C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42</c:v>
                </c:pt>
                <c:pt idx="1">
                  <c:v>37.299999999999997</c:v>
                </c:pt>
                <c:pt idx="2">
                  <c:v>32.700000000000003</c:v>
                </c:pt>
                <c:pt idx="3">
                  <c:v>28</c:v>
                </c:pt>
                <c:pt idx="4">
                  <c:v>23.3</c:v>
                </c:pt>
                <c:pt idx="5">
                  <c:v>18.7</c:v>
                </c:pt>
                <c:pt idx="6">
                  <c:v>14</c:v>
                </c:pt>
                <c:pt idx="7">
                  <c:v>9.3000000000000007</c:v>
                </c:pt>
                <c:pt idx="8">
                  <c:v>4.7</c:v>
                </c:pt>
                <c:pt idx="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97D-4869-AD5C-BAAFA0CB86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ln w="31750" cap="flat">
              <a:solidFill>
                <a:srgbClr val="D850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8503A"/>
              </a:solidFill>
              <a:ln w="9525" cap="flat">
                <a:solidFill>
                  <a:srgbClr val="D8503A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42</c:v>
                </c:pt>
                <c:pt idx="1">
                  <c:v>41</c:v>
                </c:pt>
                <c:pt idx="2">
                  <c:v>40</c:v>
                </c:pt>
                <c:pt idx="3">
                  <c:v>33</c:v>
                </c:pt>
                <c:pt idx="4">
                  <c:v>31</c:v>
                </c:pt>
                <c:pt idx="5">
                  <c:v>26</c:v>
                </c:pt>
                <c:pt idx="6">
                  <c:v>21</c:v>
                </c:pt>
                <c:pt idx="7">
                  <c:v>22</c:v>
                </c:pt>
                <c:pt idx="8">
                  <c:v>14</c:v>
                </c:pt>
                <c:pt idx="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97D-4869-AD5C-BAAFA0CB86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929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6350" cap="flat">
              <a:solidFill>
                <a:srgbClr val="EFEA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2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B647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708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10586" y="613038"/>
            <a:ext cx="10972800" cy="765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Agile Delivery </a:t>
            </a:r>
            <a:r>
              <a:rPr lang="en-US" sz="5000" b="1" dirty="0">
                <a:solidFill>
                  <a:srgbClr val="E59A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Model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10586" y="1499615"/>
            <a:ext cx="7863840" cy="656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predictable, transparent way of building software — two-week sprints, a single Jira source of truth, and ceremonies that connect daily work to quarterly OKRs.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19730" y="2383665"/>
            <a:ext cx="2571293" cy="42062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3A465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830626" y="2383665"/>
            <a:ext cx="220553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2-Week Sprints · Mon → Fri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55615" y="2383665"/>
            <a:ext cx="2066544" cy="42062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3A46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511" y="2383665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Jira-Driven Workflow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751" y="2383665"/>
            <a:ext cx="1814170" cy="42062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3A46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97647" y="2383665"/>
            <a:ext cx="14484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OKR-Aligned Epics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65512" y="2383665"/>
            <a:ext cx="2150669" cy="42062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3A46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6408" y="2383665"/>
            <a:ext cx="178490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Quarterly PI Planning</a:t>
            </a:r>
            <a:endParaRPr lang="en-US" sz="1050" dirty="0"/>
          </a:p>
        </p:txBody>
      </p:sp>
      <p:sp>
        <p:nvSpPr>
          <p:cNvPr id="19" name="Shape 3"/>
          <p:cNvSpPr/>
          <p:nvPr/>
        </p:nvSpPr>
        <p:spPr>
          <a:xfrm>
            <a:off x="510586" y="4126453"/>
            <a:ext cx="2560320" cy="21128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20" name="Shape 4"/>
          <p:cNvSpPr/>
          <p:nvPr/>
        </p:nvSpPr>
        <p:spPr>
          <a:xfrm>
            <a:off x="830626" y="4492213"/>
            <a:ext cx="385215" cy="385215"/>
          </a:xfrm>
          <a:prstGeom prst="ellipse">
            <a:avLst/>
          </a:prstGeom>
          <a:solidFill>
            <a:srgbClr val="FBF1D6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77" y="4589081"/>
            <a:ext cx="200312" cy="200312"/>
          </a:xfrm>
          <a:prstGeom prst="rect">
            <a:avLst/>
          </a:prstGeom>
        </p:spPr>
      </p:pic>
      <p:sp>
        <p:nvSpPr>
          <p:cNvPr id="22" name="Text 5"/>
          <p:cNvSpPr/>
          <p:nvPr/>
        </p:nvSpPr>
        <p:spPr>
          <a:xfrm>
            <a:off x="1421098" y="4353886"/>
            <a:ext cx="106258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32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</a:t>
            </a:r>
          </a:p>
          <a:p>
            <a:pPr marL="0" indent="0">
              <a:buNone/>
            </a:pPr>
            <a:r>
              <a:rPr lang="en-US" sz="1650" b="1" dirty="0">
                <a:solidFill>
                  <a:srgbClr val="232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alignment</a:t>
            </a:r>
            <a:endParaRPr lang="en-US" sz="1650" dirty="0"/>
          </a:p>
        </p:txBody>
      </p:sp>
      <p:sp>
        <p:nvSpPr>
          <p:cNvPr id="23" name="Text 6"/>
          <p:cNvSpPr/>
          <p:nvPr/>
        </p:nvSpPr>
        <p:spPr>
          <a:xfrm>
            <a:off x="803194" y="5090834"/>
            <a:ext cx="2011680" cy="984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Epic ladders up to a quarterly OKR. Leadership sees why work happens, not just what.</a:t>
            </a:r>
            <a:endParaRPr lang="en-US" sz="1250" dirty="0"/>
          </a:p>
        </p:txBody>
      </p:sp>
      <p:sp>
        <p:nvSpPr>
          <p:cNvPr id="24" name="Shape 7"/>
          <p:cNvSpPr/>
          <p:nvPr/>
        </p:nvSpPr>
        <p:spPr>
          <a:xfrm>
            <a:off x="3345226" y="4126453"/>
            <a:ext cx="2560320" cy="21128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25" name="Shape 8"/>
          <p:cNvSpPr/>
          <p:nvPr/>
        </p:nvSpPr>
        <p:spPr>
          <a:xfrm>
            <a:off x="3665266" y="4492213"/>
            <a:ext cx="385215" cy="385215"/>
          </a:xfrm>
          <a:prstGeom prst="ellipse">
            <a:avLst/>
          </a:prstGeom>
          <a:solidFill>
            <a:srgbClr val="D9F2EE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717" y="4592891"/>
            <a:ext cx="200312" cy="200312"/>
          </a:xfrm>
          <a:prstGeom prst="rect">
            <a:avLst/>
          </a:prstGeom>
        </p:spPr>
      </p:pic>
      <p:sp>
        <p:nvSpPr>
          <p:cNvPr id="27" name="Text 9"/>
          <p:cNvSpPr/>
          <p:nvPr/>
        </p:nvSpPr>
        <p:spPr>
          <a:xfrm>
            <a:off x="4255738" y="4353886"/>
            <a:ext cx="1393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32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Predictability</a:t>
            </a:r>
            <a:endParaRPr lang="en-US" sz="1650" dirty="0"/>
          </a:p>
        </p:txBody>
      </p:sp>
      <p:sp>
        <p:nvSpPr>
          <p:cNvPr id="28" name="Text 10"/>
          <p:cNvSpPr/>
          <p:nvPr/>
        </p:nvSpPr>
        <p:spPr>
          <a:xfrm>
            <a:off x="3637834" y="5090834"/>
            <a:ext cx="2011680" cy="984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&amp; capacity planning turn estimates into reliable, forecastable delivery dates.</a:t>
            </a:r>
            <a:endParaRPr lang="en-US" sz="1250" dirty="0"/>
          </a:p>
        </p:txBody>
      </p:sp>
      <p:sp>
        <p:nvSpPr>
          <p:cNvPr id="29" name="Shape 11"/>
          <p:cNvSpPr/>
          <p:nvPr/>
        </p:nvSpPr>
        <p:spPr>
          <a:xfrm>
            <a:off x="6179866" y="4126453"/>
            <a:ext cx="2560320" cy="21128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30" name="Shape 12"/>
          <p:cNvSpPr/>
          <p:nvPr/>
        </p:nvSpPr>
        <p:spPr>
          <a:xfrm>
            <a:off x="6499906" y="4492213"/>
            <a:ext cx="385215" cy="385215"/>
          </a:xfrm>
          <a:prstGeom prst="ellipse">
            <a:avLst/>
          </a:prstGeom>
          <a:solidFill>
            <a:srgbClr val="FCE6E0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357" y="4589081"/>
            <a:ext cx="200312" cy="200312"/>
          </a:xfrm>
          <a:prstGeom prst="rect">
            <a:avLst/>
          </a:prstGeom>
        </p:spPr>
      </p:pic>
      <p:sp>
        <p:nvSpPr>
          <p:cNvPr id="32" name="Text 13"/>
          <p:cNvSpPr/>
          <p:nvPr/>
        </p:nvSpPr>
        <p:spPr>
          <a:xfrm>
            <a:off x="7090378" y="4353886"/>
            <a:ext cx="1324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32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Transparency</a:t>
            </a:r>
            <a:endParaRPr lang="en-US" sz="1650" dirty="0"/>
          </a:p>
        </p:txBody>
      </p:sp>
      <p:sp>
        <p:nvSpPr>
          <p:cNvPr id="33" name="Text 14"/>
          <p:cNvSpPr/>
          <p:nvPr/>
        </p:nvSpPr>
        <p:spPr>
          <a:xfrm>
            <a:off x="6472474" y="5090834"/>
            <a:ext cx="2011680" cy="984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Jira board means real-time status — no status-chasing, no deadline surprises.</a:t>
            </a:r>
            <a:endParaRPr lang="en-US" sz="1250" dirty="0"/>
          </a:p>
        </p:txBody>
      </p:sp>
      <p:sp>
        <p:nvSpPr>
          <p:cNvPr id="34" name="Shape 15"/>
          <p:cNvSpPr/>
          <p:nvPr/>
        </p:nvSpPr>
        <p:spPr>
          <a:xfrm>
            <a:off x="9014506" y="4126453"/>
            <a:ext cx="2560320" cy="21128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35" name="Shape 16"/>
          <p:cNvSpPr/>
          <p:nvPr/>
        </p:nvSpPr>
        <p:spPr>
          <a:xfrm>
            <a:off x="9334546" y="4492213"/>
            <a:ext cx="385215" cy="385215"/>
          </a:xfrm>
          <a:prstGeom prst="ellipse">
            <a:avLst/>
          </a:prstGeom>
          <a:solidFill>
            <a:srgbClr val="ECE5FA"/>
          </a:solidFill>
          <a:ln/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6997" y="4589081"/>
            <a:ext cx="200312" cy="200312"/>
          </a:xfrm>
          <a:prstGeom prst="rect">
            <a:avLst/>
          </a:prstGeom>
        </p:spPr>
      </p:pic>
      <p:sp>
        <p:nvSpPr>
          <p:cNvPr id="37" name="Text 17"/>
          <p:cNvSpPr/>
          <p:nvPr/>
        </p:nvSpPr>
        <p:spPr>
          <a:xfrm>
            <a:off x="9925018" y="4353886"/>
            <a:ext cx="1360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32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improvement</a:t>
            </a:r>
            <a:endParaRPr lang="en-US" sz="1650" dirty="0"/>
          </a:p>
        </p:txBody>
      </p:sp>
      <p:sp>
        <p:nvSpPr>
          <p:cNvPr id="38" name="Text 18"/>
          <p:cNvSpPr/>
          <p:nvPr/>
        </p:nvSpPr>
        <p:spPr>
          <a:xfrm>
            <a:off x="9307114" y="5090834"/>
            <a:ext cx="2011680" cy="984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 convert problems into actions every two weeks, so the team gets measurably faster.</a:t>
            </a:r>
            <a:endParaRPr lang="en-US" sz="1250" dirty="0"/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D85D9093-9E00-1A33-3DEE-1675D38BCBFE}"/>
              </a:ext>
            </a:extLst>
          </p:cNvPr>
          <p:cNvSpPr/>
          <p:nvPr/>
        </p:nvSpPr>
        <p:spPr>
          <a:xfrm>
            <a:off x="521208" y="2956111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are moving to this model</a:t>
            </a:r>
            <a:endParaRPr lang="en-US" sz="2000" dirty="0"/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0CF86898-F958-6EE9-E07A-566BDFF6189A}"/>
              </a:ext>
            </a:extLst>
          </p:cNvPr>
          <p:cNvSpPr/>
          <p:nvPr/>
        </p:nvSpPr>
        <p:spPr>
          <a:xfrm>
            <a:off x="548640" y="350464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'more process' — predictable delivery, early visibility of risk, and a clear line from effort to business outcomes.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654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BC7C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SPRINT &gt; </a:t>
            </a:r>
            <a:r>
              <a:rPr lang="en-US" sz="3600" b="1" kern="0" spc="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2-Week Heartbeat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202699"/>
            <a:ext cx="11064240" cy="5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ea typeface="Calibri" pitchFamily="34" charset="-122"/>
                <a:cs typeface="Calibri" pitchFamily="34" charset="-120"/>
              </a:rPr>
              <a:t>Sprints run Monday of Week 1 → Friday of Week 2 — 10 working days. A fixed rhythm makes velocity meaningful and planning trustworthy.</a:t>
            </a:r>
          </a:p>
          <a:p>
            <a:r>
              <a:rPr lang="en-US" sz="1300" b="1" dirty="0">
                <a:solidFill>
                  <a:schemeClr val="tx1">
                    <a:lumMod val="50000"/>
                    <a:lumOff val="50000"/>
                  </a:schemeClr>
                </a:solidFill>
                <a:ea typeface="Calibri" pitchFamily="34" charset="-122"/>
                <a:cs typeface="Calibri" pitchFamily="34" charset="-120"/>
              </a:rPr>
              <a:t>Sprint Goal </a:t>
            </a:r>
            <a:r>
              <a:rPr lang="en-US" sz="1300" dirty="0">
                <a:solidFill>
                  <a:schemeClr val="tx1">
                    <a:lumMod val="50000"/>
                    <a:lumOff val="50000"/>
                  </a:schemeClr>
                </a:solidFill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ea typeface="Calibri" pitchFamily="34" charset="-122"/>
                <a:cs typeface="Calibri" pitchFamily="34" charset="-120"/>
              </a:rPr>
              <a:t>Every sprint has one sentence describing the outcome it delivers. It keeps scope of success beyond a checklist of tickets.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en-U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822077"/>
            <a:ext cx="2560320" cy="8229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1360" y="1847477"/>
            <a:ext cx="75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BC7C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737360" y="2022699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sprint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1822077"/>
            <a:ext cx="2560320" cy="8229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56000" y="1847477"/>
            <a:ext cx="75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C80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0" y="2022699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in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822077"/>
            <a:ext cx="2560320" cy="8229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90640" y="1847477"/>
            <a:ext cx="75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D85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~6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7406640" y="2022699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per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/ PI</a:t>
            </a:r>
            <a:endParaRPr lang="en-US" sz="125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45055268-C733-18C3-4792-A66DF858E015}"/>
              </a:ext>
            </a:extLst>
          </p:cNvPr>
          <p:cNvSpPr/>
          <p:nvPr/>
        </p:nvSpPr>
        <p:spPr>
          <a:xfrm>
            <a:off x="521208" y="2918307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3272E"/>
                </a:solidFill>
                <a:latin typeface="Trebuchet MS" pitchFamily="34" charset="0"/>
              </a:rPr>
              <a:t>JIRA WORKFLOW</a:t>
            </a:r>
            <a:endParaRPr lang="en-US" sz="29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6BE1F5DC-1D77-2D5B-9882-8AD426C9BB72}"/>
              </a:ext>
            </a:extLst>
          </p:cNvPr>
          <p:cNvSpPr/>
          <p:nvPr/>
        </p:nvSpPr>
        <p:spPr>
          <a:xfrm>
            <a:off x="548640" y="3594963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states. Tickets move left → right. WIP limits keep the team finishing work before starting new work.</a:t>
            </a:r>
            <a:endParaRPr lang="en-US" sz="1300" dirty="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0416D703-BB53-A912-C3E2-B6131B331BAE}"/>
              </a:ext>
            </a:extLst>
          </p:cNvPr>
          <p:cNvSpPr/>
          <p:nvPr/>
        </p:nvSpPr>
        <p:spPr>
          <a:xfrm>
            <a:off x="548640" y="4088739"/>
            <a:ext cx="2066544" cy="411480"/>
          </a:xfrm>
          <a:prstGeom prst="roundRect">
            <a:avLst>
              <a:gd name="adj" fmla="val 15556"/>
            </a:avLst>
          </a:prstGeom>
          <a:solidFill>
            <a:srgbClr val="ECE9E1"/>
          </a:solidFill>
          <a:ln w="12700">
            <a:solidFill>
              <a:srgbClr val="ECE9E1"/>
            </a:solidFill>
            <a:prstDash val="solid"/>
          </a:ln>
        </p:spPr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D15E1341-A1AA-78BC-AE54-305F1D993F4C}"/>
              </a:ext>
            </a:extLst>
          </p:cNvPr>
          <p:cNvSpPr/>
          <p:nvPr/>
        </p:nvSpPr>
        <p:spPr>
          <a:xfrm>
            <a:off x="548640" y="4088739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TO START</a:t>
            </a:r>
            <a:endParaRPr lang="en-US" sz="950" dirty="0"/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24279F94-C495-3F9E-72C2-C54FEF834C22}"/>
              </a:ext>
            </a:extLst>
          </p:cNvPr>
          <p:cNvSpPr/>
          <p:nvPr/>
        </p:nvSpPr>
        <p:spPr>
          <a:xfrm>
            <a:off x="2798064" y="4088739"/>
            <a:ext cx="2066544" cy="411480"/>
          </a:xfrm>
          <a:prstGeom prst="roundRect">
            <a:avLst>
              <a:gd name="adj" fmla="val 15556"/>
            </a:avLst>
          </a:prstGeom>
          <a:solidFill>
            <a:srgbClr val="FBF1D6"/>
          </a:solidFill>
          <a:ln w="12700">
            <a:solidFill>
              <a:srgbClr val="FBF1D6"/>
            </a:solidFill>
            <a:prstDash val="solid"/>
          </a:ln>
        </p:spPr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99605C23-9E0B-A273-1332-3615094F00DE}"/>
              </a:ext>
            </a:extLst>
          </p:cNvPr>
          <p:cNvSpPr/>
          <p:nvPr/>
        </p:nvSpPr>
        <p:spPr>
          <a:xfrm>
            <a:off x="2798064" y="4088739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BC7C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93389E8B-7DC8-EE54-C72A-9599E77C4DE2}"/>
              </a:ext>
            </a:extLst>
          </p:cNvPr>
          <p:cNvSpPr/>
          <p:nvPr/>
        </p:nvSpPr>
        <p:spPr>
          <a:xfrm>
            <a:off x="5047488" y="4088739"/>
            <a:ext cx="2066544" cy="411480"/>
          </a:xfrm>
          <a:prstGeom prst="roundRect">
            <a:avLst>
              <a:gd name="adj" fmla="val 15556"/>
            </a:avLst>
          </a:prstGeom>
          <a:solidFill>
            <a:srgbClr val="E5EFFB"/>
          </a:solidFill>
          <a:ln w="12700">
            <a:solidFill>
              <a:srgbClr val="E5EFFB"/>
            </a:solidFill>
            <a:prstDash val="solid"/>
          </a:ln>
        </p:spPr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483B7485-0352-1116-1DC5-DEAEC74A865A}"/>
              </a:ext>
            </a:extLst>
          </p:cNvPr>
          <p:cNvSpPr/>
          <p:nvPr/>
        </p:nvSpPr>
        <p:spPr>
          <a:xfrm>
            <a:off x="5047488" y="4088739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F7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 COMPLETE</a:t>
            </a:r>
            <a:endParaRPr lang="en-US" sz="950" dirty="0"/>
          </a:p>
        </p:txBody>
      </p:sp>
      <p:sp>
        <p:nvSpPr>
          <p:cNvPr id="31" name="Shape 33">
            <a:extLst>
              <a:ext uri="{FF2B5EF4-FFF2-40B4-BE49-F238E27FC236}">
                <a16:creationId xmlns:a16="http://schemas.microsoft.com/office/drawing/2014/main" id="{C9092236-5B89-9524-4B8B-495DF46706AC}"/>
              </a:ext>
            </a:extLst>
          </p:cNvPr>
          <p:cNvSpPr/>
          <p:nvPr/>
        </p:nvSpPr>
        <p:spPr>
          <a:xfrm>
            <a:off x="7296912" y="4088739"/>
            <a:ext cx="2066544" cy="411480"/>
          </a:xfrm>
          <a:prstGeom prst="roundRect">
            <a:avLst>
              <a:gd name="adj" fmla="val 15556"/>
            </a:avLst>
          </a:prstGeom>
          <a:solidFill>
            <a:srgbClr val="D9F2EE"/>
          </a:solidFill>
          <a:ln w="12700">
            <a:solidFill>
              <a:srgbClr val="D9F2EE"/>
            </a:solidFill>
            <a:prstDash val="solid"/>
          </a:ln>
        </p:spPr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5DCFF307-777B-CC81-0AE6-CE73A994E9F8}"/>
              </a:ext>
            </a:extLst>
          </p:cNvPr>
          <p:cNvSpPr/>
          <p:nvPr/>
        </p:nvSpPr>
        <p:spPr>
          <a:xfrm>
            <a:off x="7296912" y="4088739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0C80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COMPLETE</a:t>
            </a:r>
            <a:endParaRPr lang="en-US" sz="950" dirty="0"/>
          </a:p>
        </p:txBody>
      </p:sp>
      <p:sp>
        <p:nvSpPr>
          <p:cNvPr id="33" name="Shape 41">
            <a:extLst>
              <a:ext uri="{FF2B5EF4-FFF2-40B4-BE49-F238E27FC236}">
                <a16:creationId xmlns:a16="http://schemas.microsoft.com/office/drawing/2014/main" id="{78C912FA-9574-8B49-B521-138632B029AD}"/>
              </a:ext>
            </a:extLst>
          </p:cNvPr>
          <p:cNvSpPr/>
          <p:nvPr/>
        </p:nvSpPr>
        <p:spPr>
          <a:xfrm>
            <a:off x="9546336" y="4088739"/>
            <a:ext cx="2066544" cy="411480"/>
          </a:xfrm>
          <a:prstGeom prst="roundRect">
            <a:avLst>
              <a:gd name="adj" fmla="val 15556"/>
            </a:avLst>
          </a:prstGeom>
          <a:solidFill>
            <a:srgbClr val="DEF2E6"/>
          </a:solidFill>
          <a:ln w="12700">
            <a:solidFill>
              <a:srgbClr val="DEF2E6"/>
            </a:solidFill>
            <a:prstDash val="solid"/>
          </a:ln>
        </p:spPr>
      </p:sp>
      <p:sp>
        <p:nvSpPr>
          <p:cNvPr id="34" name="Text 42">
            <a:extLst>
              <a:ext uri="{FF2B5EF4-FFF2-40B4-BE49-F238E27FC236}">
                <a16:creationId xmlns:a16="http://schemas.microsoft.com/office/drawing/2014/main" id="{E5B97E5C-927C-C16A-DA66-C1AA9A435BCC}"/>
              </a:ext>
            </a:extLst>
          </p:cNvPr>
          <p:cNvSpPr/>
          <p:nvPr/>
        </p:nvSpPr>
        <p:spPr>
          <a:xfrm>
            <a:off x="9546336" y="4088739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F9D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950" dirty="0"/>
          </a:p>
        </p:txBody>
      </p:sp>
      <p:sp>
        <p:nvSpPr>
          <p:cNvPr id="35" name="Shape 55">
            <a:extLst>
              <a:ext uri="{FF2B5EF4-FFF2-40B4-BE49-F238E27FC236}">
                <a16:creationId xmlns:a16="http://schemas.microsoft.com/office/drawing/2014/main" id="{5A65E543-AEF9-C6F0-A279-E843A96BDB33}"/>
              </a:ext>
            </a:extLst>
          </p:cNvPr>
          <p:cNvSpPr/>
          <p:nvPr/>
        </p:nvSpPr>
        <p:spPr>
          <a:xfrm>
            <a:off x="548640" y="4837531"/>
            <a:ext cx="3505200" cy="13644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36" name="Text 56">
            <a:extLst>
              <a:ext uri="{FF2B5EF4-FFF2-40B4-BE49-F238E27FC236}">
                <a16:creationId xmlns:a16="http://schemas.microsoft.com/office/drawing/2014/main" id="{6597C2C2-DD08-4371-1DB3-D37E0AE8EBA3}"/>
              </a:ext>
            </a:extLst>
          </p:cNvPr>
          <p:cNvSpPr/>
          <p:nvPr/>
        </p:nvSpPr>
        <p:spPr>
          <a:xfrm>
            <a:off x="822960" y="4971445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7C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WIP</a:t>
            </a:r>
            <a:endParaRPr lang="en-US" sz="1100" dirty="0"/>
          </a:p>
        </p:txBody>
      </p:sp>
      <p:sp>
        <p:nvSpPr>
          <p:cNvPr id="37" name="Text 57">
            <a:extLst>
              <a:ext uri="{FF2B5EF4-FFF2-40B4-BE49-F238E27FC236}">
                <a16:creationId xmlns:a16="http://schemas.microsoft.com/office/drawing/2014/main" id="{727AA79D-C179-44A9-46BC-341A432EA96F}"/>
              </a:ext>
            </a:extLst>
          </p:cNvPr>
          <p:cNvSpPr/>
          <p:nvPr/>
        </p:nvSpPr>
        <p:spPr>
          <a:xfrm>
            <a:off x="822960" y="5272939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 work in progress</a:t>
            </a:r>
            <a:endParaRPr lang="en-US" sz="1500" dirty="0"/>
          </a:p>
        </p:txBody>
      </p:sp>
      <p:sp>
        <p:nvSpPr>
          <p:cNvPr id="38" name="Text 58">
            <a:extLst>
              <a:ext uri="{FF2B5EF4-FFF2-40B4-BE49-F238E27FC236}">
                <a16:creationId xmlns:a16="http://schemas.microsoft.com/office/drawing/2014/main" id="{3BF2408B-DD13-9BD4-2480-D0372E034695}"/>
              </a:ext>
            </a:extLst>
          </p:cNvPr>
          <p:cNvSpPr/>
          <p:nvPr/>
        </p:nvSpPr>
        <p:spPr>
          <a:xfrm>
            <a:off x="822960" y="5483251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each column. Less in progress = more finished. Bottlenecks show instantly.</a:t>
            </a:r>
            <a:endParaRPr lang="en-US" sz="1200" dirty="0"/>
          </a:p>
        </p:txBody>
      </p:sp>
      <p:sp>
        <p:nvSpPr>
          <p:cNvPr id="39" name="Shape 59">
            <a:extLst>
              <a:ext uri="{FF2B5EF4-FFF2-40B4-BE49-F238E27FC236}">
                <a16:creationId xmlns:a16="http://schemas.microsoft.com/office/drawing/2014/main" id="{6ED88100-35D0-758B-1F63-798735959BA6}"/>
              </a:ext>
            </a:extLst>
          </p:cNvPr>
          <p:cNvSpPr/>
          <p:nvPr/>
        </p:nvSpPr>
        <p:spPr>
          <a:xfrm>
            <a:off x="4328160" y="4837531"/>
            <a:ext cx="3505200" cy="13644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40" name="Text 60">
            <a:extLst>
              <a:ext uri="{FF2B5EF4-FFF2-40B4-BE49-F238E27FC236}">
                <a16:creationId xmlns:a16="http://schemas.microsoft.com/office/drawing/2014/main" id="{09EE35CE-F8F4-A0B3-F3EE-14AF9ECDDFB8}"/>
              </a:ext>
            </a:extLst>
          </p:cNvPr>
          <p:cNvSpPr/>
          <p:nvPr/>
        </p:nvSpPr>
        <p:spPr>
          <a:xfrm>
            <a:off x="4602480" y="4971445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7C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 → TEST</a:t>
            </a:r>
            <a:endParaRPr lang="en-US" sz="1100" dirty="0"/>
          </a:p>
        </p:txBody>
      </p:sp>
      <p:sp>
        <p:nvSpPr>
          <p:cNvPr id="41" name="Text 61">
            <a:extLst>
              <a:ext uri="{FF2B5EF4-FFF2-40B4-BE49-F238E27FC236}">
                <a16:creationId xmlns:a16="http://schemas.microsoft.com/office/drawing/2014/main" id="{D7474E53-6676-2E0B-38C5-732780FBADD9}"/>
              </a:ext>
            </a:extLst>
          </p:cNvPr>
          <p:cNvSpPr/>
          <p:nvPr/>
        </p:nvSpPr>
        <p:spPr>
          <a:xfrm>
            <a:off x="4602480" y="5272939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is built in</a:t>
            </a:r>
            <a:endParaRPr lang="en-US" sz="1500" dirty="0"/>
          </a:p>
        </p:txBody>
      </p:sp>
      <p:sp>
        <p:nvSpPr>
          <p:cNvPr id="42" name="Text 62">
            <a:extLst>
              <a:ext uri="{FF2B5EF4-FFF2-40B4-BE49-F238E27FC236}">
                <a16:creationId xmlns:a16="http://schemas.microsoft.com/office/drawing/2014/main" id="{628B7F22-3028-E2AA-2DBC-2EDCFF2A52D3}"/>
              </a:ext>
            </a:extLst>
          </p:cNvPr>
          <p:cNvSpPr/>
          <p:nvPr/>
        </p:nvSpPr>
        <p:spPr>
          <a:xfrm>
            <a:off x="4602480" y="5483251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'Dev Complete' ≠ Done. QA verification is a first-class column.</a:t>
            </a:r>
            <a:endParaRPr lang="en-US" sz="1200" dirty="0"/>
          </a:p>
        </p:txBody>
      </p:sp>
      <p:sp>
        <p:nvSpPr>
          <p:cNvPr id="43" name="Shape 63">
            <a:extLst>
              <a:ext uri="{FF2B5EF4-FFF2-40B4-BE49-F238E27FC236}">
                <a16:creationId xmlns:a16="http://schemas.microsoft.com/office/drawing/2014/main" id="{CD9F3AE6-B827-1714-B586-4BAB8DA5C94F}"/>
              </a:ext>
            </a:extLst>
          </p:cNvPr>
          <p:cNvSpPr/>
          <p:nvPr/>
        </p:nvSpPr>
        <p:spPr>
          <a:xfrm>
            <a:off x="8107680" y="4837531"/>
            <a:ext cx="3505200" cy="13644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44" name="Text 64">
            <a:extLst>
              <a:ext uri="{FF2B5EF4-FFF2-40B4-BE49-F238E27FC236}">
                <a16:creationId xmlns:a16="http://schemas.microsoft.com/office/drawing/2014/main" id="{4F78E0BF-0877-E7C2-0DDC-0827C438A239}"/>
              </a:ext>
            </a:extLst>
          </p:cNvPr>
          <p:cNvSpPr/>
          <p:nvPr/>
        </p:nvSpPr>
        <p:spPr>
          <a:xfrm>
            <a:off x="8382000" y="4971445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7C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100" dirty="0"/>
          </a:p>
        </p:txBody>
      </p:sp>
      <p:sp>
        <p:nvSpPr>
          <p:cNvPr id="45" name="Text 65">
            <a:extLst>
              <a:ext uri="{FF2B5EF4-FFF2-40B4-BE49-F238E27FC236}">
                <a16:creationId xmlns:a16="http://schemas.microsoft.com/office/drawing/2014/main" id="{B2FF24E8-FC83-6F2F-4D87-9D26CED4518E}"/>
              </a:ext>
            </a:extLst>
          </p:cNvPr>
          <p:cNvSpPr/>
          <p:nvPr/>
        </p:nvSpPr>
        <p:spPr>
          <a:xfrm>
            <a:off x="8382000" y="5272939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 means Done</a:t>
            </a:r>
            <a:endParaRPr lang="en-US" sz="1500" dirty="0"/>
          </a:p>
        </p:txBody>
      </p:sp>
      <p:sp>
        <p:nvSpPr>
          <p:cNvPr id="46" name="Text 66">
            <a:extLst>
              <a:ext uri="{FF2B5EF4-FFF2-40B4-BE49-F238E27FC236}">
                <a16:creationId xmlns:a16="http://schemas.microsoft.com/office/drawing/2014/main" id="{0529D62E-5C69-403F-EB27-3E4A4490390A}"/>
              </a:ext>
            </a:extLst>
          </p:cNvPr>
          <p:cNvSpPr/>
          <p:nvPr/>
        </p:nvSpPr>
        <p:spPr>
          <a:xfrm>
            <a:off x="8382000" y="5483251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only reaches Done when it meets the Definition of Done.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>
            <a:extLst>
              <a:ext uri="{FF2B5EF4-FFF2-40B4-BE49-F238E27FC236}">
                <a16:creationId xmlns:a16="http://schemas.microsoft.com/office/drawing/2014/main" id="{0FEF0E75-0042-1F0B-9EE9-7FC4905D90C5}"/>
              </a:ext>
            </a:extLst>
          </p:cNvPr>
          <p:cNvSpPr/>
          <p:nvPr/>
        </p:nvSpPr>
        <p:spPr>
          <a:xfrm>
            <a:off x="45720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C7C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 — ONE VIEW</a:t>
            </a:r>
            <a:endParaRPr lang="en-US" sz="1100" dirty="0"/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FA7F8D7B-E1AC-7946-FEAE-C0B01D018601}"/>
              </a:ext>
            </a:extLst>
          </p:cNvPr>
          <p:cNvSpPr/>
          <p:nvPr/>
        </p:nvSpPr>
        <p:spPr>
          <a:xfrm>
            <a:off x="429768" y="53035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2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strategy to daily delivery, at a glance</a:t>
            </a:r>
            <a:endParaRPr lang="en-US" sz="2500" dirty="0"/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65F3A1B5-7904-DCFC-604F-16BDA849EFF2}"/>
              </a:ext>
            </a:extLst>
          </p:cNvPr>
          <p:cNvSpPr/>
          <p:nvPr/>
        </p:nvSpPr>
        <p:spPr>
          <a:xfrm>
            <a:off x="457200" y="1097280"/>
            <a:ext cx="546354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41" name="Shape 3">
            <a:extLst>
              <a:ext uri="{FF2B5EF4-FFF2-40B4-BE49-F238E27FC236}">
                <a16:creationId xmlns:a16="http://schemas.microsoft.com/office/drawing/2014/main" id="{934C6FF5-DF4E-0F8B-B4FA-17A993EE91A8}"/>
              </a:ext>
            </a:extLst>
          </p:cNvPr>
          <p:cNvSpPr/>
          <p:nvPr/>
        </p:nvSpPr>
        <p:spPr>
          <a:xfrm>
            <a:off x="658368" y="128016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6F4FD0"/>
          </a:solidFill>
          <a:ln/>
        </p:spPr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640127F7-87F7-EBBD-187C-DCFF50A8E491}"/>
              </a:ext>
            </a:extLst>
          </p:cNvPr>
          <p:cNvSpPr/>
          <p:nvPr/>
        </p:nvSpPr>
        <p:spPr>
          <a:xfrm>
            <a:off x="65836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39906281-C9E7-FFD7-EF73-CD7BE28D322E}"/>
              </a:ext>
            </a:extLst>
          </p:cNvPr>
          <p:cNvSpPr/>
          <p:nvPr/>
        </p:nvSpPr>
        <p:spPr>
          <a:xfrm>
            <a:off x="1024128" y="1280160"/>
            <a:ext cx="4686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 ALTITUDES</a:t>
            </a:r>
            <a:endParaRPr lang="en-US" sz="1050" dirty="0"/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47C87017-55D2-3634-A02E-8B40751333C7}"/>
              </a:ext>
            </a:extLst>
          </p:cNvPr>
          <p:cNvSpPr/>
          <p:nvPr/>
        </p:nvSpPr>
        <p:spPr>
          <a:xfrm>
            <a:off x="658368" y="1627632"/>
            <a:ext cx="5061204" cy="420624"/>
          </a:xfrm>
          <a:prstGeom prst="roundRect">
            <a:avLst>
              <a:gd name="adj" fmla="val 8696"/>
            </a:avLst>
          </a:prstGeom>
          <a:solidFill>
            <a:srgbClr val="ECE5FA"/>
          </a:solidFill>
          <a:ln/>
        </p:spPr>
      </p:sp>
      <p:sp>
        <p:nvSpPr>
          <p:cNvPr id="45" name="Shape 7">
            <a:extLst>
              <a:ext uri="{FF2B5EF4-FFF2-40B4-BE49-F238E27FC236}">
                <a16:creationId xmlns:a16="http://schemas.microsoft.com/office/drawing/2014/main" id="{39A9DF54-805F-1AA3-B5CE-0156A3FD8B28}"/>
              </a:ext>
            </a:extLst>
          </p:cNvPr>
          <p:cNvSpPr/>
          <p:nvPr/>
        </p:nvSpPr>
        <p:spPr>
          <a:xfrm>
            <a:off x="658368" y="1691640"/>
            <a:ext cx="54864" cy="292608"/>
          </a:xfrm>
          <a:prstGeom prst="rect">
            <a:avLst/>
          </a:prstGeom>
          <a:solidFill>
            <a:srgbClr val="6F4FD0"/>
          </a:solidFill>
          <a:ln/>
        </p:spPr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06E4A871-6993-7627-CAE4-F61D19C7872F}"/>
              </a:ext>
            </a:extLst>
          </p:cNvPr>
          <p:cNvSpPr/>
          <p:nvPr/>
        </p:nvSpPr>
        <p:spPr>
          <a:xfrm>
            <a:off x="822960" y="1627632"/>
            <a:ext cx="48326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F4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YEARLY   </a:t>
            </a: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roadmap — Leads own product themes</a:t>
            </a:r>
            <a:endParaRPr lang="en-US" sz="850" dirty="0"/>
          </a:p>
        </p:txBody>
      </p:sp>
      <p:sp>
        <p:nvSpPr>
          <p:cNvPr id="47" name="Shape 9">
            <a:extLst>
              <a:ext uri="{FF2B5EF4-FFF2-40B4-BE49-F238E27FC236}">
                <a16:creationId xmlns:a16="http://schemas.microsoft.com/office/drawing/2014/main" id="{ADFDDD6C-98AA-18FA-9B89-0442FE9C11DB}"/>
              </a:ext>
            </a:extLst>
          </p:cNvPr>
          <p:cNvSpPr/>
          <p:nvPr/>
        </p:nvSpPr>
        <p:spPr>
          <a:xfrm>
            <a:off x="658368" y="2093976"/>
            <a:ext cx="5061204" cy="420624"/>
          </a:xfrm>
          <a:prstGeom prst="roundRect">
            <a:avLst>
              <a:gd name="adj" fmla="val 8696"/>
            </a:avLst>
          </a:prstGeom>
          <a:solidFill>
            <a:srgbClr val="FCE6E0"/>
          </a:solidFill>
          <a:ln/>
        </p:spPr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9871EDD7-AFE1-F8A8-0DF5-D0107F5B096F}"/>
              </a:ext>
            </a:extLst>
          </p:cNvPr>
          <p:cNvSpPr/>
          <p:nvPr/>
        </p:nvSpPr>
        <p:spPr>
          <a:xfrm>
            <a:off x="658368" y="2157984"/>
            <a:ext cx="54864" cy="292608"/>
          </a:xfrm>
          <a:prstGeom prst="rect">
            <a:avLst/>
          </a:prstGeom>
          <a:solidFill>
            <a:srgbClr val="D8503A"/>
          </a:solidFill>
          <a:ln/>
        </p:spPr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846F5830-BCA2-84DA-FBAD-84D38646ECF9}"/>
              </a:ext>
            </a:extLst>
          </p:cNvPr>
          <p:cNvSpPr/>
          <p:nvPr/>
        </p:nvSpPr>
        <p:spPr>
          <a:xfrm>
            <a:off x="822960" y="2093976"/>
            <a:ext cx="48326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85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QUARTERLY · PI   </a:t>
            </a: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OKRs &amp; Program Increment planning → Epics</a:t>
            </a:r>
            <a:endParaRPr lang="en-US" sz="850" dirty="0"/>
          </a:p>
        </p:txBody>
      </p:sp>
      <p:sp>
        <p:nvSpPr>
          <p:cNvPr id="50" name="Shape 12">
            <a:extLst>
              <a:ext uri="{FF2B5EF4-FFF2-40B4-BE49-F238E27FC236}">
                <a16:creationId xmlns:a16="http://schemas.microsoft.com/office/drawing/2014/main" id="{13940DDF-2F3F-75D4-B309-311C5EBE8301}"/>
              </a:ext>
            </a:extLst>
          </p:cNvPr>
          <p:cNvSpPr/>
          <p:nvPr/>
        </p:nvSpPr>
        <p:spPr>
          <a:xfrm>
            <a:off x="658368" y="2560320"/>
            <a:ext cx="5061204" cy="420624"/>
          </a:xfrm>
          <a:prstGeom prst="roundRect">
            <a:avLst>
              <a:gd name="adj" fmla="val 8696"/>
            </a:avLst>
          </a:prstGeom>
          <a:solidFill>
            <a:srgbClr val="FBF1D6"/>
          </a:solidFill>
          <a:ln/>
        </p:spPr>
      </p:sp>
      <p:sp>
        <p:nvSpPr>
          <p:cNvPr id="51" name="Shape 13">
            <a:extLst>
              <a:ext uri="{FF2B5EF4-FFF2-40B4-BE49-F238E27FC236}">
                <a16:creationId xmlns:a16="http://schemas.microsoft.com/office/drawing/2014/main" id="{B8B02C74-3920-5406-AF08-739CE0A17B6C}"/>
              </a:ext>
            </a:extLst>
          </p:cNvPr>
          <p:cNvSpPr/>
          <p:nvPr/>
        </p:nvSpPr>
        <p:spPr>
          <a:xfrm>
            <a:off x="658368" y="2624328"/>
            <a:ext cx="54864" cy="292608"/>
          </a:xfrm>
          <a:prstGeom prst="rect">
            <a:avLst/>
          </a:prstGeom>
          <a:solidFill>
            <a:srgbClr val="BC7C0A"/>
          </a:solidFill>
          <a:ln/>
        </p:spPr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1F5BAEDF-47DE-598A-12B7-2B636C54A7F0}"/>
              </a:ext>
            </a:extLst>
          </p:cNvPr>
          <p:cNvSpPr/>
          <p:nvPr/>
        </p:nvSpPr>
        <p:spPr>
          <a:xfrm>
            <a:off x="822960" y="2560320"/>
            <a:ext cx="48326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C7C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BI-WEEKLY · SPRINT   </a:t>
            </a: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→ Review → Retro; Epics → Stories</a:t>
            </a:r>
            <a:endParaRPr lang="en-US" sz="850" dirty="0"/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B77B4903-3DA4-5679-512C-F225261165E4}"/>
              </a:ext>
            </a:extLst>
          </p:cNvPr>
          <p:cNvSpPr/>
          <p:nvPr/>
        </p:nvSpPr>
        <p:spPr>
          <a:xfrm>
            <a:off x="658368" y="3026664"/>
            <a:ext cx="5061204" cy="420624"/>
          </a:xfrm>
          <a:prstGeom prst="roundRect">
            <a:avLst>
              <a:gd name="adj" fmla="val 8696"/>
            </a:avLst>
          </a:prstGeom>
          <a:solidFill>
            <a:srgbClr val="D9F2EE"/>
          </a:solidFill>
          <a:ln/>
        </p:spPr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649DAF3E-5A04-3158-693C-9003934ECE7B}"/>
              </a:ext>
            </a:extLst>
          </p:cNvPr>
          <p:cNvSpPr/>
          <p:nvPr/>
        </p:nvSpPr>
        <p:spPr>
          <a:xfrm>
            <a:off x="658368" y="3090672"/>
            <a:ext cx="54864" cy="292608"/>
          </a:xfrm>
          <a:prstGeom prst="rect">
            <a:avLst/>
          </a:prstGeom>
          <a:solidFill>
            <a:srgbClr val="0C8076"/>
          </a:solidFill>
          <a:ln/>
        </p:spPr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DF6162D6-0AE5-54B0-EF05-175673B3E37A}"/>
              </a:ext>
            </a:extLst>
          </p:cNvPr>
          <p:cNvSpPr/>
          <p:nvPr/>
        </p:nvSpPr>
        <p:spPr>
          <a:xfrm>
            <a:off x="822960" y="3026664"/>
            <a:ext cx="48326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C80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   </a:t>
            </a: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standup — sync, blockers, re-plan</a:t>
            </a:r>
            <a:endParaRPr lang="en-US" sz="850" dirty="0"/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02779ED3-1352-3A42-4288-FD1D846F363E}"/>
              </a:ext>
            </a:extLst>
          </p:cNvPr>
          <p:cNvSpPr/>
          <p:nvPr/>
        </p:nvSpPr>
        <p:spPr>
          <a:xfrm>
            <a:off x="6240780" y="1097280"/>
            <a:ext cx="546354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57" name="Shape 19">
            <a:extLst>
              <a:ext uri="{FF2B5EF4-FFF2-40B4-BE49-F238E27FC236}">
                <a16:creationId xmlns:a16="http://schemas.microsoft.com/office/drawing/2014/main" id="{387DEC4B-AF7D-058B-FF75-4BDA15ADD09E}"/>
              </a:ext>
            </a:extLst>
          </p:cNvPr>
          <p:cNvSpPr/>
          <p:nvPr/>
        </p:nvSpPr>
        <p:spPr>
          <a:xfrm>
            <a:off x="6441948" y="128016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8503A"/>
          </a:solidFill>
          <a:ln/>
        </p:spPr>
      </p:sp>
      <p:sp>
        <p:nvSpPr>
          <p:cNvPr id="58" name="Text 20">
            <a:extLst>
              <a:ext uri="{FF2B5EF4-FFF2-40B4-BE49-F238E27FC236}">
                <a16:creationId xmlns:a16="http://schemas.microsoft.com/office/drawing/2014/main" id="{0535D6A0-4B10-2D17-A4D5-FDB6461BB865}"/>
              </a:ext>
            </a:extLst>
          </p:cNvPr>
          <p:cNvSpPr/>
          <p:nvPr/>
        </p:nvSpPr>
        <p:spPr>
          <a:xfrm>
            <a:off x="644194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51995C4B-A1FD-E253-7CC9-AFAFFD7C5958}"/>
              </a:ext>
            </a:extLst>
          </p:cNvPr>
          <p:cNvSpPr/>
          <p:nvPr/>
        </p:nvSpPr>
        <p:spPr>
          <a:xfrm>
            <a:off x="6807708" y="1280160"/>
            <a:ext cx="4686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JIRA HIERARCHY</a:t>
            </a:r>
            <a:endParaRPr lang="en-US" sz="1050" dirty="0"/>
          </a:p>
        </p:txBody>
      </p:sp>
      <p:sp>
        <p:nvSpPr>
          <p:cNvPr id="60" name="Shape 22">
            <a:extLst>
              <a:ext uri="{FF2B5EF4-FFF2-40B4-BE49-F238E27FC236}">
                <a16:creationId xmlns:a16="http://schemas.microsoft.com/office/drawing/2014/main" id="{D63B483A-F575-7089-7997-8D2A99E41083}"/>
              </a:ext>
            </a:extLst>
          </p:cNvPr>
          <p:cNvSpPr/>
          <p:nvPr/>
        </p:nvSpPr>
        <p:spPr>
          <a:xfrm>
            <a:off x="6441948" y="1627632"/>
            <a:ext cx="5061204" cy="347472"/>
          </a:xfrm>
          <a:prstGeom prst="roundRect">
            <a:avLst>
              <a:gd name="adj" fmla="val 10526"/>
            </a:avLst>
          </a:prstGeom>
          <a:solidFill>
            <a:srgbClr val="ECE5FA"/>
          </a:solidFill>
          <a:ln/>
        </p:spPr>
      </p:sp>
      <p:sp>
        <p:nvSpPr>
          <p:cNvPr id="61" name="Shape 23">
            <a:extLst>
              <a:ext uri="{FF2B5EF4-FFF2-40B4-BE49-F238E27FC236}">
                <a16:creationId xmlns:a16="http://schemas.microsoft.com/office/drawing/2014/main" id="{DC04F873-29ED-0F54-3C63-7091C984F0E4}"/>
              </a:ext>
            </a:extLst>
          </p:cNvPr>
          <p:cNvSpPr/>
          <p:nvPr/>
        </p:nvSpPr>
        <p:spPr>
          <a:xfrm>
            <a:off x="6441948" y="1682496"/>
            <a:ext cx="54864" cy="237744"/>
          </a:xfrm>
          <a:prstGeom prst="rect">
            <a:avLst/>
          </a:prstGeom>
          <a:solidFill>
            <a:srgbClr val="6F4FD0"/>
          </a:solidFill>
          <a:ln/>
        </p:spPr>
      </p:sp>
      <p:sp>
        <p:nvSpPr>
          <p:cNvPr id="62" name="Text 24">
            <a:extLst>
              <a:ext uri="{FF2B5EF4-FFF2-40B4-BE49-F238E27FC236}">
                <a16:creationId xmlns:a16="http://schemas.microsoft.com/office/drawing/2014/main" id="{5EA55649-804D-E6FE-AAAD-D601B0B40F48}"/>
              </a:ext>
            </a:extLst>
          </p:cNvPr>
          <p:cNvSpPr/>
          <p:nvPr/>
        </p:nvSpPr>
        <p:spPr>
          <a:xfrm>
            <a:off x="6588252" y="1627632"/>
            <a:ext cx="48600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F4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OKR   </a:t>
            </a:r>
            <a:r>
              <a:rPr lang="en-US" sz="9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order-handling time 40%</a:t>
            </a:r>
            <a:endParaRPr lang="en-US" sz="800" dirty="0"/>
          </a:p>
        </p:txBody>
      </p:sp>
      <p:sp>
        <p:nvSpPr>
          <p:cNvPr id="63" name="Shape 25">
            <a:extLst>
              <a:ext uri="{FF2B5EF4-FFF2-40B4-BE49-F238E27FC236}">
                <a16:creationId xmlns:a16="http://schemas.microsoft.com/office/drawing/2014/main" id="{D796A8B9-96F9-7266-7935-135C4FA528ED}"/>
              </a:ext>
            </a:extLst>
          </p:cNvPr>
          <p:cNvSpPr/>
          <p:nvPr/>
        </p:nvSpPr>
        <p:spPr>
          <a:xfrm>
            <a:off x="6761988" y="2020824"/>
            <a:ext cx="4741164" cy="347472"/>
          </a:xfrm>
          <a:prstGeom prst="roundRect">
            <a:avLst>
              <a:gd name="adj" fmla="val 10526"/>
            </a:avLst>
          </a:prstGeom>
          <a:solidFill>
            <a:srgbClr val="FCE6E0"/>
          </a:solidFill>
          <a:ln/>
        </p:spPr>
      </p:sp>
      <p:sp>
        <p:nvSpPr>
          <p:cNvPr id="64" name="Shape 26">
            <a:extLst>
              <a:ext uri="{FF2B5EF4-FFF2-40B4-BE49-F238E27FC236}">
                <a16:creationId xmlns:a16="http://schemas.microsoft.com/office/drawing/2014/main" id="{E5F8F2AB-B77C-E416-C184-7ED910B4CB92}"/>
              </a:ext>
            </a:extLst>
          </p:cNvPr>
          <p:cNvSpPr/>
          <p:nvPr/>
        </p:nvSpPr>
        <p:spPr>
          <a:xfrm>
            <a:off x="6761988" y="2075688"/>
            <a:ext cx="54864" cy="237744"/>
          </a:xfrm>
          <a:prstGeom prst="rect">
            <a:avLst/>
          </a:prstGeom>
          <a:solidFill>
            <a:srgbClr val="D8503A"/>
          </a:solidFill>
          <a:ln/>
        </p:spPr>
      </p:sp>
      <p:sp>
        <p:nvSpPr>
          <p:cNvPr id="65" name="Text 27">
            <a:extLst>
              <a:ext uri="{FF2B5EF4-FFF2-40B4-BE49-F238E27FC236}">
                <a16:creationId xmlns:a16="http://schemas.microsoft.com/office/drawing/2014/main" id="{23C688E1-B4BB-1E22-C892-7BE75D9B32BC}"/>
              </a:ext>
            </a:extLst>
          </p:cNvPr>
          <p:cNvSpPr/>
          <p:nvPr/>
        </p:nvSpPr>
        <p:spPr>
          <a:xfrm>
            <a:off x="6908292" y="2020824"/>
            <a:ext cx="45399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85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EPIC   </a:t>
            </a:r>
            <a:r>
              <a:rPr lang="en-US" sz="9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WhatsApp order flow</a:t>
            </a:r>
            <a:endParaRPr lang="en-US" sz="800" dirty="0"/>
          </a:p>
        </p:txBody>
      </p:sp>
      <p:sp>
        <p:nvSpPr>
          <p:cNvPr id="66" name="Shape 28">
            <a:extLst>
              <a:ext uri="{FF2B5EF4-FFF2-40B4-BE49-F238E27FC236}">
                <a16:creationId xmlns:a16="http://schemas.microsoft.com/office/drawing/2014/main" id="{3F11DE3C-A0B1-5AF5-84E0-5BADF7EF541B}"/>
              </a:ext>
            </a:extLst>
          </p:cNvPr>
          <p:cNvSpPr/>
          <p:nvPr/>
        </p:nvSpPr>
        <p:spPr>
          <a:xfrm>
            <a:off x="7082028" y="2414016"/>
            <a:ext cx="4421124" cy="347472"/>
          </a:xfrm>
          <a:prstGeom prst="roundRect">
            <a:avLst>
              <a:gd name="adj" fmla="val 10526"/>
            </a:avLst>
          </a:prstGeom>
          <a:solidFill>
            <a:srgbClr val="FBF1D6"/>
          </a:solidFill>
          <a:ln/>
        </p:spPr>
      </p:sp>
      <p:sp>
        <p:nvSpPr>
          <p:cNvPr id="67" name="Shape 29">
            <a:extLst>
              <a:ext uri="{FF2B5EF4-FFF2-40B4-BE49-F238E27FC236}">
                <a16:creationId xmlns:a16="http://schemas.microsoft.com/office/drawing/2014/main" id="{795611F3-38FD-C1E3-FA2F-149D97A3FB2E}"/>
              </a:ext>
            </a:extLst>
          </p:cNvPr>
          <p:cNvSpPr/>
          <p:nvPr/>
        </p:nvSpPr>
        <p:spPr>
          <a:xfrm>
            <a:off x="7082028" y="2468880"/>
            <a:ext cx="54864" cy="237744"/>
          </a:xfrm>
          <a:prstGeom prst="rect">
            <a:avLst/>
          </a:prstGeom>
          <a:solidFill>
            <a:srgbClr val="BC7C0A"/>
          </a:solidFill>
          <a:ln/>
        </p:spPr>
      </p:sp>
      <p:sp>
        <p:nvSpPr>
          <p:cNvPr id="68" name="Text 30">
            <a:extLst>
              <a:ext uri="{FF2B5EF4-FFF2-40B4-BE49-F238E27FC236}">
                <a16:creationId xmlns:a16="http://schemas.microsoft.com/office/drawing/2014/main" id="{328EBAD6-2F1E-E744-0114-893BFC897294}"/>
              </a:ext>
            </a:extLst>
          </p:cNvPr>
          <p:cNvSpPr/>
          <p:nvPr/>
        </p:nvSpPr>
        <p:spPr>
          <a:xfrm>
            <a:off x="7228332" y="2414016"/>
            <a:ext cx="42199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C7C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   </a:t>
            </a:r>
            <a:r>
              <a:rPr lang="en-US" sz="9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an order via chat intent</a:t>
            </a:r>
            <a:endParaRPr lang="en-US" sz="800" dirty="0"/>
          </a:p>
        </p:txBody>
      </p:sp>
      <p:sp>
        <p:nvSpPr>
          <p:cNvPr id="69" name="Shape 31">
            <a:extLst>
              <a:ext uri="{FF2B5EF4-FFF2-40B4-BE49-F238E27FC236}">
                <a16:creationId xmlns:a16="http://schemas.microsoft.com/office/drawing/2014/main" id="{1A63023F-ACAE-3BCB-5A9E-EFAFBC945D62}"/>
              </a:ext>
            </a:extLst>
          </p:cNvPr>
          <p:cNvSpPr/>
          <p:nvPr/>
        </p:nvSpPr>
        <p:spPr>
          <a:xfrm>
            <a:off x="7402068" y="2807208"/>
            <a:ext cx="4101084" cy="347472"/>
          </a:xfrm>
          <a:prstGeom prst="roundRect">
            <a:avLst>
              <a:gd name="adj" fmla="val 10526"/>
            </a:avLst>
          </a:prstGeom>
          <a:solidFill>
            <a:srgbClr val="D9F2EE"/>
          </a:solidFill>
          <a:ln/>
        </p:spPr>
      </p:sp>
      <p:sp>
        <p:nvSpPr>
          <p:cNvPr id="70" name="Shape 32">
            <a:extLst>
              <a:ext uri="{FF2B5EF4-FFF2-40B4-BE49-F238E27FC236}">
                <a16:creationId xmlns:a16="http://schemas.microsoft.com/office/drawing/2014/main" id="{34668699-AF41-CF83-AC4E-ADD3C6E739E7}"/>
              </a:ext>
            </a:extLst>
          </p:cNvPr>
          <p:cNvSpPr/>
          <p:nvPr/>
        </p:nvSpPr>
        <p:spPr>
          <a:xfrm>
            <a:off x="7402068" y="2862072"/>
            <a:ext cx="54864" cy="237744"/>
          </a:xfrm>
          <a:prstGeom prst="rect">
            <a:avLst/>
          </a:prstGeom>
          <a:solidFill>
            <a:srgbClr val="0C8076"/>
          </a:solidFill>
          <a:ln/>
        </p:spPr>
      </p:sp>
      <p:sp>
        <p:nvSpPr>
          <p:cNvPr id="71" name="Text 33">
            <a:extLst>
              <a:ext uri="{FF2B5EF4-FFF2-40B4-BE49-F238E27FC236}">
                <a16:creationId xmlns:a16="http://schemas.microsoft.com/office/drawing/2014/main" id="{B68E00E5-DE49-8399-4DE7-699526967DAF}"/>
              </a:ext>
            </a:extLst>
          </p:cNvPr>
          <p:cNvSpPr/>
          <p:nvPr/>
        </p:nvSpPr>
        <p:spPr>
          <a:xfrm>
            <a:off x="7548372" y="2807208"/>
            <a:ext cx="38999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80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SUB-TASK   </a:t>
            </a:r>
            <a:r>
              <a:rPr lang="en-US" sz="9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classifier → order service</a:t>
            </a:r>
            <a:endParaRPr lang="en-US" sz="800" dirty="0"/>
          </a:p>
        </p:txBody>
      </p:sp>
      <p:sp>
        <p:nvSpPr>
          <p:cNvPr id="72" name="Text 34">
            <a:extLst>
              <a:ext uri="{FF2B5EF4-FFF2-40B4-BE49-F238E27FC236}">
                <a16:creationId xmlns:a16="http://schemas.microsoft.com/office/drawing/2014/main" id="{19641AB2-8ECB-F014-0F0C-D6421EAF2E7D}"/>
              </a:ext>
            </a:extLst>
          </p:cNvPr>
          <p:cNvSpPr/>
          <p:nvPr/>
        </p:nvSpPr>
        <p:spPr>
          <a:xfrm>
            <a:off x="6441948" y="3227832"/>
            <a:ext cx="5061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ticket tagged with Fix Versions · Components · Quarter / PI field</a:t>
            </a:r>
            <a:endParaRPr lang="en-US" sz="900" dirty="0"/>
          </a:p>
        </p:txBody>
      </p:sp>
      <p:sp>
        <p:nvSpPr>
          <p:cNvPr id="73" name="Shape 35">
            <a:extLst>
              <a:ext uri="{FF2B5EF4-FFF2-40B4-BE49-F238E27FC236}">
                <a16:creationId xmlns:a16="http://schemas.microsoft.com/office/drawing/2014/main" id="{FA799741-03DA-0528-0F66-B691EC959C2D}"/>
              </a:ext>
            </a:extLst>
          </p:cNvPr>
          <p:cNvSpPr/>
          <p:nvPr/>
        </p:nvSpPr>
        <p:spPr>
          <a:xfrm>
            <a:off x="457200" y="3886200"/>
            <a:ext cx="546354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74" name="Shape 36">
            <a:extLst>
              <a:ext uri="{FF2B5EF4-FFF2-40B4-BE49-F238E27FC236}">
                <a16:creationId xmlns:a16="http://schemas.microsoft.com/office/drawing/2014/main" id="{EA8263CC-E266-D905-FC38-38B08B2A2446}"/>
              </a:ext>
            </a:extLst>
          </p:cNvPr>
          <p:cNvSpPr/>
          <p:nvPr/>
        </p:nvSpPr>
        <p:spPr>
          <a:xfrm>
            <a:off x="658368" y="40690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BC7C0A"/>
          </a:solidFill>
          <a:ln/>
        </p:spPr>
      </p:sp>
      <p:sp>
        <p:nvSpPr>
          <p:cNvPr id="75" name="Text 37">
            <a:extLst>
              <a:ext uri="{FF2B5EF4-FFF2-40B4-BE49-F238E27FC236}">
                <a16:creationId xmlns:a16="http://schemas.microsoft.com/office/drawing/2014/main" id="{062562F7-D459-67FE-2D02-ACE9A524EAC9}"/>
              </a:ext>
            </a:extLst>
          </p:cNvPr>
          <p:cNvSpPr/>
          <p:nvPr/>
        </p:nvSpPr>
        <p:spPr>
          <a:xfrm>
            <a:off x="658368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76" name="Text 38">
            <a:extLst>
              <a:ext uri="{FF2B5EF4-FFF2-40B4-BE49-F238E27FC236}">
                <a16:creationId xmlns:a16="http://schemas.microsoft.com/office/drawing/2014/main" id="{15952B78-653C-876A-E8CD-859184B23C5B}"/>
              </a:ext>
            </a:extLst>
          </p:cNvPr>
          <p:cNvSpPr/>
          <p:nvPr/>
        </p:nvSpPr>
        <p:spPr>
          <a:xfrm>
            <a:off x="1024128" y="4069080"/>
            <a:ext cx="4686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CEREMONIES</a:t>
            </a:r>
            <a:endParaRPr lang="en-US" sz="1050" dirty="0"/>
          </a:p>
        </p:txBody>
      </p:sp>
      <p:sp>
        <p:nvSpPr>
          <p:cNvPr id="77" name="Shape 39">
            <a:extLst>
              <a:ext uri="{FF2B5EF4-FFF2-40B4-BE49-F238E27FC236}">
                <a16:creationId xmlns:a16="http://schemas.microsoft.com/office/drawing/2014/main" id="{F772997D-EB1B-0A3E-F8EA-4F6CFE7F94BD}"/>
              </a:ext>
            </a:extLst>
          </p:cNvPr>
          <p:cNvSpPr/>
          <p:nvPr/>
        </p:nvSpPr>
        <p:spPr>
          <a:xfrm>
            <a:off x="658368" y="4462272"/>
            <a:ext cx="109728" cy="109728"/>
          </a:xfrm>
          <a:prstGeom prst="ellipse">
            <a:avLst/>
          </a:prstGeom>
          <a:solidFill>
            <a:srgbClr val="0C8076"/>
          </a:solidFill>
          <a:ln/>
        </p:spPr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81D257C2-3E72-52F7-9892-67662E77AE36}"/>
              </a:ext>
            </a:extLst>
          </p:cNvPr>
          <p:cNvSpPr/>
          <p:nvPr/>
        </p:nvSpPr>
        <p:spPr>
          <a:xfrm>
            <a:off x="859536" y="4416552"/>
            <a:ext cx="22562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</a:t>
            </a:r>
            <a:endParaRPr lang="en-US" sz="1050" dirty="0"/>
          </a:p>
        </p:txBody>
      </p:sp>
      <p:sp>
        <p:nvSpPr>
          <p:cNvPr id="79" name="Text 41">
            <a:extLst>
              <a:ext uri="{FF2B5EF4-FFF2-40B4-BE49-F238E27FC236}">
                <a16:creationId xmlns:a16="http://schemas.microsoft.com/office/drawing/2014/main" id="{335EFE1D-BB8C-9CAB-92C2-7608F15B7F9C}"/>
              </a:ext>
            </a:extLst>
          </p:cNvPr>
          <p:cNvSpPr/>
          <p:nvPr/>
        </p:nvSpPr>
        <p:spPr>
          <a:xfrm>
            <a:off x="859536" y="4608576"/>
            <a:ext cx="22562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2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15m · daily</a:t>
            </a:r>
            <a:endParaRPr lang="en-US" sz="800" dirty="0"/>
          </a:p>
        </p:txBody>
      </p:sp>
      <p:sp>
        <p:nvSpPr>
          <p:cNvPr id="80" name="Shape 42">
            <a:extLst>
              <a:ext uri="{FF2B5EF4-FFF2-40B4-BE49-F238E27FC236}">
                <a16:creationId xmlns:a16="http://schemas.microsoft.com/office/drawing/2014/main" id="{1B80F1B1-D79D-1D11-A45B-6A33D94F053B}"/>
              </a:ext>
            </a:extLst>
          </p:cNvPr>
          <p:cNvSpPr/>
          <p:nvPr/>
        </p:nvSpPr>
        <p:spPr>
          <a:xfrm>
            <a:off x="658368" y="4846320"/>
            <a:ext cx="109728" cy="109728"/>
          </a:xfrm>
          <a:prstGeom prst="ellipse">
            <a:avLst/>
          </a:prstGeom>
          <a:solidFill>
            <a:srgbClr val="BC7C0A"/>
          </a:solidFill>
          <a:ln/>
        </p:spPr>
      </p:sp>
      <p:sp>
        <p:nvSpPr>
          <p:cNvPr id="81" name="Text 43">
            <a:extLst>
              <a:ext uri="{FF2B5EF4-FFF2-40B4-BE49-F238E27FC236}">
                <a16:creationId xmlns:a16="http://schemas.microsoft.com/office/drawing/2014/main" id="{91E5B47A-BF63-9A83-1AFD-950A28D427CA}"/>
              </a:ext>
            </a:extLst>
          </p:cNvPr>
          <p:cNvSpPr/>
          <p:nvPr/>
        </p:nvSpPr>
        <p:spPr>
          <a:xfrm>
            <a:off x="859536" y="4800600"/>
            <a:ext cx="22562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Grooming</a:t>
            </a:r>
            <a:endParaRPr lang="en-US" sz="1050" dirty="0"/>
          </a:p>
        </p:txBody>
      </p:sp>
      <p:sp>
        <p:nvSpPr>
          <p:cNvPr id="82" name="Text 44">
            <a:extLst>
              <a:ext uri="{FF2B5EF4-FFF2-40B4-BE49-F238E27FC236}">
                <a16:creationId xmlns:a16="http://schemas.microsoft.com/office/drawing/2014/main" id="{DE11A601-EFD1-3A09-C7CC-053A2AF9046A}"/>
              </a:ext>
            </a:extLst>
          </p:cNvPr>
          <p:cNvSpPr/>
          <p:nvPr/>
        </p:nvSpPr>
        <p:spPr>
          <a:xfrm>
            <a:off x="859536" y="4992624"/>
            <a:ext cx="22562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2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60m · /sprint</a:t>
            </a:r>
            <a:endParaRPr lang="en-US" sz="800" dirty="0"/>
          </a:p>
        </p:txBody>
      </p:sp>
      <p:sp>
        <p:nvSpPr>
          <p:cNvPr id="83" name="Shape 45">
            <a:extLst>
              <a:ext uri="{FF2B5EF4-FFF2-40B4-BE49-F238E27FC236}">
                <a16:creationId xmlns:a16="http://schemas.microsoft.com/office/drawing/2014/main" id="{2F91A5DE-992B-CD06-1339-A421639DE43C}"/>
              </a:ext>
            </a:extLst>
          </p:cNvPr>
          <p:cNvSpPr/>
          <p:nvPr/>
        </p:nvSpPr>
        <p:spPr>
          <a:xfrm>
            <a:off x="658368" y="5230368"/>
            <a:ext cx="109728" cy="109728"/>
          </a:xfrm>
          <a:prstGeom prst="ellipse">
            <a:avLst/>
          </a:prstGeom>
          <a:solidFill>
            <a:srgbClr val="BC7C0A"/>
          </a:solidFill>
          <a:ln/>
        </p:spPr>
      </p:sp>
      <p:sp>
        <p:nvSpPr>
          <p:cNvPr id="84" name="Text 46">
            <a:extLst>
              <a:ext uri="{FF2B5EF4-FFF2-40B4-BE49-F238E27FC236}">
                <a16:creationId xmlns:a16="http://schemas.microsoft.com/office/drawing/2014/main" id="{39BD3C52-15E8-562D-BBE1-817C3289E93D}"/>
              </a:ext>
            </a:extLst>
          </p:cNvPr>
          <p:cNvSpPr/>
          <p:nvPr/>
        </p:nvSpPr>
        <p:spPr>
          <a:xfrm>
            <a:off x="859536" y="5184648"/>
            <a:ext cx="22562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050" dirty="0"/>
          </a:p>
        </p:txBody>
      </p:sp>
      <p:sp>
        <p:nvSpPr>
          <p:cNvPr id="85" name="Text 47">
            <a:extLst>
              <a:ext uri="{FF2B5EF4-FFF2-40B4-BE49-F238E27FC236}">
                <a16:creationId xmlns:a16="http://schemas.microsoft.com/office/drawing/2014/main" id="{7E8953CE-246E-823D-1B5E-2684160E2876}"/>
              </a:ext>
            </a:extLst>
          </p:cNvPr>
          <p:cNvSpPr/>
          <p:nvPr/>
        </p:nvSpPr>
        <p:spPr>
          <a:xfrm>
            <a:off x="859536" y="5376672"/>
            <a:ext cx="22562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2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90m · Day 1</a:t>
            </a:r>
            <a:endParaRPr lang="en-US" sz="800" dirty="0"/>
          </a:p>
        </p:txBody>
      </p:sp>
      <p:sp>
        <p:nvSpPr>
          <p:cNvPr id="86" name="Shape 48">
            <a:extLst>
              <a:ext uri="{FF2B5EF4-FFF2-40B4-BE49-F238E27FC236}">
                <a16:creationId xmlns:a16="http://schemas.microsoft.com/office/drawing/2014/main" id="{0C79C36B-4688-BFBD-644B-BEF6670C1C0B}"/>
              </a:ext>
            </a:extLst>
          </p:cNvPr>
          <p:cNvSpPr/>
          <p:nvPr/>
        </p:nvSpPr>
        <p:spPr>
          <a:xfrm>
            <a:off x="658368" y="5614416"/>
            <a:ext cx="109728" cy="109728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87" name="Text 49">
            <a:extLst>
              <a:ext uri="{FF2B5EF4-FFF2-40B4-BE49-F238E27FC236}">
                <a16:creationId xmlns:a16="http://schemas.microsoft.com/office/drawing/2014/main" id="{5EAD16B0-AD8A-5AEB-A470-B701C8C72B05}"/>
              </a:ext>
            </a:extLst>
          </p:cNvPr>
          <p:cNvSpPr/>
          <p:nvPr/>
        </p:nvSpPr>
        <p:spPr>
          <a:xfrm>
            <a:off x="859536" y="5568696"/>
            <a:ext cx="22562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/ Demo</a:t>
            </a:r>
            <a:endParaRPr lang="en-US" sz="1050" dirty="0"/>
          </a:p>
        </p:txBody>
      </p:sp>
      <p:sp>
        <p:nvSpPr>
          <p:cNvPr id="88" name="Text 50">
            <a:extLst>
              <a:ext uri="{FF2B5EF4-FFF2-40B4-BE49-F238E27FC236}">
                <a16:creationId xmlns:a16="http://schemas.microsoft.com/office/drawing/2014/main" id="{C9138921-B715-CDB1-5890-FDD726A0993D}"/>
              </a:ext>
            </a:extLst>
          </p:cNvPr>
          <p:cNvSpPr/>
          <p:nvPr/>
        </p:nvSpPr>
        <p:spPr>
          <a:xfrm>
            <a:off x="859536" y="5760720"/>
            <a:ext cx="22562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2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45m · last day</a:t>
            </a:r>
            <a:endParaRPr lang="en-US" sz="800" dirty="0"/>
          </a:p>
        </p:txBody>
      </p:sp>
      <p:sp>
        <p:nvSpPr>
          <p:cNvPr id="89" name="Shape 51">
            <a:extLst>
              <a:ext uri="{FF2B5EF4-FFF2-40B4-BE49-F238E27FC236}">
                <a16:creationId xmlns:a16="http://schemas.microsoft.com/office/drawing/2014/main" id="{695469B0-9353-2B9D-4F8D-7ADF1741257F}"/>
              </a:ext>
            </a:extLst>
          </p:cNvPr>
          <p:cNvSpPr/>
          <p:nvPr/>
        </p:nvSpPr>
        <p:spPr>
          <a:xfrm>
            <a:off x="3188970" y="4462272"/>
            <a:ext cx="109728" cy="109728"/>
          </a:xfrm>
          <a:prstGeom prst="ellipse">
            <a:avLst/>
          </a:prstGeom>
          <a:solidFill>
            <a:srgbClr val="D8503A"/>
          </a:solidFill>
          <a:ln/>
        </p:spPr>
      </p:sp>
      <p:sp>
        <p:nvSpPr>
          <p:cNvPr id="90" name="Text 52">
            <a:extLst>
              <a:ext uri="{FF2B5EF4-FFF2-40B4-BE49-F238E27FC236}">
                <a16:creationId xmlns:a16="http://schemas.microsoft.com/office/drawing/2014/main" id="{B874A909-4F22-9111-8527-6592C87EBCB0}"/>
              </a:ext>
            </a:extLst>
          </p:cNvPr>
          <p:cNvSpPr/>
          <p:nvPr/>
        </p:nvSpPr>
        <p:spPr>
          <a:xfrm>
            <a:off x="3390138" y="4416552"/>
            <a:ext cx="22562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050" dirty="0"/>
          </a:p>
        </p:txBody>
      </p:sp>
      <p:sp>
        <p:nvSpPr>
          <p:cNvPr id="91" name="Text 53">
            <a:extLst>
              <a:ext uri="{FF2B5EF4-FFF2-40B4-BE49-F238E27FC236}">
                <a16:creationId xmlns:a16="http://schemas.microsoft.com/office/drawing/2014/main" id="{3B2B35A4-A71A-3227-FCB1-13C78C1F6BB2}"/>
              </a:ext>
            </a:extLst>
          </p:cNvPr>
          <p:cNvSpPr/>
          <p:nvPr/>
        </p:nvSpPr>
        <p:spPr>
          <a:xfrm>
            <a:off x="3390138" y="4608576"/>
            <a:ext cx="22562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2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45m · last day</a:t>
            </a:r>
            <a:endParaRPr lang="en-US" sz="800" dirty="0"/>
          </a:p>
        </p:txBody>
      </p:sp>
      <p:sp>
        <p:nvSpPr>
          <p:cNvPr id="92" name="Shape 54">
            <a:extLst>
              <a:ext uri="{FF2B5EF4-FFF2-40B4-BE49-F238E27FC236}">
                <a16:creationId xmlns:a16="http://schemas.microsoft.com/office/drawing/2014/main" id="{A16F4DDA-317F-DA54-65D6-2E74A4BF3F22}"/>
              </a:ext>
            </a:extLst>
          </p:cNvPr>
          <p:cNvSpPr/>
          <p:nvPr/>
        </p:nvSpPr>
        <p:spPr>
          <a:xfrm>
            <a:off x="3188970" y="4846320"/>
            <a:ext cx="109728" cy="109728"/>
          </a:xfrm>
          <a:prstGeom prst="ellipse">
            <a:avLst/>
          </a:prstGeom>
          <a:solidFill>
            <a:srgbClr val="D8503A"/>
          </a:solidFill>
          <a:ln/>
        </p:spPr>
      </p:sp>
      <p:sp>
        <p:nvSpPr>
          <p:cNvPr id="93" name="Text 55">
            <a:extLst>
              <a:ext uri="{FF2B5EF4-FFF2-40B4-BE49-F238E27FC236}">
                <a16:creationId xmlns:a16="http://schemas.microsoft.com/office/drawing/2014/main" id="{74A62F04-D7DD-4956-2181-179D1E6F2D8B}"/>
              </a:ext>
            </a:extLst>
          </p:cNvPr>
          <p:cNvSpPr/>
          <p:nvPr/>
        </p:nvSpPr>
        <p:spPr>
          <a:xfrm>
            <a:off x="3390138" y="4800600"/>
            <a:ext cx="22562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Planning</a:t>
            </a:r>
            <a:endParaRPr lang="en-US" sz="1050" dirty="0"/>
          </a:p>
        </p:txBody>
      </p:sp>
      <p:sp>
        <p:nvSpPr>
          <p:cNvPr id="94" name="Text 56">
            <a:extLst>
              <a:ext uri="{FF2B5EF4-FFF2-40B4-BE49-F238E27FC236}">
                <a16:creationId xmlns:a16="http://schemas.microsoft.com/office/drawing/2014/main" id="{4782C66A-CFFC-00A5-6CCC-455D35EEA2DA}"/>
              </a:ext>
            </a:extLst>
          </p:cNvPr>
          <p:cNvSpPr/>
          <p:nvPr/>
        </p:nvSpPr>
        <p:spPr>
          <a:xfrm>
            <a:off x="3390138" y="4992624"/>
            <a:ext cx="22562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2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½ day · quarterly</a:t>
            </a:r>
            <a:endParaRPr lang="en-US" sz="800" dirty="0"/>
          </a:p>
        </p:txBody>
      </p:sp>
      <p:sp>
        <p:nvSpPr>
          <p:cNvPr id="95" name="Shape 57">
            <a:extLst>
              <a:ext uri="{FF2B5EF4-FFF2-40B4-BE49-F238E27FC236}">
                <a16:creationId xmlns:a16="http://schemas.microsoft.com/office/drawing/2014/main" id="{959395DF-BC59-F36D-0BD1-42139AE5A265}"/>
              </a:ext>
            </a:extLst>
          </p:cNvPr>
          <p:cNvSpPr/>
          <p:nvPr/>
        </p:nvSpPr>
        <p:spPr>
          <a:xfrm>
            <a:off x="3188970" y="5230368"/>
            <a:ext cx="109728" cy="109728"/>
          </a:xfrm>
          <a:prstGeom prst="ellipse">
            <a:avLst/>
          </a:prstGeom>
          <a:solidFill>
            <a:srgbClr val="6F4FD0"/>
          </a:solidFill>
          <a:ln/>
        </p:spPr>
      </p:sp>
      <p:sp>
        <p:nvSpPr>
          <p:cNvPr id="96" name="Text 58">
            <a:extLst>
              <a:ext uri="{FF2B5EF4-FFF2-40B4-BE49-F238E27FC236}">
                <a16:creationId xmlns:a16="http://schemas.microsoft.com/office/drawing/2014/main" id="{5ABCC81F-E3A7-8460-792C-7C7D60E143C0}"/>
              </a:ext>
            </a:extLst>
          </p:cNvPr>
          <p:cNvSpPr/>
          <p:nvPr/>
        </p:nvSpPr>
        <p:spPr>
          <a:xfrm>
            <a:off x="3390138" y="5184648"/>
            <a:ext cx="22562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Discussion</a:t>
            </a:r>
            <a:endParaRPr lang="en-US" sz="1050" dirty="0"/>
          </a:p>
        </p:txBody>
      </p:sp>
      <p:sp>
        <p:nvSpPr>
          <p:cNvPr id="97" name="Text 59">
            <a:extLst>
              <a:ext uri="{FF2B5EF4-FFF2-40B4-BE49-F238E27FC236}">
                <a16:creationId xmlns:a16="http://schemas.microsoft.com/office/drawing/2014/main" id="{28AE6DBF-B37A-EFE9-0D9A-4BE227E85400}"/>
              </a:ext>
            </a:extLst>
          </p:cNvPr>
          <p:cNvSpPr/>
          <p:nvPr/>
        </p:nvSpPr>
        <p:spPr>
          <a:xfrm>
            <a:off x="3390138" y="5376672"/>
            <a:ext cx="22562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2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quarterly + check</a:t>
            </a:r>
            <a:endParaRPr lang="en-US" sz="800" dirty="0"/>
          </a:p>
        </p:txBody>
      </p:sp>
      <p:sp>
        <p:nvSpPr>
          <p:cNvPr id="98" name="Text 60">
            <a:extLst>
              <a:ext uri="{FF2B5EF4-FFF2-40B4-BE49-F238E27FC236}">
                <a16:creationId xmlns:a16="http://schemas.microsoft.com/office/drawing/2014/main" id="{11C5B0F4-8047-2EB9-95FB-D9B18A1D79A2}"/>
              </a:ext>
            </a:extLst>
          </p:cNvPr>
          <p:cNvSpPr/>
          <p:nvPr/>
        </p:nvSpPr>
        <p:spPr>
          <a:xfrm>
            <a:off x="658368" y="6035040"/>
            <a:ext cx="5061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ceremony is timeboxed — meetings enable building, not replace it.</a:t>
            </a:r>
            <a:endParaRPr lang="en-US" sz="900" dirty="0"/>
          </a:p>
        </p:txBody>
      </p:sp>
      <p:sp>
        <p:nvSpPr>
          <p:cNvPr id="99" name="Shape 61">
            <a:extLst>
              <a:ext uri="{FF2B5EF4-FFF2-40B4-BE49-F238E27FC236}">
                <a16:creationId xmlns:a16="http://schemas.microsoft.com/office/drawing/2014/main" id="{1E96997B-064C-454D-97BC-27092D196C5D}"/>
              </a:ext>
            </a:extLst>
          </p:cNvPr>
          <p:cNvSpPr/>
          <p:nvPr/>
        </p:nvSpPr>
        <p:spPr>
          <a:xfrm>
            <a:off x="6240780" y="3886200"/>
            <a:ext cx="546354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100" name="Shape 62">
            <a:extLst>
              <a:ext uri="{FF2B5EF4-FFF2-40B4-BE49-F238E27FC236}">
                <a16:creationId xmlns:a16="http://schemas.microsoft.com/office/drawing/2014/main" id="{326F0D92-4550-81B5-F6C0-4FDDA3A68ABA}"/>
              </a:ext>
            </a:extLst>
          </p:cNvPr>
          <p:cNvSpPr/>
          <p:nvPr/>
        </p:nvSpPr>
        <p:spPr>
          <a:xfrm>
            <a:off x="6441948" y="40690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C8076"/>
          </a:solidFill>
          <a:ln/>
        </p:spPr>
      </p:sp>
      <p:sp>
        <p:nvSpPr>
          <p:cNvPr id="101" name="Text 63">
            <a:extLst>
              <a:ext uri="{FF2B5EF4-FFF2-40B4-BE49-F238E27FC236}">
                <a16:creationId xmlns:a16="http://schemas.microsoft.com/office/drawing/2014/main" id="{08F8EF71-14D4-E7E9-29A6-87739C1F3F7D}"/>
              </a:ext>
            </a:extLst>
          </p:cNvPr>
          <p:cNvSpPr/>
          <p:nvPr/>
        </p:nvSpPr>
        <p:spPr>
          <a:xfrm>
            <a:off x="6441948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02" name="Text 64">
            <a:extLst>
              <a:ext uri="{FF2B5EF4-FFF2-40B4-BE49-F238E27FC236}">
                <a16:creationId xmlns:a16="http://schemas.microsoft.com/office/drawing/2014/main" id="{C21359A2-BD23-B026-0FB2-C91A1B530C48}"/>
              </a:ext>
            </a:extLst>
          </p:cNvPr>
          <p:cNvSpPr/>
          <p:nvPr/>
        </p:nvSpPr>
        <p:spPr>
          <a:xfrm>
            <a:off x="6807708" y="4069080"/>
            <a:ext cx="4686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 CADENCE · 2 WEEKS</a:t>
            </a:r>
            <a:endParaRPr lang="en-US" sz="1050" dirty="0"/>
          </a:p>
        </p:txBody>
      </p:sp>
      <p:sp>
        <p:nvSpPr>
          <p:cNvPr id="103" name="Text 65">
            <a:extLst>
              <a:ext uri="{FF2B5EF4-FFF2-40B4-BE49-F238E27FC236}">
                <a16:creationId xmlns:a16="http://schemas.microsoft.com/office/drawing/2014/main" id="{94649AB0-E966-3636-CB88-28823399A2FF}"/>
              </a:ext>
            </a:extLst>
          </p:cNvPr>
          <p:cNvSpPr/>
          <p:nvPr/>
        </p:nvSpPr>
        <p:spPr>
          <a:xfrm>
            <a:off x="6441948" y="43708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C7C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</a:t>
            </a:r>
            <a:endParaRPr lang="en-US" sz="850" dirty="0"/>
          </a:p>
        </p:txBody>
      </p:sp>
      <p:sp>
        <p:nvSpPr>
          <p:cNvPr id="104" name="Shape 66">
            <a:extLst>
              <a:ext uri="{FF2B5EF4-FFF2-40B4-BE49-F238E27FC236}">
                <a16:creationId xmlns:a16="http://schemas.microsoft.com/office/drawing/2014/main" id="{971C1054-3284-A910-6885-792EE178D286}"/>
              </a:ext>
            </a:extLst>
          </p:cNvPr>
          <p:cNvSpPr/>
          <p:nvPr/>
        </p:nvSpPr>
        <p:spPr>
          <a:xfrm>
            <a:off x="6441948" y="4572000"/>
            <a:ext cx="953719" cy="566928"/>
          </a:xfrm>
          <a:prstGeom prst="roundRect">
            <a:avLst>
              <a:gd name="adj" fmla="val 6452"/>
            </a:avLst>
          </a:prstGeom>
          <a:solidFill>
            <a:srgbClr val="FBF1D6"/>
          </a:solidFill>
          <a:ln/>
        </p:spPr>
      </p:sp>
      <p:sp>
        <p:nvSpPr>
          <p:cNvPr id="105" name="Text 67">
            <a:extLst>
              <a:ext uri="{FF2B5EF4-FFF2-40B4-BE49-F238E27FC236}">
                <a16:creationId xmlns:a16="http://schemas.microsoft.com/office/drawing/2014/main" id="{ABD102CE-1CF8-3449-3081-5455A178AC4C}"/>
              </a:ext>
            </a:extLst>
          </p:cNvPr>
          <p:cNvSpPr/>
          <p:nvPr/>
        </p:nvSpPr>
        <p:spPr>
          <a:xfrm>
            <a:off x="6487668" y="4626864"/>
            <a:ext cx="8622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BC7C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</a:t>
            </a:r>
            <a:endParaRPr lang="en-US" sz="700" dirty="0"/>
          </a:p>
        </p:txBody>
      </p:sp>
      <p:sp>
        <p:nvSpPr>
          <p:cNvPr id="106" name="Text 68">
            <a:extLst>
              <a:ext uri="{FF2B5EF4-FFF2-40B4-BE49-F238E27FC236}">
                <a16:creationId xmlns:a16="http://schemas.microsoft.com/office/drawing/2014/main" id="{5DFF8C2A-6A35-7E71-8721-6C748458AD0C}"/>
              </a:ext>
            </a:extLst>
          </p:cNvPr>
          <p:cNvSpPr/>
          <p:nvPr/>
        </p:nvSpPr>
        <p:spPr>
          <a:xfrm>
            <a:off x="6487668" y="4809744"/>
            <a:ext cx="862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800" b="1" dirty="0">
                <a:solidFill>
                  <a:srgbClr val="BC7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800" dirty="0"/>
          </a:p>
        </p:txBody>
      </p:sp>
      <p:sp>
        <p:nvSpPr>
          <p:cNvPr id="107" name="Shape 69">
            <a:extLst>
              <a:ext uri="{FF2B5EF4-FFF2-40B4-BE49-F238E27FC236}">
                <a16:creationId xmlns:a16="http://schemas.microsoft.com/office/drawing/2014/main" id="{831E2AF2-9A08-8C96-99A3-5FDCA3C25554}"/>
              </a:ext>
            </a:extLst>
          </p:cNvPr>
          <p:cNvSpPr/>
          <p:nvPr/>
        </p:nvSpPr>
        <p:spPr>
          <a:xfrm>
            <a:off x="7468819" y="4572000"/>
            <a:ext cx="953719" cy="566928"/>
          </a:xfrm>
          <a:prstGeom prst="roundRect">
            <a:avLst>
              <a:gd name="adj" fmla="val 6452"/>
            </a:avLst>
          </a:prstGeom>
          <a:solidFill>
            <a:srgbClr val="ECE9E1"/>
          </a:solidFill>
          <a:ln/>
        </p:spPr>
      </p:sp>
      <p:sp>
        <p:nvSpPr>
          <p:cNvPr id="108" name="Text 70">
            <a:extLst>
              <a:ext uri="{FF2B5EF4-FFF2-40B4-BE49-F238E27FC236}">
                <a16:creationId xmlns:a16="http://schemas.microsoft.com/office/drawing/2014/main" id="{1D910CB7-6207-1AE6-6F9E-53F048254363}"/>
              </a:ext>
            </a:extLst>
          </p:cNvPr>
          <p:cNvSpPr/>
          <p:nvPr/>
        </p:nvSpPr>
        <p:spPr>
          <a:xfrm>
            <a:off x="7514539" y="4626864"/>
            <a:ext cx="8622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8A92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TUE</a:t>
            </a:r>
            <a:endParaRPr lang="en-US" sz="700" dirty="0"/>
          </a:p>
        </p:txBody>
      </p:sp>
      <p:sp>
        <p:nvSpPr>
          <p:cNvPr id="109" name="Text 71">
            <a:extLst>
              <a:ext uri="{FF2B5EF4-FFF2-40B4-BE49-F238E27FC236}">
                <a16:creationId xmlns:a16="http://schemas.microsoft.com/office/drawing/2014/main" id="{3396DBDC-95EC-CB45-4654-CF1021DF5C15}"/>
              </a:ext>
            </a:extLst>
          </p:cNvPr>
          <p:cNvSpPr/>
          <p:nvPr/>
        </p:nvSpPr>
        <p:spPr>
          <a:xfrm>
            <a:off x="7514539" y="4809744"/>
            <a:ext cx="862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5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750" dirty="0"/>
          </a:p>
        </p:txBody>
      </p:sp>
      <p:sp>
        <p:nvSpPr>
          <p:cNvPr id="110" name="Shape 72">
            <a:extLst>
              <a:ext uri="{FF2B5EF4-FFF2-40B4-BE49-F238E27FC236}">
                <a16:creationId xmlns:a16="http://schemas.microsoft.com/office/drawing/2014/main" id="{3152ABEF-47E1-3BD0-3B6A-8562FAF8AB4A}"/>
              </a:ext>
            </a:extLst>
          </p:cNvPr>
          <p:cNvSpPr/>
          <p:nvPr/>
        </p:nvSpPr>
        <p:spPr>
          <a:xfrm>
            <a:off x="8495690" y="4572000"/>
            <a:ext cx="953719" cy="566928"/>
          </a:xfrm>
          <a:prstGeom prst="roundRect">
            <a:avLst>
              <a:gd name="adj" fmla="val 6452"/>
            </a:avLst>
          </a:prstGeom>
          <a:solidFill>
            <a:srgbClr val="ECE9E1"/>
          </a:solidFill>
          <a:ln/>
        </p:spPr>
      </p:sp>
      <p:sp>
        <p:nvSpPr>
          <p:cNvPr id="111" name="Text 73">
            <a:extLst>
              <a:ext uri="{FF2B5EF4-FFF2-40B4-BE49-F238E27FC236}">
                <a16:creationId xmlns:a16="http://schemas.microsoft.com/office/drawing/2014/main" id="{E81529EB-5EFD-D394-2713-F383793A06F8}"/>
              </a:ext>
            </a:extLst>
          </p:cNvPr>
          <p:cNvSpPr/>
          <p:nvPr/>
        </p:nvSpPr>
        <p:spPr>
          <a:xfrm>
            <a:off x="8541410" y="4626864"/>
            <a:ext cx="8622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8A92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WED</a:t>
            </a:r>
            <a:endParaRPr lang="en-US" sz="700" dirty="0"/>
          </a:p>
        </p:txBody>
      </p:sp>
      <p:sp>
        <p:nvSpPr>
          <p:cNvPr id="112" name="Text 74">
            <a:extLst>
              <a:ext uri="{FF2B5EF4-FFF2-40B4-BE49-F238E27FC236}">
                <a16:creationId xmlns:a16="http://schemas.microsoft.com/office/drawing/2014/main" id="{487F9EED-0D47-1956-9F5C-E8512B6070C3}"/>
              </a:ext>
            </a:extLst>
          </p:cNvPr>
          <p:cNvSpPr/>
          <p:nvPr/>
        </p:nvSpPr>
        <p:spPr>
          <a:xfrm>
            <a:off x="8541410" y="4809744"/>
            <a:ext cx="862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5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750" dirty="0"/>
          </a:p>
        </p:txBody>
      </p:sp>
      <p:sp>
        <p:nvSpPr>
          <p:cNvPr id="113" name="Shape 75">
            <a:extLst>
              <a:ext uri="{FF2B5EF4-FFF2-40B4-BE49-F238E27FC236}">
                <a16:creationId xmlns:a16="http://schemas.microsoft.com/office/drawing/2014/main" id="{04DD04A8-0AB1-088F-E34E-EE8B3E5EDE21}"/>
              </a:ext>
            </a:extLst>
          </p:cNvPr>
          <p:cNvSpPr/>
          <p:nvPr/>
        </p:nvSpPr>
        <p:spPr>
          <a:xfrm>
            <a:off x="9522562" y="4572000"/>
            <a:ext cx="953719" cy="566928"/>
          </a:xfrm>
          <a:prstGeom prst="roundRect">
            <a:avLst>
              <a:gd name="adj" fmla="val 6452"/>
            </a:avLst>
          </a:prstGeom>
          <a:solidFill>
            <a:srgbClr val="ECE5FA"/>
          </a:solidFill>
          <a:ln/>
        </p:spPr>
      </p:sp>
      <p:sp>
        <p:nvSpPr>
          <p:cNvPr id="114" name="Text 76">
            <a:extLst>
              <a:ext uri="{FF2B5EF4-FFF2-40B4-BE49-F238E27FC236}">
                <a16:creationId xmlns:a16="http://schemas.microsoft.com/office/drawing/2014/main" id="{5DA64753-3A2D-4055-62E7-7E830FD183B2}"/>
              </a:ext>
            </a:extLst>
          </p:cNvPr>
          <p:cNvSpPr/>
          <p:nvPr/>
        </p:nvSpPr>
        <p:spPr>
          <a:xfrm>
            <a:off x="9568282" y="4626864"/>
            <a:ext cx="8622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F4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</a:t>
            </a:r>
            <a:endParaRPr lang="en-US" sz="700" dirty="0"/>
          </a:p>
        </p:txBody>
      </p:sp>
      <p:sp>
        <p:nvSpPr>
          <p:cNvPr id="115" name="Text 77">
            <a:extLst>
              <a:ext uri="{FF2B5EF4-FFF2-40B4-BE49-F238E27FC236}">
                <a16:creationId xmlns:a16="http://schemas.microsoft.com/office/drawing/2014/main" id="{66139D0E-AA12-519B-3E84-A5CC714300BF}"/>
              </a:ext>
            </a:extLst>
          </p:cNvPr>
          <p:cNvSpPr/>
          <p:nvPr/>
        </p:nvSpPr>
        <p:spPr>
          <a:xfrm>
            <a:off x="9568282" y="4809744"/>
            <a:ext cx="862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800" b="1" dirty="0">
                <a:solidFill>
                  <a:srgbClr val="6F4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Grooming</a:t>
            </a:r>
            <a:endParaRPr lang="en-US" sz="800" dirty="0"/>
          </a:p>
        </p:txBody>
      </p:sp>
      <p:sp>
        <p:nvSpPr>
          <p:cNvPr id="116" name="Shape 78">
            <a:extLst>
              <a:ext uri="{FF2B5EF4-FFF2-40B4-BE49-F238E27FC236}">
                <a16:creationId xmlns:a16="http://schemas.microsoft.com/office/drawing/2014/main" id="{E52B1364-17B0-C510-2F97-B0371194966B}"/>
              </a:ext>
            </a:extLst>
          </p:cNvPr>
          <p:cNvSpPr/>
          <p:nvPr/>
        </p:nvSpPr>
        <p:spPr>
          <a:xfrm>
            <a:off x="10549433" y="4572000"/>
            <a:ext cx="953719" cy="566928"/>
          </a:xfrm>
          <a:prstGeom prst="roundRect">
            <a:avLst>
              <a:gd name="adj" fmla="val 6452"/>
            </a:avLst>
          </a:prstGeom>
          <a:solidFill>
            <a:srgbClr val="ECE9E1"/>
          </a:solidFill>
          <a:ln/>
        </p:spPr>
      </p:sp>
      <p:sp>
        <p:nvSpPr>
          <p:cNvPr id="117" name="Text 79">
            <a:extLst>
              <a:ext uri="{FF2B5EF4-FFF2-40B4-BE49-F238E27FC236}">
                <a16:creationId xmlns:a16="http://schemas.microsoft.com/office/drawing/2014/main" id="{A2BA04BB-AAAB-1ED4-71B4-BC5974F00413}"/>
              </a:ext>
            </a:extLst>
          </p:cNvPr>
          <p:cNvSpPr/>
          <p:nvPr/>
        </p:nvSpPr>
        <p:spPr>
          <a:xfrm>
            <a:off x="10595153" y="4626864"/>
            <a:ext cx="8622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8A92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</a:t>
            </a:r>
            <a:endParaRPr lang="en-US" sz="700" dirty="0"/>
          </a:p>
        </p:txBody>
      </p:sp>
      <p:sp>
        <p:nvSpPr>
          <p:cNvPr id="118" name="Text 80">
            <a:extLst>
              <a:ext uri="{FF2B5EF4-FFF2-40B4-BE49-F238E27FC236}">
                <a16:creationId xmlns:a16="http://schemas.microsoft.com/office/drawing/2014/main" id="{E0F638C8-2ED2-F2B2-7110-CF46F2B441D8}"/>
              </a:ext>
            </a:extLst>
          </p:cNvPr>
          <p:cNvSpPr/>
          <p:nvPr/>
        </p:nvSpPr>
        <p:spPr>
          <a:xfrm>
            <a:off x="10595153" y="4809744"/>
            <a:ext cx="862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5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750" dirty="0"/>
          </a:p>
        </p:txBody>
      </p:sp>
      <p:sp>
        <p:nvSpPr>
          <p:cNvPr id="119" name="Text 81">
            <a:extLst>
              <a:ext uri="{FF2B5EF4-FFF2-40B4-BE49-F238E27FC236}">
                <a16:creationId xmlns:a16="http://schemas.microsoft.com/office/drawing/2014/main" id="{2ED9D69D-4B4A-3AA2-F818-0529F061EE4B}"/>
              </a:ext>
            </a:extLst>
          </p:cNvPr>
          <p:cNvSpPr/>
          <p:nvPr/>
        </p:nvSpPr>
        <p:spPr>
          <a:xfrm>
            <a:off x="6441948" y="51937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C7C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2</a:t>
            </a:r>
            <a:endParaRPr lang="en-US" sz="850" dirty="0"/>
          </a:p>
        </p:txBody>
      </p:sp>
      <p:sp>
        <p:nvSpPr>
          <p:cNvPr id="120" name="Shape 82">
            <a:extLst>
              <a:ext uri="{FF2B5EF4-FFF2-40B4-BE49-F238E27FC236}">
                <a16:creationId xmlns:a16="http://schemas.microsoft.com/office/drawing/2014/main" id="{4F7823C4-B8D8-F35C-6FB3-9AC7137CD63D}"/>
              </a:ext>
            </a:extLst>
          </p:cNvPr>
          <p:cNvSpPr/>
          <p:nvPr/>
        </p:nvSpPr>
        <p:spPr>
          <a:xfrm>
            <a:off x="6441948" y="5394960"/>
            <a:ext cx="953719" cy="566928"/>
          </a:xfrm>
          <a:prstGeom prst="roundRect">
            <a:avLst>
              <a:gd name="adj" fmla="val 6452"/>
            </a:avLst>
          </a:prstGeom>
          <a:solidFill>
            <a:srgbClr val="ECE9E1"/>
          </a:solidFill>
          <a:ln/>
        </p:spPr>
      </p:sp>
      <p:sp>
        <p:nvSpPr>
          <p:cNvPr id="121" name="Text 83">
            <a:extLst>
              <a:ext uri="{FF2B5EF4-FFF2-40B4-BE49-F238E27FC236}">
                <a16:creationId xmlns:a16="http://schemas.microsoft.com/office/drawing/2014/main" id="{9C3F704B-A3EA-AAA4-0889-40B48848B286}"/>
              </a:ext>
            </a:extLst>
          </p:cNvPr>
          <p:cNvSpPr/>
          <p:nvPr/>
        </p:nvSpPr>
        <p:spPr>
          <a:xfrm>
            <a:off x="6487668" y="5449824"/>
            <a:ext cx="8622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8A92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</a:t>
            </a:r>
            <a:endParaRPr lang="en-US" sz="700" dirty="0"/>
          </a:p>
        </p:txBody>
      </p:sp>
      <p:sp>
        <p:nvSpPr>
          <p:cNvPr id="122" name="Text 84">
            <a:extLst>
              <a:ext uri="{FF2B5EF4-FFF2-40B4-BE49-F238E27FC236}">
                <a16:creationId xmlns:a16="http://schemas.microsoft.com/office/drawing/2014/main" id="{BC6BDF69-5545-AD52-111F-8D37D6053035}"/>
              </a:ext>
            </a:extLst>
          </p:cNvPr>
          <p:cNvSpPr/>
          <p:nvPr/>
        </p:nvSpPr>
        <p:spPr>
          <a:xfrm>
            <a:off x="6487668" y="5632704"/>
            <a:ext cx="862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5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750" dirty="0"/>
          </a:p>
        </p:txBody>
      </p:sp>
      <p:sp>
        <p:nvSpPr>
          <p:cNvPr id="123" name="Shape 85">
            <a:extLst>
              <a:ext uri="{FF2B5EF4-FFF2-40B4-BE49-F238E27FC236}">
                <a16:creationId xmlns:a16="http://schemas.microsoft.com/office/drawing/2014/main" id="{0F051A3A-5983-CCF1-4610-295657B298BF}"/>
              </a:ext>
            </a:extLst>
          </p:cNvPr>
          <p:cNvSpPr/>
          <p:nvPr/>
        </p:nvSpPr>
        <p:spPr>
          <a:xfrm>
            <a:off x="7468819" y="5394960"/>
            <a:ext cx="953719" cy="566928"/>
          </a:xfrm>
          <a:prstGeom prst="roundRect">
            <a:avLst>
              <a:gd name="adj" fmla="val 6452"/>
            </a:avLst>
          </a:prstGeom>
          <a:solidFill>
            <a:srgbClr val="ECE9E1"/>
          </a:solidFill>
          <a:ln/>
        </p:spPr>
      </p:sp>
      <p:sp>
        <p:nvSpPr>
          <p:cNvPr id="124" name="Text 86">
            <a:extLst>
              <a:ext uri="{FF2B5EF4-FFF2-40B4-BE49-F238E27FC236}">
                <a16:creationId xmlns:a16="http://schemas.microsoft.com/office/drawing/2014/main" id="{3B53DEB2-A169-5514-F4F2-81BEED6FEA07}"/>
              </a:ext>
            </a:extLst>
          </p:cNvPr>
          <p:cNvSpPr/>
          <p:nvPr/>
        </p:nvSpPr>
        <p:spPr>
          <a:xfrm>
            <a:off x="7514539" y="5449824"/>
            <a:ext cx="8622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8A92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TUE</a:t>
            </a:r>
            <a:endParaRPr lang="en-US" sz="700" dirty="0"/>
          </a:p>
        </p:txBody>
      </p:sp>
      <p:sp>
        <p:nvSpPr>
          <p:cNvPr id="125" name="Text 87">
            <a:extLst>
              <a:ext uri="{FF2B5EF4-FFF2-40B4-BE49-F238E27FC236}">
                <a16:creationId xmlns:a16="http://schemas.microsoft.com/office/drawing/2014/main" id="{DDDD1AFE-C11C-6431-C62D-841F1CE11761}"/>
              </a:ext>
            </a:extLst>
          </p:cNvPr>
          <p:cNvSpPr/>
          <p:nvPr/>
        </p:nvSpPr>
        <p:spPr>
          <a:xfrm>
            <a:off x="7514539" y="5632704"/>
            <a:ext cx="862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5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750" dirty="0"/>
          </a:p>
        </p:txBody>
      </p:sp>
      <p:sp>
        <p:nvSpPr>
          <p:cNvPr id="126" name="Shape 88">
            <a:extLst>
              <a:ext uri="{FF2B5EF4-FFF2-40B4-BE49-F238E27FC236}">
                <a16:creationId xmlns:a16="http://schemas.microsoft.com/office/drawing/2014/main" id="{DA304750-EAAD-A463-B24B-CAB662DB489F}"/>
              </a:ext>
            </a:extLst>
          </p:cNvPr>
          <p:cNvSpPr/>
          <p:nvPr/>
        </p:nvSpPr>
        <p:spPr>
          <a:xfrm>
            <a:off x="8495690" y="5394960"/>
            <a:ext cx="953719" cy="566928"/>
          </a:xfrm>
          <a:prstGeom prst="roundRect">
            <a:avLst>
              <a:gd name="adj" fmla="val 6452"/>
            </a:avLst>
          </a:prstGeom>
          <a:solidFill>
            <a:srgbClr val="ECE9E1"/>
          </a:solidFill>
          <a:ln/>
        </p:spPr>
      </p:sp>
      <p:sp>
        <p:nvSpPr>
          <p:cNvPr id="127" name="Text 89">
            <a:extLst>
              <a:ext uri="{FF2B5EF4-FFF2-40B4-BE49-F238E27FC236}">
                <a16:creationId xmlns:a16="http://schemas.microsoft.com/office/drawing/2014/main" id="{E1B33EB4-0BA7-5C1F-0841-6A85239AB7B4}"/>
              </a:ext>
            </a:extLst>
          </p:cNvPr>
          <p:cNvSpPr/>
          <p:nvPr/>
        </p:nvSpPr>
        <p:spPr>
          <a:xfrm>
            <a:off x="8541410" y="5449824"/>
            <a:ext cx="8622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8A92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WED</a:t>
            </a:r>
            <a:endParaRPr lang="en-US" sz="700" dirty="0"/>
          </a:p>
        </p:txBody>
      </p:sp>
      <p:sp>
        <p:nvSpPr>
          <p:cNvPr id="128" name="Text 90">
            <a:extLst>
              <a:ext uri="{FF2B5EF4-FFF2-40B4-BE49-F238E27FC236}">
                <a16:creationId xmlns:a16="http://schemas.microsoft.com/office/drawing/2014/main" id="{3653C245-508F-2B8C-5E08-40B922CF863E}"/>
              </a:ext>
            </a:extLst>
          </p:cNvPr>
          <p:cNvSpPr/>
          <p:nvPr/>
        </p:nvSpPr>
        <p:spPr>
          <a:xfrm>
            <a:off x="8541410" y="5632704"/>
            <a:ext cx="862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5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750" dirty="0"/>
          </a:p>
        </p:txBody>
      </p:sp>
      <p:sp>
        <p:nvSpPr>
          <p:cNvPr id="129" name="Shape 91">
            <a:extLst>
              <a:ext uri="{FF2B5EF4-FFF2-40B4-BE49-F238E27FC236}">
                <a16:creationId xmlns:a16="http://schemas.microsoft.com/office/drawing/2014/main" id="{77CBE119-4EFA-4C34-8FC8-B3FC432A98AA}"/>
              </a:ext>
            </a:extLst>
          </p:cNvPr>
          <p:cNvSpPr/>
          <p:nvPr/>
        </p:nvSpPr>
        <p:spPr>
          <a:xfrm>
            <a:off x="9522562" y="5394960"/>
            <a:ext cx="953719" cy="566928"/>
          </a:xfrm>
          <a:prstGeom prst="roundRect">
            <a:avLst>
              <a:gd name="adj" fmla="val 6452"/>
            </a:avLst>
          </a:prstGeom>
          <a:solidFill>
            <a:srgbClr val="D9F2EE"/>
          </a:solidFill>
          <a:ln/>
        </p:spPr>
      </p:sp>
      <p:sp>
        <p:nvSpPr>
          <p:cNvPr id="130" name="Text 92">
            <a:extLst>
              <a:ext uri="{FF2B5EF4-FFF2-40B4-BE49-F238E27FC236}">
                <a16:creationId xmlns:a16="http://schemas.microsoft.com/office/drawing/2014/main" id="{3D36D41D-0B02-5D91-087B-083E91E198EC}"/>
              </a:ext>
            </a:extLst>
          </p:cNvPr>
          <p:cNvSpPr/>
          <p:nvPr/>
        </p:nvSpPr>
        <p:spPr>
          <a:xfrm>
            <a:off x="9568282" y="5449824"/>
            <a:ext cx="8622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0C80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</a:t>
            </a:r>
            <a:endParaRPr lang="en-US" sz="700" dirty="0"/>
          </a:p>
        </p:txBody>
      </p:sp>
      <p:sp>
        <p:nvSpPr>
          <p:cNvPr id="131" name="Text 93">
            <a:extLst>
              <a:ext uri="{FF2B5EF4-FFF2-40B4-BE49-F238E27FC236}">
                <a16:creationId xmlns:a16="http://schemas.microsoft.com/office/drawing/2014/main" id="{708593F0-1D2D-0F57-3A16-154C7E2394E1}"/>
              </a:ext>
            </a:extLst>
          </p:cNvPr>
          <p:cNvSpPr/>
          <p:nvPr/>
        </p:nvSpPr>
        <p:spPr>
          <a:xfrm>
            <a:off x="9568282" y="5632704"/>
            <a:ext cx="862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800" b="1" dirty="0">
                <a:solidFill>
                  <a:srgbClr val="0C8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freeze</a:t>
            </a:r>
            <a:endParaRPr lang="en-US" sz="800" dirty="0"/>
          </a:p>
        </p:txBody>
      </p:sp>
      <p:sp>
        <p:nvSpPr>
          <p:cNvPr id="132" name="Shape 94">
            <a:extLst>
              <a:ext uri="{FF2B5EF4-FFF2-40B4-BE49-F238E27FC236}">
                <a16:creationId xmlns:a16="http://schemas.microsoft.com/office/drawing/2014/main" id="{0CC0756C-95D2-A0AE-1917-DE8AA70BF3BD}"/>
              </a:ext>
            </a:extLst>
          </p:cNvPr>
          <p:cNvSpPr/>
          <p:nvPr/>
        </p:nvSpPr>
        <p:spPr>
          <a:xfrm>
            <a:off x="10549433" y="5394960"/>
            <a:ext cx="953719" cy="566928"/>
          </a:xfrm>
          <a:prstGeom prst="roundRect">
            <a:avLst>
              <a:gd name="adj" fmla="val 6452"/>
            </a:avLst>
          </a:prstGeom>
          <a:solidFill>
            <a:srgbClr val="DEF2E6"/>
          </a:solidFill>
          <a:ln/>
        </p:spPr>
      </p:sp>
      <p:sp>
        <p:nvSpPr>
          <p:cNvPr id="133" name="Text 95">
            <a:extLst>
              <a:ext uri="{FF2B5EF4-FFF2-40B4-BE49-F238E27FC236}">
                <a16:creationId xmlns:a16="http://schemas.microsoft.com/office/drawing/2014/main" id="{B6B5453D-8B6E-1C00-3E9C-A2A1845F6B58}"/>
              </a:ext>
            </a:extLst>
          </p:cNvPr>
          <p:cNvSpPr/>
          <p:nvPr/>
        </p:nvSpPr>
        <p:spPr>
          <a:xfrm>
            <a:off x="10595153" y="5449824"/>
            <a:ext cx="8622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1F9D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</a:t>
            </a:r>
            <a:endParaRPr lang="en-US" sz="700" dirty="0"/>
          </a:p>
        </p:txBody>
      </p:sp>
      <p:sp>
        <p:nvSpPr>
          <p:cNvPr id="134" name="Text 96">
            <a:extLst>
              <a:ext uri="{FF2B5EF4-FFF2-40B4-BE49-F238E27FC236}">
                <a16:creationId xmlns:a16="http://schemas.microsoft.com/office/drawing/2014/main" id="{AF3B0055-E4BB-C58E-0F2C-D01D896BFB0A}"/>
              </a:ext>
            </a:extLst>
          </p:cNvPr>
          <p:cNvSpPr/>
          <p:nvPr/>
        </p:nvSpPr>
        <p:spPr>
          <a:xfrm>
            <a:off x="10595153" y="5632704"/>
            <a:ext cx="862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8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Retro</a:t>
            </a:r>
            <a:endParaRPr lang="en-US" sz="800" dirty="0"/>
          </a:p>
        </p:txBody>
      </p:sp>
      <p:sp>
        <p:nvSpPr>
          <p:cNvPr id="135" name="Text 97">
            <a:extLst>
              <a:ext uri="{FF2B5EF4-FFF2-40B4-BE49-F238E27FC236}">
                <a16:creationId xmlns:a16="http://schemas.microsoft.com/office/drawing/2014/main" id="{069D8C82-EB6C-2CDB-CDC7-15F5D1A77742}"/>
              </a:ext>
            </a:extLst>
          </p:cNvPr>
          <p:cNvSpPr/>
          <p:nvPr/>
        </p:nvSpPr>
        <p:spPr>
          <a:xfrm>
            <a:off x="6441948" y="6035040"/>
            <a:ext cx="5061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 every working day.  </a:t>
            </a:r>
            <a:r>
              <a:rPr lang="en-US" sz="900" i="1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opens with PI Planning + OKR review.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>
            <a:extLst>
              <a:ext uri="{FF2B5EF4-FFF2-40B4-BE49-F238E27FC236}">
                <a16:creationId xmlns:a16="http://schemas.microsoft.com/office/drawing/2014/main" id="{F9D66356-89F7-8AF4-C321-0F6BFB5E20E2}"/>
              </a:ext>
            </a:extLst>
          </p:cNvPr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C7C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PLANNING · SPRINT MECHANICS</a:t>
            </a:r>
            <a:endParaRPr lang="en-US" sz="11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4B45AAE3-187D-D2B1-68C0-C7F5E4A31C1F}"/>
              </a:ext>
            </a:extLst>
          </p:cNvPr>
          <p:cNvSpPr/>
          <p:nvPr/>
        </p:nvSpPr>
        <p:spPr>
          <a:xfrm>
            <a:off x="521208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32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Capacity, velocity &amp; burndown</a:t>
            </a:r>
            <a:endParaRPr lang="en-US" sz="2900" dirty="0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D59E239F-0CAF-684D-DC60-C09FFDF1C5E4}"/>
              </a:ext>
            </a:extLst>
          </p:cNvPr>
          <p:cNvSpPr/>
          <p:nvPr/>
        </p:nvSpPr>
        <p:spPr>
          <a:xfrm>
            <a:off x="457200" y="1417320"/>
            <a:ext cx="112471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9D03C752-4D31-16B4-68D7-3E456D0C855E}"/>
              </a:ext>
            </a:extLst>
          </p:cNvPr>
          <p:cNvSpPr/>
          <p:nvPr/>
        </p:nvSpPr>
        <p:spPr>
          <a:xfrm>
            <a:off x="457200" y="1536192"/>
            <a:ext cx="82296" cy="329184"/>
          </a:xfrm>
          <a:prstGeom prst="rect">
            <a:avLst/>
          </a:prstGeom>
          <a:solidFill>
            <a:srgbClr val="0C8076"/>
          </a:solidFill>
          <a:ln/>
        </p:spPr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BECDE8BC-5950-C1EF-BAB3-E3B8B4EC3E0B}"/>
              </a:ext>
            </a:extLst>
          </p:cNvPr>
          <p:cNvSpPr/>
          <p:nvPr/>
        </p:nvSpPr>
        <p:spPr>
          <a:xfrm>
            <a:off x="777240" y="14173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80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Capacity</a:t>
            </a:r>
            <a:r>
              <a:rPr lang="en-US" sz="1400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Members × Sprint Days × </a:t>
            </a:r>
            <a:r>
              <a:rPr lang="en-US" sz="1400" b="1" dirty="0">
                <a:solidFill>
                  <a:srgbClr val="0C80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 Factor</a:t>
            </a:r>
            <a:r>
              <a:rPr lang="en-US" sz="1400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− (Leave + Holidays + Ceremony time)</a:t>
            </a:r>
            <a:endParaRPr lang="en-US" sz="1400" dirty="0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4428F072-03B5-252A-E2F4-D2AC020D0498}"/>
              </a:ext>
            </a:extLst>
          </p:cNvPr>
          <p:cNvSpPr/>
          <p:nvPr/>
        </p:nvSpPr>
        <p:spPr>
          <a:xfrm>
            <a:off x="457200" y="2194560"/>
            <a:ext cx="350520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E72BB80D-B2CC-5820-23C9-344CF0060D66}"/>
              </a:ext>
            </a:extLst>
          </p:cNvPr>
          <p:cNvSpPr/>
          <p:nvPr/>
        </p:nvSpPr>
        <p:spPr>
          <a:xfrm>
            <a:off x="685800" y="2395728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example — 5-person team</a:t>
            </a:r>
            <a:endParaRPr lang="en-US" sz="130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93523B57-D3A7-0864-E32D-5EE9829A985B}"/>
              </a:ext>
            </a:extLst>
          </p:cNvPr>
          <p:cNvSpPr/>
          <p:nvPr/>
        </p:nvSpPr>
        <p:spPr>
          <a:xfrm>
            <a:off x="685800" y="2834640"/>
            <a:ext cx="217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FB5940A9-835A-A4B9-267E-D15637440733}"/>
              </a:ext>
            </a:extLst>
          </p:cNvPr>
          <p:cNvSpPr/>
          <p:nvPr/>
        </p:nvSpPr>
        <p:spPr>
          <a:xfrm>
            <a:off x="2773680" y="28346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30E3C264-45F6-83C7-BB64-ACC141D0D1F8}"/>
              </a:ext>
            </a:extLst>
          </p:cNvPr>
          <p:cNvSpPr/>
          <p:nvPr/>
        </p:nvSpPr>
        <p:spPr>
          <a:xfrm>
            <a:off x="685800" y="3136392"/>
            <a:ext cx="3048000" cy="0"/>
          </a:xfrm>
          <a:prstGeom prst="line">
            <a:avLst/>
          </a:prstGeom>
          <a:noFill/>
          <a:ln w="12700">
            <a:solidFill>
              <a:srgbClr val="E4DFD2"/>
            </a:solidFill>
            <a:prstDash val="solid"/>
          </a:ln>
        </p:spPr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B28F627-B214-F6A8-AAFC-DE260330250C}"/>
              </a:ext>
            </a:extLst>
          </p:cNvPr>
          <p:cNvSpPr/>
          <p:nvPr/>
        </p:nvSpPr>
        <p:spPr>
          <a:xfrm>
            <a:off x="685800" y="3163824"/>
            <a:ext cx="217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 / sprint</a:t>
            </a:r>
            <a:endParaRPr lang="en-US" sz="1100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BD7B74EE-905D-0F8C-66D8-CA9B17F71D37}"/>
              </a:ext>
            </a:extLst>
          </p:cNvPr>
          <p:cNvSpPr/>
          <p:nvPr/>
        </p:nvSpPr>
        <p:spPr>
          <a:xfrm>
            <a:off x="2773680" y="316382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EFC5EFC0-E19E-AA7F-74BA-57747805AA60}"/>
              </a:ext>
            </a:extLst>
          </p:cNvPr>
          <p:cNvSpPr/>
          <p:nvPr/>
        </p:nvSpPr>
        <p:spPr>
          <a:xfrm>
            <a:off x="685800" y="3465576"/>
            <a:ext cx="3048000" cy="0"/>
          </a:xfrm>
          <a:prstGeom prst="line">
            <a:avLst/>
          </a:prstGeom>
          <a:noFill/>
          <a:ln w="12700">
            <a:solidFill>
              <a:srgbClr val="E4DFD2"/>
            </a:solidFill>
            <a:prstDash val="solid"/>
          </a:ln>
        </p:spPr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BBF00337-28C0-7A4B-E5D9-630827751EA9}"/>
              </a:ext>
            </a:extLst>
          </p:cNvPr>
          <p:cNvSpPr/>
          <p:nvPr/>
        </p:nvSpPr>
        <p:spPr>
          <a:xfrm>
            <a:off x="685800" y="3493008"/>
            <a:ext cx="217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person-days</a:t>
            </a:r>
            <a:endParaRPr lang="en-US" sz="1100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EB3D6CD8-EEA8-0754-891E-803EBDD242FC}"/>
              </a:ext>
            </a:extLst>
          </p:cNvPr>
          <p:cNvSpPr/>
          <p:nvPr/>
        </p:nvSpPr>
        <p:spPr>
          <a:xfrm>
            <a:off x="2773680" y="349300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546C1F43-2D28-1CD6-3102-92D0488B863F}"/>
              </a:ext>
            </a:extLst>
          </p:cNvPr>
          <p:cNvSpPr/>
          <p:nvPr/>
        </p:nvSpPr>
        <p:spPr>
          <a:xfrm>
            <a:off x="685800" y="3794760"/>
            <a:ext cx="3048000" cy="0"/>
          </a:xfrm>
          <a:prstGeom prst="line">
            <a:avLst/>
          </a:prstGeom>
          <a:noFill/>
          <a:ln w="12700">
            <a:solidFill>
              <a:srgbClr val="E4DFD2"/>
            </a:solidFill>
            <a:prstDash val="solid"/>
          </a:ln>
        </p:spPr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C48CC705-8429-3A8B-6C5D-438870ECF062}"/>
              </a:ext>
            </a:extLst>
          </p:cNvPr>
          <p:cNvSpPr/>
          <p:nvPr/>
        </p:nvSpPr>
        <p:spPr>
          <a:xfrm>
            <a:off x="685800" y="3822192"/>
            <a:ext cx="217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factor (~75%)</a:t>
            </a:r>
            <a:endParaRPr lang="en-US" sz="11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DFA1B7A0-4475-0B71-9903-6C1C59A62BFC}"/>
              </a:ext>
            </a:extLst>
          </p:cNvPr>
          <p:cNvSpPr/>
          <p:nvPr/>
        </p:nvSpPr>
        <p:spPr>
          <a:xfrm>
            <a:off x="2773680" y="382219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0.75</a:t>
            </a:r>
            <a:endParaRPr lang="en-US" sz="1100" dirty="0"/>
          </a:p>
        </p:txBody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E08C874C-2E95-1C7C-07FF-D7CC18CDFF7F}"/>
              </a:ext>
            </a:extLst>
          </p:cNvPr>
          <p:cNvSpPr/>
          <p:nvPr/>
        </p:nvSpPr>
        <p:spPr>
          <a:xfrm>
            <a:off x="685800" y="4123944"/>
            <a:ext cx="3048000" cy="0"/>
          </a:xfrm>
          <a:prstGeom prst="line">
            <a:avLst/>
          </a:prstGeom>
          <a:noFill/>
          <a:ln w="12700">
            <a:solidFill>
              <a:srgbClr val="E4DFD2"/>
            </a:solidFill>
            <a:prstDash val="solid"/>
          </a:ln>
        </p:spPr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47D1F953-1D1F-6D56-EB5F-710A7449ABA2}"/>
              </a:ext>
            </a:extLst>
          </p:cNvPr>
          <p:cNvSpPr/>
          <p:nvPr/>
        </p:nvSpPr>
        <p:spPr>
          <a:xfrm>
            <a:off x="685800" y="4151376"/>
            <a:ext cx="217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leave</a:t>
            </a:r>
            <a:endParaRPr lang="en-US" sz="1100" dirty="0"/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B8C8CAF2-CA0A-E418-D361-94401EF71A76}"/>
              </a:ext>
            </a:extLst>
          </p:cNvPr>
          <p:cNvSpPr/>
          <p:nvPr/>
        </p:nvSpPr>
        <p:spPr>
          <a:xfrm>
            <a:off x="2773680" y="415137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− 3 days</a:t>
            </a:r>
            <a:endParaRPr lang="en-US" sz="1100" dirty="0"/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88885BE7-85AC-B613-8109-B8A4A8B68349}"/>
              </a:ext>
            </a:extLst>
          </p:cNvPr>
          <p:cNvSpPr/>
          <p:nvPr/>
        </p:nvSpPr>
        <p:spPr>
          <a:xfrm>
            <a:off x="685800" y="4453128"/>
            <a:ext cx="3048000" cy="0"/>
          </a:xfrm>
          <a:prstGeom prst="line">
            <a:avLst/>
          </a:prstGeom>
          <a:noFill/>
          <a:ln w="12700">
            <a:solidFill>
              <a:srgbClr val="E4DFD2"/>
            </a:solidFill>
            <a:prstDash val="solid"/>
          </a:ln>
        </p:spPr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D5F91330-D153-5F36-A77B-8798850B792E}"/>
              </a:ext>
            </a:extLst>
          </p:cNvPr>
          <p:cNvSpPr/>
          <p:nvPr/>
        </p:nvSpPr>
        <p:spPr>
          <a:xfrm>
            <a:off x="685800" y="4480560"/>
            <a:ext cx="217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7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capacity</a:t>
            </a:r>
            <a:endParaRPr lang="en-US" sz="1100" dirty="0"/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D536214D-A8EA-0CF2-8903-F30803E629C1}"/>
              </a:ext>
            </a:extLst>
          </p:cNvPr>
          <p:cNvSpPr/>
          <p:nvPr/>
        </p:nvSpPr>
        <p:spPr>
          <a:xfrm>
            <a:off x="2773680" y="44805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C7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34.5 p-days</a:t>
            </a:r>
            <a:endParaRPr lang="en-US" sz="1100" dirty="0"/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D5533289-9128-119E-757C-4DFF95D58F15}"/>
              </a:ext>
            </a:extLst>
          </p:cNvPr>
          <p:cNvSpPr/>
          <p:nvPr/>
        </p:nvSpPr>
        <p:spPr>
          <a:xfrm>
            <a:off x="685800" y="491947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factor 0.7–0.8 reserves time for review, meetings &amp; support — so commitments stay honest.</a:t>
            </a:r>
            <a:endParaRPr lang="en-US" sz="950" dirty="0"/>
          </a:p>
        </p:txBody>
      </p:sp>
      <p:sp>
        <p:nvSpPr>
          <p:cNvPr id="45" name="Shape 25">
            <a:extLst>
              <a:ext uri="{FF2B5EF4-FFF2-40B4-BE49-F238E27FC236}">
                <a16:creationId xmlns:a16="http://schemas.microsoft.com/office/drawing/2014/main" id="{17367F42-52F7-6713-3F0D-147D740E85AD}"/>
              </a:ext>
            </a:extLst>
          </p:cNvPr>
          <p:cNvSpPr/>
          <p:nvPr/>
        </p:nvSpPr>
        <p:spPr>
          <a:xfrm>
            <a:off x="4328160" y="2194560"/>
            <a:ext cx="350520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46" name="Text 26">
            <a:extLst>
              <a:ext uri="{FF2B5EF4-FFF2-40B4-BE49-F238E27FC236}">
                <a16:creationId xmlns:a16="http://schemas.microsoft.com/office/drawing/2014/main" id="{03A3845B-E1DA-1386-DBE2-667CFE87DE9A}"/>
              </a:ext>
            </a:extLst>
          </p:cNvPr>
          <p:cNvSpPr/>
          <p:nvPr/>
        </p:nvSpPr>
        <p:spPr>
          <a:xfrm>
            <a:off x="4556760" y="2395728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Velocity trend</a:t>
            </a:r>
            <a:endParaRPr lang="en-US" sz="1300" dirty="0"/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A8110CE1-400E-A723-183A-B29B88AC02C9}"/>
              </a:ext>
            </a:extLst>
          </p:cNvPr>
          <p:cNvSpPr/>
          <p:nvPr/>
        </p:nvSpPr>
        <p:spPr>
          <a:xfrm>
            <a:off x="4556760" y="2651760"/>
            <a:ext cx="304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2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 points / sprint</a:t>
            </a:r>
            <a:endParaRPr lang="en-US" sz="850" dirty="0"/>
          </a:p>
        </p:txBody>
      </p:sp>
      <p:graphicFrame>
        <p:nvGraphicFramePr>
          <p:cNvPr id="48" name="Chart 0">
            <a:extLst>
              <a:ext uri="{FF2B5EF4-FFF2-40B4-BE49-F238E27FC236}">
                <a16:creationId xmlns:a16="http://schemas.microsoft.com/office/drawing/2014/main" id="{E2FE9509-1628-B968-E978-FAE4C6C83A5A}"/>
              </a:ext>
            </a:extLst>
          </p:cNvPr>
          <p:cNvGraphicFramePr/>
          <p:nvPr/>
        </p:nvGraphicFramePr>
        <p:xfrm>
          <a:off x="4419600" y="2971800"/>
          <a:ext cx="32766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9" name="Shape 28">
            <a:extLst>
              <a:ext uri="{FF2B5EF4-FFF2-40B4-BE49-F238E27FC236}">
                <a16:creationId xmlns:a16="http://schemas.microsoft.com/office/drawing/2014/main" id="{8C6FD3A9-D37C-4374-2535-BC2317BFB1BC}"/>
              </a:ext>
            </a:extLst>
          </p:cNvPr>
          <p:cNvSpPr/>
          <p:nvPr/>
        </p:nvSpPr>
        <p:spPr>
          <a:xfrm>
            <a:off x="8199120" y="2194560"/>
            <a:ext cx="350520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50" name="Text 29">
            <a:extLst>
              <a:ext uri="{FF2B5EF4-FFF2-40B4-BE49-F238E27FC236}">
                <a16:creationId xmlns:a16="http://schemas.microsoft.com/office/drawing/2014/main" id="{B4E3B3B5-9DAA-A2F0-8B59-1213A8FAA6F4}"/>
              </a:ext>
            </a:extLst>
          </p:cNvPr>
          <p:cNvSpPr/>
          <p:nvPr/>
        </p:nvSpPr>
        <p:spPr>
          <a:xfrm>
            <a:off x="8427720" y="2395728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burndown</a:t>
            </a:r>
            <a:endParaRPr lang="en-US" sz="1300" dirty="0"/>
          </a:p>
        </p:txBody>
      </p:sp>
      <p:sp>
        <p:nvSpPr>
          <p:cNvPr id="51" name="Text 30">
            <a:extLst>
              <a:ext uri="{FF2B5EF4-FFF2-40B4-BE49-F238E27FC236}">
                <a16:creationId xmlns:a16="http://schemas.microsoft.com/office/drawing/2014/main" id="{BA9EDED8-8B78-B207-7B3A-F1DF91BCE340}"/>
              </a:ext>
            </a:extLst>
          </p:cNvPr>
          <p:cNvSpPr/>
          <p:nvPr/>
        </p:nvSpPr>
        <p:spPr>
          <a:xfrm>
            <a:off x="8427720" y="2651760"/>
            <a:ext cx="304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2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 remaining</a:t>
            </a:r>
            <a:endParaRPr lang="en-US" sz="850" dirty="0"/>
          </a:p>
        </p:txBody>
      </p:sp>
      <p:graphicFrame>
        <p:nvGraphicFramePr>
          <p:cNvPr id="52" name="Chart 1">
            <a:extLst>
              <a:ext uri="{FF2B5EF4-FFF2-40B4-BE49-F238E27FC236}">
                <a16:creationId xmlns:a16="http://schemas.microsoft.com/office/drawing/2014/main" id="{019B1625-077F-345D-4974-866FF425C0D8}"/>
              </a:ext>
            </a:extLst>
          </p:cNvPr>
          <p:cNvGraphicFramePr/>
          <p:nvPr/>
        </p:nvGraphicFramePr>
        <p:xfrm>
          <a:off x="8290560" y="2971800"/>
          <a:ext cx="32766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3" name="Shape 31">
            <a:extLst>
              <a:ext uri="{FF2B5EF4-FFF2-40B4-BE49-F238E27FC236}">
                <a16:creationId xmlns:a16="http://schemas.microsoft.com/office/drawing/2014/main" id="{B0D35FD7-D761-6532-764D-7D7254C4059D}"/>
              </a:ext>
            </a:extLst>
          </p:cNvPr>
          <p:cNvSpPr/>
          <p:nvPr/>
        </p:nvSpPr>
        <p:spPr>
          <a:xfrm>
            <a:off x="457200" y="57150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BF1D6"/>
          </a:solidFill>
          <a:ln w="12700">
            <a:solidFill>
              <a:srgbClr val="FBF1D6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54" name="Shape 32">
            <a:extLst>
              <a:ext uri="{FF2B5EF4-FFF2-40B4-BE49-F238E27FC236}">
                <a16:creationId xmlns:a16="http://schemas.microsoft.com/office/drawing/2014/main" id="{EEDCB630-8BB4-D271-0139-1228932FC764}"/>
              </a:ext>
            </a:extLst>
          </p:cNvPr>
          <p:cNvSpPr/>
          <p:nvPr/>
        </p:nvSpPr>
        <p:spPr>
          <a:xfrm>
            <a:off x="457200" y="5861304"/>
            <a:ext cx="82296" cy="457200"/>
          </a:xfrm>
          <a:prstGeom prst="rect">
            <a:avLst/>
          </a:prstGeom>
          <a:solidFill>
            <a:srgbClr val="BC7C0A"/>
          </a:solidFill>
          <a:ln/>
        </p:spPr>
      </p:sp>
      <p:sp>
        <p:nvSpPr>
          <p:cNvPr id="55" name="Text 33">
            <a:extLst>
              <a:ext uri="{FF2B5EF4-FFF2-40B4-BE49-F238E27FC236}">
                <a16:creationId xmlns:a16="http://schemas.microsoft.com/office/drawing/2014/main" id="{DB52CB90-9D99-C404-53A8-3EBF94546D93}"/>
              </a:ext>
            </a:extLst>
          </p:cNvPr>
          <p:cNvSpPr/>
          <p:nvPr/>
        </p:nvSpPr>
        <p:spPr>
          <a:xfrm>
            <a:off x="777240" y="5715000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BC7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→ commitment:  </a:t>
            </a: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net capacity into a story-point target using recent velocity. Last sprint (S14): ~42 committed → 40 completed → 95% predictable.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1F03F1AB-FDB6-280A-7B51-7089FCE6D32C}"/>
              </a:ext>
            </a:extLst>
          </p:cNvPr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C7C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WE WORK &amp; MEASURE</a:t>
            </a:r>
            <a:endParaRPr lang="en-US" sz="11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9788AC1C-A9BD-716E-D060-E76AA58F4ADC}"/>
              </a:ext>
            </a:extLst>
          </p:cNvPr>
          <p:cNvSpPr/>
          <p:nvPr/>
        </p:nvSpPr>
        <p:spPr>
          <a:xfrm>
            <a:off x="521208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32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Roles, quality gates &amp; metrics</a:t>
            </a:r>
            <a:endParaRPr lang="en-US" sz="2900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0FB1E21C-765C-11C2-33B6-B31D37DF0D2A}"/>
              </a:ext>
            </a:extLst>
          </p:cNvPr>
          <p:cNvSpPr/>
          <p:nvPr/>
        </p:nvSpPr>
        <p:spPr>
          <a:xfrm>
            <a:off x="457200" y="1371600"/>
            <a:ext cx="3505200" cy="4983480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0C3CFF00-FAAF-4475-166C-944EBC0EE304}"/>
              </a:ext>
            </a:extLst>
          </p:cNvPr>
          <p:cNvSpPr/>
          <p:nvPr/>
        </p:nvSpPr>
        <p:spPr>
          <a:xfrm>
            <a:off x="658368" y="15544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6F4FD0"/>
          </a:solidFill>
          <a:ln/>
        </p:spPr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2DB3AC3A-6C3E-19DC-595D-078FA27597E2}"/>
              </a:ext>
            </a:extLst>
          </p:cNvPr>
          <p:cNvSpPr/>
          <p:nvPr/>
        </p:nvSpPr>
        <p:spPr>
          <a:xfrm>
            <a:off x="658368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3FBB65BE-886C-5D19-BFBD-EC643A963AC8}"/>
              </a:ext>
            </a:extLst>
          </p:cNvPr>
          <p:cNvSpPr/>
          <p:nvPr/>
        </p:nvSpPr>
        <p:spPr>
          <a:xfrm>
            <a:off x="1024128" y="1554480"/>
            <a:ext cx="272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 &amp; OWNERSHIP</a:t>
            </a:r>
            <a:endParaRPr lang="en-US" sz="100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CADE8A93-4C54-CAA2-0EC3-64F69E4A2D3F}"/>
              </a:ext>
            </a:extLst>
          </p:cNvPr>
          <p:cNvSpPr/>
          <p:nvPr/>
        </p:nvSpPr>
        <p:spPr>
          <a:xfrm>
            <a:off x="676656" y="2020824"/>
            <a:ext cx="109728" cy="109728"/>
          </a:xfrm>
          <a:prstGeom prst="ellipse">
            <a:avLst/>
          </a:prstGeom>
          <a:solidFill>
            <a:srgbClr val="6F4FD0"/>
          </a:solidFill>
          <a:ln/>
        </p:spPr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A41922B8-C6BD-0CB3-47DC-0868A3609974}"/>
              </a:ext>
            </a:extLst>
          </p:cNvPr>
          <p:cNvSpPr/>
          <p:nvPr/>
        </p:nvSpPr>
        <p:spPr>
          <a:xfrm>
            <a:off x="877824" y="1975104"/>
            <a:ext cx="286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1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0BC6748C-ACA0-D3C2-4D96-A34C7E904450}"/>
              </a:ext>
            </a:extLst>
          </p:cNvPr>
          <p:cNvSpPr/>
          <p:nvPr/>
        </p:nvSpPr>
        <p:spPr>
          <a:xfrm>
            <a:off x="877824" y="2203704"/>
            <a:ext cx="286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'what' &amp; priority; backlog &amp; OKR alignment</a:t>
            </a:r>
            <a:endParaRPr lang="en-US" sz="95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A9C45200-4A46-D41A-3BE0-89C8FD2E8C0D}"/>
              </a:ext>
            </a:extLst>
          </p:cNvPr>
          <p:cNvSpPr/>
          <p:nvPr/>
        </p:nvSpPr>
        <p:spPr>
          <a:xfrm>
            <a:off x="676656" y="2697480"/>
            <a:ext cx="109728" cy="109728"/>
          </a:xfrm>
          <a:prstGeom prst="ellipse">
            <a:avLst/>
          </a:prstGeom>
          <a:solidFill>
            <a:srgbClr val="D8503A"/>
          </a:solidFill>
          <a:ln/>
        </p:spPr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72F0845-DB87-0DD8-F97F-2AC0B5FDE13A}"/>
              </a:ext>
            </a:extLst>
          </p:cNvPr>
          <p:cNvSpPr/>
          <p:nvPr/>
        </p:nvSpPr>
        <p:spPr>
          <a:xfrm>
            <a:off x="877824" y="2651760"/>
            <a:ext cx="286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1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CCD0AABF-79E6-B8C0-77B8-D387F552C5CB}"/>
              </a:ext>
            </a:extLst>
          </p:cNvPr>
          <p:cNvSpPr/>
          <p:nvPr/>
        </p:nvSpPr>
        <p:spPr>
          <a:xfrm>
            <a:off x="877824" y="2880360"/>
            <a:ext cx="286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flow; removes blockers</a:t>
            </a:r>
            <a:endParaRPr lang="en-US" sz="95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8BC899B8-8F35-6B86-DFEC-755A356911E3}"/>
              </a:ext>
            </a:extLst>
          </p:cNvPr>
          <p:cNvSpPr/>
          <p:nvPr/>
        </p:nvSpPr>
        <p:spPr>
          <a:xfrm>
            <a:off x="676656" y="3374136"/>
            <a:ext cx="109728" cy="109728"/>
          </a:xfrm>
          <a:prstGeom prst="ellipse">
            <a:avLst/>
          </a:prstGeom>
          <a:solidFill>
            <a:srgbClr val="BC7C0A"/>
          </a:solidFill>
          <a:ln/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9083C546-47A7-6C70-0EE8-02D1A2669900}"/>
              </a:ext>
            </a:extLst>
          </p:cNvPr>
          <p:cNvSpPr/>
          <p:nvPr/>
        </p:nvSpPr>
        <p:spPr>
          <a:xfrm>
            <a:off x="877824" y="3328416"/>
            <a:ext cx="286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100" dirty="0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6418D0CA-EF3A-6906-B5A5-B5B7B0009434}"/>
              </a:ext>
            </a:extLst>
          </p:cNvPr>
          <p:cNvSpPr/>
          <p:nvPr/>
        </p:nvSpPr>
        <p:spPr>
          <a:xfrm>
            <a:off x="877824" y="3557016"/>
            <a:ext cx="286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roadmap &amp; technical risk</a:t>
            </a:r>
            <a:endParaRPr lang="en-US" sz="950" dirty="0"/>
          </a:p>
        </p:txBody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8047B02F-AA09-4A00-08E2-97885C6D7D2B}"/>
              </a:ext>
            </a:extLst>
          </p:cNvPr>
          <p:cNvSpPr/>
          <p:nvPr/>
        </p:nvSpPr>
        <p:spPr>
          <a:xfrm>
            <a:off x="676656" y="4050792"/>
            <a:ext cx="109728" cy="109728"/>
          </a:xfrm>
          <a:prstGeom prst="ellipse">
            <a:avLst/>
          </a:prstGeom>
          <a:solidFill>
            <a:srgbClr val="2F7FE0"/>
          </a:solidFill>
          <a:ln/>
        </p:spPr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83DB2702-46A4-95A8-51EB-F9C6D81CA1B2}"/>
              </a:ext>
            </a:extLst>
          </p:cNvPr>
          <p:cNvSpPr/>
          <p:nvPr/>
        </p:nvSpPr>
        <p:spPr>
          <a:xfrm>
            <a:off x="877824" y="4005072"/>
            <a:ext cx="286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100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EDBE28E4-4D01-E825-5878-1DFB778D0168}"/>
              </a:ext>
            </a:extLst>
          </p:cNvPr>
          <p:cNvSpPr/>
          <p:nvPr/>
        </p:nvSpPr>
        <p:spPr>
          <a:xfrm>
            <a:off x="877824" y="4233672"/>
            <a:ext cx="286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'how' — build &amp; self-organise</a:t>
            </a:r>
            <a:endParaRPr lang="en-US" sz="950" dirty="0"/>
          </a:p>
        </p:txBody>
      </p:sp>
      <p:sp>
        <p:nvSpPr>
          <p:cNvPr id="34" name="Shape 18">
            <a:extLst>
              <a:ext uri="{FF2B5EF4-FFF2-40B4-BE49-F238E27FC236}">
                <a16:creationId xmlns:a16="http://schemas.microsoft.com/office/drawing/2014/main" id="{5250F439-A12C-92B1-4785-4219BA73ABBE}"/>
              </a:ext>
            </a:extLst>
          </p:cNvPr>
          <p:cNvSpPr/>
          <p:nvPr/>
        </p:nvSpPr>
        <p:spPr>
          <a:xfrm>
            <a:off x="676656" y="4727448"/>
            <a:ext cx="109728" cy="109728"/>
          </a:xfrm>
          <a:prstGeom prst="ellipse">
            <a:avLst/>
          </a:prstGeom>
          <a:solidFill>
            <a:srgbClr val="0C8076"/>
          </a:solidFill>
          <a:ln/>
        </p:spPr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3346C918-40A4-EC81-1121-A6B523DB7CC2}"/>
              </a:ext>
            </a:extLst>
          </p:cNvPr>
          <p:cNvSpPr/>
          <p:nvPr/>
        </p:nvSpPr>
        <p:spPr>
          <a:xfrm>
            <a:off x="877824" y="4681728"/>
            <a:ext cx="286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Test</a:t>
            </a:r>
            <a:endParaRPr lang="en-US" sz="11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4D5D399B-59B1-6A62-BEEE-290DE00EA7C4}"/>
              </a:ext>
            </a:extLst>
          </p:cNvPr>
          <p:cNvSpPr/>
          <p:nvPr/>
        </p:nvSpPr>
        <p:spPr>
          <a:xfrm>
            <a:off x="877824" y="4910328"/>
            <a:ext cx="286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gates: Dev Complete → Done</a:t>
            </a:r>
            <a:endParaRPr lang="en-US" sz="950" dirty="0"/>
          </a:p>
        </p:txBody>
      </p:sp>
      <p:sp>
        <p:nvSpPr>
          <p:cNvPr id="37" name="Shape 21">
            <a:extLst>
              <a:ext uri="{FF2B5EF4-FFF2-40B4-BE49-F238E27FC236}">
                <a16:creationId xmlns:a16="http://schemas.microsoft.com/office/drawing/2014/main" id="{BA42A364-685C-F0F5-60AD-29B575ACA9C4}"/>
              </a:ext>
            </a:extLst>
          </p:cNvPr>
          <p:cNvSpPr/>
          <p:nvPr/>
        </p:nvSpPr>
        <p:spPr>
          <a:xfrm>
            <a:off x="676656" y="5404104"/>
            <a:ext cx="109728" cy="109728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38" name="Text 22">
            <a:extLst>
              <a:ext uri="{FF2B5EF4-FFF2-40B4-BE49-F238E27FC236}">
                <a16:creationId xmlns:a16="http://schemas.microsoft.com/office/drawing/2014/main" id="{2F990C70-C143-A76E-4DEB-C79562820BFB}"/>
              </a:ext>
            </a:extLst>
          </p:cNvPr>
          <p:cNvSpPr/>
          <p:nvPr/>
        </p:nvSpPr>
        <p:spPr>
          <a:xfrm>
            <a:off x="877824" y="5358384"/>
            <a:ext cx="286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100" dirty="0"/>
          </a:p>
        </p:txBody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27D08B2F-3411-7A69-081B-4E5EE60365A3}"/>
              </a:ext>
            </a:extLst>
          </p:cNvPr>
          <p:cNvSpPr/>
          <p:nvPr/>
        </p:nvSpPr>
        <p:spPr>
          <a:xfrm>
            <a:off x="877824" y="5586984"/>
            <a:ext cx="286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OKRs, org-level unblocking</a:t>
            </a:r>
            <a:endParaRPr lang="en-US" sz="950" dirty="0"/>
          </a:p>
        </p:txBody>
      </p:sp>
      <p:sp>
        <p:nvSpPr>
          <p:cNvPr id="40" name="Shape 24">
            <a:extLst>
              <a:ext uri="{FF2B5EF4-FFF2-40B4-BE49-F238E27FC236}">
                <a16:creationId xmlns:a16="http://schemas.microsoft.com/office/drawing/2014/main" id="{39ED2B3C-7ED7-FD53-93D2-B8601E92AA18}"/>
              </a:ext>
            </a:extLst>
          </p:cNvPr>
          <p:cNvSpPr/>
          <p:nvPr/>
        </p:nvSpPr>
        <p:spPr>
          <a:xfrm>
            <a:off x="4328160" y="1371600"/>
            <a:ext cx="3505200" cy="4983480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41" name="Shape 25">
            <a:extLst>
              <a:ext uri="{FF2B5EF4-FFF2-40B4-BE49-F238E27FC236}">
                <a16:creationId xmlns:a16="http://schemas.microsoft.com/office/drawing/2014/main" id="{6E2BA0A8-29CD-7FBE-D9EA-6380884099CA}"/>
              </a:ext>
            </a:extLst>
          </p:cNvPr>
          <p:cNvSpPr/>
          <p:nvPr/>
        </p:nvSpPr>
        <p:spPr>
          <a:xfrm>
            <a:off x="4529328" y="15544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F9D6B"/>
          </a:solidFill>
          <a:ln/>
        </p:spPr>
      </p:sp>
      <p:sp>
        <p:nvSpPr>
          <p:cNvPr id="42" name="Text 26">
            <a:extLst>
              <a:ext uri="{FF2B5EF4-FFF2-40B4-BE49-F238E27FC236}">
                <a16:creationId xmlns:a16="http://schemas.microsoft.com/office/drawing/2014/main" id="{798475A2-5353-BC96-010E-7ED0463EB267}"/>
              </a:ext>
            </a:extLst>
          </p:cNvPr>
          <p:cNvSpPr/>
          <p:nvPr/>
        </p:nvSpPr>
        <p:spPr>
          <a:xfrm>
            <a:off x="4529328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CAAB1000-34A4-E3E7-BBE1-4554041138BF}"/>
              </a:ext>
            </a:extLst>
          </p:cNvPr>
          <p:cNvSpPr/>
          <p:nvPr/>
        </p:nvSpPr>
        <p:spPr>
          <a:xfrm>
            <a:off x="4895088" y="1554480"/>
            <a:ext cx="272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 GATES</a:t>
            </a:r>
            <a:endParaRPr lang="en-US" sz="1000" dirty="0"/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7F5B0CA5-A8A6-3E74-9BAB-71578F38DEA7}"/>
              </a:ext>
            </a:extLst>
          </p:cNvPr>
          <p:cNvSpPr/>
          <p:nvPr/>
        </p:nvSpPr>
        <p:spPr>
          <a:xfrm>
            <a:off x="4547616" y="1975104"/>
            <a:ext cx="304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C7C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 of Ready</a:t>
            </a:r>
            <a:endParaRPr lang="en-US" sz="1150" dirty="0"/>
          </a:p>
        </p:txBody>
      </p:sp>
      <p:sp>
        <p:nvSpPr>
          <p:cNvPr id="45" name="Text 29">
            <a:extLst>
              <a:ext uri="{FF2B5EF4-FFF2-40B4-BE49-F238E27FC236}">
                <a16:creationId xmlns:a16="http://schemas.microsoft.com/office/drawing/2014/main" id="{5F77EF8C-99AD-3C94-1C1B-FA85784CC491}"/>
              </a:ext>
            </a:extLst>
          </p:cNvPr>
          <p:cNvSpPr/>
          <p:nvPr/>
        </p:nvSpPr>
        <p:spPr>
          <a:xfrm>
            <a:off x="4657344" y="2267712"/>
            <a:ext cx="29382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testable acceptance criteria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in story points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identified &amp; resolvable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/ API contracts attached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within one sprint</a:t>
            </a:r>
            <a:endParaRPr lang="en-US" sz="950" dirty="0"/>
          </a:p>
        </p:txBody>
      </p:sp>
      <p:sp>
        <p:nvSpPr>
          <p:cNvPr id="46" name="Text 30">
            <a:extLst>
              <a:ext uri="{FF2B5EF4-FFF2-40B4-BE49-F238E27FC236}">
                <a16:creationId xmlns:a16="http://schemas.microsoft.com/office/drawing/2014/main" id="{4E30F1E5-6974-24FF-6383-7B3D02D59AA9}"/>
              </a:ext>
            </a:extLst>
          </p:cNvPr>
          <p:cNvSpPr/>
          <p:nvPr/>
        </p:nvSpPr>
        <p:spPr>
          <a:xfrm>
            <a:off x="4547616" y="4069080"/>
            <a:ext cx="304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9D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 of Done</a:t>
            </a:r>
            <a:endParaRPr lang="en-US" sz="1150" dirty="0"/>
          </a:p>
        </p:txBody>
      </p:sp>
      <p:sp>
        <p:nvSpPr>
          <p:cNvPr id="47" name="Text 31">
            <a:extLst>
              <a:ext uri="{FF2B5EF4-FFF2-40B4-BE49-F238E27FC236}">
                <a16:creationId xmlns:a16="http://schemas.microsoft.com/office/drawing/2014/main" id="{2B6A561F-71A2-5136-6612-318E752CCA26}"/>
              </a:ext>
            </a:extLst>
          </p:cNvPr>
          <p:cNvSpPr/>
          <p:nvPr/>
        </p:nvSpPr>
        <p:spPr>
          <a:xfrm>
            <a:off x="4657344" y="4361688"/>
            <a:ext cx="29382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reviewed &amp; merged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 tests pass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verified vs. criteria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/ changelog updated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staging, demo-ready</a:t>
            </a:r>
            <a:endParaRPr lang="en-US" sz="950" dirty="0"/>
          </a:p>
        </p:txBody>
      </p:sp>
      <p:sp>
        <p:nvSpPr>
          <p:cNvPr id="48" name="Shape 32">
            <a:extLst>
              <a:ext uri="{FF2B5EF4-FFF2-40B4-BE49-F238E27FC236}">
                <a16:creationId xmlns:a16="http://schemas.microsoft.com/office/drawing/2014/main" id="{7D984E80-4E86-C62D-B0C7-A4796C2949AC}"/>
              </a:ext>
            </a:extLst>
          </p:cNvPr>
          <p:cNvSpPr/>
          <p:nvPr/>
        </p:nvSpPr>
        <p:spPr>
          <a:xfrm>
            <a:off x="8199120" y="1371600"/>
            <a:ext cx="3505200" cy="4983480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  <a:effectLst>
            <a:outerShdw blurRad="101600" dist="25400" dir="8100000" algn="bl" rotWithShape="0">
              <a:srgbClr val="6B6450">
                <a:alpha val="16000"/>
              </a:srgbClr>
            </a:outerShdw>
          </a:effectLst>
        </p:spPr>
      </p:sp>
      <p:sp>
        <p:nvSpPr>
          <p:cNvPr id="49" name="Shape 33">
            <a:extLst>
              <a:ext uri="{FF2B5EF4-FFF2-40B4-BE49-F238E27FC236}">
                <a16:creationId xmlns:a16="http://schemas.microsoft.com/office/drawing/2014/main" id="{CEA5117F-27EC-4938-E2FC-A53E71672F2E}"/>
              </a:ext>
            </a:extLst>
          </p:cNvPr>
          <p:cNvSpPr/>
          <p:nvPr/>
        </p:nvSpPr>
        <p:spPr>
          <a:xfrm>
            <a:off x="8400288" y="15544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C8076"/>
          </a:solidFill>
          <a:ln/>
        </p:spPr>
      </p:sp>
      <p:sp>
        <p:nvSpPr>
          <p:cNvPr id="50" name="Text 34">
            <a:extLst>
              <a:ext uri="{FF2B5EF4-FFF2-40B4-BE49-F238E27FC236}">
                <a16:creationId xmlns:a16="http://schemas.microsoft.com/office/drawing/2014/main" id="{AC664EBF-580E-4F0E-427E-D047E8B656A5}"/>
              </a:ext>
            </a:extLst>
          </p:cNvPr>
          <p:cNvSpPr/>
          <p:nvPr/>
        </p:nvSpPr>
        <p:spPr>
          <a:xfrm>
            <a:off x="8400288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51" name="Text 35">
            <a:extLst>
              <a:ext uri="{FF2B5EF4-FFF2-40B4-BE49-F238E27FC236}">
                <a16:creationId xmlns:a16="http://schemas.microsoft.com/office/drawing/2014/main" id="{10E6043D-AFE1-BF21-706B-84F64C1BDB92}"/>
              </a:ext>
            </a:extLst>
          </p:cNvPr>
          <p:cNvSpPr/>
          <p:nvPr/>
        </p:nvSpPr>
        <p:spPr>
          <a:xfrm>
            <a:off x="8766048" y="1554480"/>
            <a:ext cx="272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 WE WATCH</a:t>
            </a:r>
            <a:endParaRPr lang="en-US" sz="1000" dirty="0"/>
          </a:p>
        </p:txBody>
      </p:sp>
      <p:sp>
        <p:nvSpPr>
          <p:cNvPr id="52" name="Shape 36">
            <a:extLst>
              <a:ext uri="{FF2B5EF4-FFF2-40B4-BE49-F238E27FC236}">
                <a16:creationId xmlns:a16="http://schemas.microsoft.com/office/drawing/2014/main" id="{CEB706BE-8FD4-68C6-D773-45B219F10196}"/>
              </a:ext>
            </a:extLst>
          </p:cNvPr>
          <p:cNvSpPr/>
          <p:nvPr/>
        </p:nvSpPr>
        <p:spPr>
          <a:xfrm>
            <a:off x="8418576" y="2020824"/>
            <a:ext cx="109728" cy="109728"/>
          </a:xfrm>
          <a:prstGeom prst="ellipse">
            <a:avLst/>
          </a:prstGeom>
          <a:solidFill>
            <a:srgbClr val="0C8076"/>
          </a:solidFill>
          <a:ln/>
        </p:spPr>
      </p:sp>
      <p:sp>
        <p:nvSpPr>
          <p:cNvPr id="53" name="Text 37">
            <a:extLst>
              <a:ext uri="{FF2B5EF4-FFF2-40B4-BE49-F238E27FC236}">
                <a16:creationId xmlns:a16="http://schemas.microsoft.com/office/drawing/2014/main" id="{99E9CCCF-1169-61C6-C3CA-2608B67E6784}"/>
              </a:ext>
            </a:extLst>
          </p:cNvPr>
          <p:cNvSpPr/>
          <p:nvPr/>
        </p:nvSpPr>
        <p:spPr>
          <a:xfrm>
            <a:off x="8619744" y="1975104"/>
            <a:ext cx="286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stability</a:t>
            </a:r>
            <a:endParaRPr lang="en-US" sz="1100" dirty="0"/>
          </a:p>
        </p:txBody>
      </p:sp>
      <p:sp>
        <p:nvSpPr>
          <p:cNvPr id="54" name="Text 38">
            <a:extLst>
              <a:ext uri="{FF2B5EF4-FFF2-40B4-BE49-F238E27FC236}">
                <a16:creationId xmlns:a16="http://schemas.microsoft.com/office/drawing/2014/main" id="{FE58BFBC-14E6-E3B1-FFE4-D4C5FA29F433}"/>
              </a:ext>
            </a:extLst>
          </p:cNvPr>
          <p:cNvSpPr/>
          <p:nvPr/>
        </p:nvSpPr>
        <p:spPr>
          <a:xfrm>
            <a:off x="8619744" y="2203704"/>
            <a:ext cx="286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variance, not heroics</a:t>
            </a:r>
            <a:endParaRPr lang="en-US" sz="950" dirty="0"/>
          </a:p>
        </p:txBody>
      </p:sp>
      <p:sp>
        <p:nvSpPr>
          <p:cNvPr id="55" name="Shape 39">
            <a:extLst>
              <a:ext uri="{FF2B5EF4-FFF2-40B4-BE49-F238E27FC236}">
                <a16:creationId xmlns:a16="http://schemas.microsoft.com/office/drawing/2014/main" id="{1CDA8756-70CA-8C94-5014-83E7D77CA1DD}"/>
              </a:ext>
            </a:extLst>
          </p:cNvPr>
          <p:cNvSpPr/>
          <p:nvPr/>
        </p:nvSpPr>
        <p:spPr>
          <a:xfrm>
            <a:off x="8418576" y="2697480"/>
            <a:ext cx="109728" cy="109728"/>
          </a:xfrm>
          <a:prstGeom prst="ellipse">
            <a:avLst/>
          </a:prstGeom>
          <a:solidFill>
            <a:srgbClr val="BC7C0A"/>
          </a:solidFill>
          <a:ln/>
        </p:spPr>
      </p:sp>
      <p:sp>
        <p:nvSpPr>
          <p:cNvPr id="56" name="Text 40">
            <a:extLst>
              <a:ext uri="{FF2B5EF4-FFF2-40B4-BE49-F238E27FC236}">
                <a16:creationId xmlns:a16="http://schemas.microsoft.com/office/drawing/2014/main" id="{68108EAC-D80F-0B7B-A140-408C1FB214A5}"/>
              </a:ext>
            </a:extLst>
          </p:cNvPr>
          <p:cNvSpPr/>
          <p:nvPr/>
        </p:nvSpPr>
        <p:spPr>
          <a:xfrm>
            <a:off x="8619744" y="2651760"/>
            <a:ext cx="286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predictability</a:t>
            </a:r>
            <a:endParaRPr lang="en-US" sz="1100" dirty="0"/>
          </a:p>
        </p:txBody>
      </p:sp>
      <p:sp>
        <p:nvSpPr>
          <p:cNvPr id="57" name="Text 41">
            <a:extLst>
              <a:ext uri="{FF2B5EF4-FFF2-40B4-BE49-F238E27FC236}">
                <a16:creationId xmlns:a16="http://schemas.microsoft.com/office/drawing/2014/main" id="{2A0CE64B-68B6-AF8D-2016-5C2641D4FF26}"/>
              </a:ext>
            </a:extLst>
          </p:cNvPr>
          <p:cNvSpPr/>
          <p:nvPr/>
        </p:nvSpPr>
        <p:spPr>
          <a:xfrm>
            <a:off x="8619744" y="2880360"/>
            <a:ext cx="286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80–90% of commitment delivered</a:t>
            </a:r>
            <a:endParaRPr lang="en-US" sz="950" dirty="0"/>
          </a:p>
        </p:txBody>
      </p:sp>
      <p:sp>
        <p:nvSpPr>
          <p:cNvPr id="58" name="Shape 42">
            <a:extLst>
              <a:ext uri="{FF2B5EF4-FFF2-40B4-BE49-F238E27FC236}">
                <a16:creationId xmlns:a16="http://schemas.microsoft.com/office/drawing/2014/main" id="{E98FD3A0-98C7-640B-243B-0BC074D449B6}"/>
              </a:ext>
            </a:extLst>
          </p:cNvPr>
          <p:cNvSpPr/>
          <p:nvPr/>
        </p:nvSpPr>
        <p:spPr>
          <a:xfrm>
            <a:off x="8418576" y="3374136"/>
            <a:ext cx="109728" cy="109728"/>
          </a:xfrm>
          <a:prstGeom prst="ellipse">
            <a:avLst/>
          </a:prstGeom>
          <a:solidFill>
            <a:srgbClr val="2F7FE0"/>
          </a:solidFill>
          <a:ln/>
        </p:spPr>
      </p:sp>
      <p:sp>
        <p:nvSpPr>
          <p:cNvPr id="59" name="Text 43">
            <a:extLst>
              <a:ext uri="{FF2B5EF4-FFF2-40B4-BE49-F238E27FC236}">
                <a16:creationId xmlns:a16="http://schemas.microsoft.com/office/drawing/2014/main" id="{A8A123B9-6251-4F6F-3E67-BCDBEBE48259}"/>
              </a:ext>
            </a:extLst>
          </p:cNvPr>
          <p:cNvSpPr/>
          <p:nvPr/>
        </p:nvSpPr>
        <p:spPr>
          <a:xfrm>
            <a:off x="8619744" y="3328416"/>
            <a:ext cx="286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</a:t>
            </a:r>
            <a:endParaRPr lang="en-US" sz="1100" dirty="0"/>
          </a:p>
        </p:txBody>
      </p:sp>
      <p:sp>
        <p:nvSpPr>
          <p:cNvPr id="60" name="Text 44">
            <a:extLst>
              <a:ext uri="{FF2B5EF4-FFF2-40B4-BE49-F238E27FC236}">
                <a16:creationId xmlns:a16="http://schemas.microsoft.com/office/drawing/2014/main" id="{4CA48CEA-1967-0E85-3278-81819354FC42}"/>
              </a:ext>
            </a:extLst>
          </p:cNvPr>
          <p:cNvSpPr/>
          <p:nvPr/>
        </p:nvSpPr>
        <p:spPr>
          <a:xfrm>
            <a:off x="8619744" y="3557016"/>
            <a:ext cx="286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→ Done (shorter = better)</a:t>
            </a:r>
            <a:endParaRPr lang="en-US" sz="950" dirty="0"/>
          </a:p>
        </p:txBody>
      </p:sp>
      <p:sp>
        <p:nvSpPr>
          <p:cNvPr id="61" name="Shape 45">
            <a:extLst>
              <a:ext uri="{FF2B5EF4-FFF2-40B4-BE49-F238E27FC236}">
                <a16:creationId xmlns:a16="http://schemas.microsoft.com/office/drawing/2014/main" id="{C4BEC26F-90AF-081F-1C17-C1AB3EAC1E6F}"/>
              </a:ext>
            </a:extLst>
          </p:cNvPr>
          <p:cNvSpPr/>
          <p:nvPr/>
        </p:nvSpPr>
        <p:spPr>
          <a:xfrm>
            <a:off x="8418576" y="4050792"/>
            <a:ext cx="109728" cy="109728"/>
          </a:xfrm>
          <a:prstGeom prst="ellipse">
            <a:avLst/>
          </a:prstGeom>
          <a:solidFill>
            <a:srgbClr val="D8503A"/>
          </a:solidFill>
          <a:ln/>
        </p:spPr>
      </p:sp>
      <p:sp>
        <p:nvSpPr>
          <p:cNvPr id="62" name="Text 46">
            <a:extLst>
              <a:ext uri="{FF2B5EF4-FFF2-40B4-BE49-F238E27FC236}">
                <a16:creationId xmlns:a16="http://schemas.microsoft.com/office/drawing/2014/main" id="{628F6357-1C32-D303-6A64-0DF7CB278EEC}"/>
              </a:ext>
            </a:extLst>
          </p:cNvPr>
          <p:cNvSpPr/>
          <p:nvPr/>
        </p:nvSpPr>
        <p:spPr>
          <a:xfrm>
            <a:off x="8619744" y="4005072"/>
            <a:ext cx="286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Spillover rate</a:t>
            </a:r>
            <a:endParaRPr lang="en-US" sz="1100" dirty="0"/>
          </a:p>
        </p:txBody>
      </p:sp>
      <p:sp>
        <p:nvSpPr>
          <p:cNvPr id="63" name="Text 47">
            <a:extLst>
              <a:ext uri="{FF2B5EF4-FFF2-40B4-BE49-F238E27FC236}">
                <a16:creationId xmlns:a16="http://schemas.microsoft.com/office/drawing/2014/main" id="{044FEFED-92AF-A603-90DC-FD3AD05889E3}"/>
              </a:ext>
            </a:extLst>
          </p:cNvPr>
          <p:cNvSpPr/>
          <p:nvPr/>
        </p:nvSpPr>
        <p:spPr>
          <a:xfrm>
            <a:off x="8619744" y="4233672"/>
            <a:ext cx="286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work trending down</a:t>
            </a:r>
            <a:endParaRPr lang="en-US" sz="950" dirty="0"/>
          </a:p>
        </p:txBody>
      </p:sp>
      <p:sp>
        <p:nvSpPr>
          <p:cNvPr id="64" name="Shape 48">
            <a:extLst>
              <a:ext uri="{FF2B5EF4-FFF2-40B4-BE49-F238E27FC236}">
                <a16:creationId xmlns:a16="http://schemas.microsoft.com/office/drawing/2014/main" id="{CAD65196-8B26-96A7-EB18-C3D4013B5466}"/>
              </a:ext>
            </a:extLst>
          </p:cNvPr>
          <p:cNvSpPr/>
          <p:nvPr/>
        </p:nvSpPr>
        <p:spPr>
          <a:xfrm>
            <a:off x="8418576" y="4727448"/>
            <a:ext cx="109728" cy="109728"/>
          </a:xfrm>
          <a:prstGeom prst="ellipse">
            <a:avLst/>
          </a:prstGeom>
          <a:solidFill>
            <a:srgbClr val="6F4FD0"/>
          </a:solidFill>
          <a:ln/>
        </p:spPr>
      </p:sp>
      <p:sp>
        <p:nvSpPr>
          <p:cNvPr id="65" name="Text 49">
            <a:extLst>
              <a:ext uri="{FF2B5EF4-FFF2-40B4-BE49-F238E27FC236}">
                <a16:creationId xmlns:a16="http://schemas.microsoft.com/office/drawing/2014/main" id="{97BED28A-F40D-087C-7730-BB25B9B3BC97}"/>
              </a:ext>
            </a:extLst>
          </p:cNvPr>
          <p:cNvSpPr/>
          <p:nvPr/>
        </p:nvSpPr>
        <p:spPr>
          <a:xfrm>
            <a:off x="8619744" y="4681728"/>
            <a:ext cx="286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Escaped defects</a:t>
            </a:r>
            <a:endParaRPr lang="en-US" sz="1100" dirty="0"/>
          </a:p>
        </p:txBody>
      </p:sp>
      <p:sp>
        <p:nvSpPr>
          <p:cNvPr id="66" name="Text 50">
            <a:extLst>
              <a:ext uri="{FF2B5EF4-FFF2-40B4-BE49-F238E27FC236}">
                <a16:creationId xmlns:a16="http://schemas.microsoft.com/office/drawing/2014/main" id="{8119B5CA-52E7-4E77-F5F3-2391175D8596}"/>
              </a:ext>
            </a:extLst>
          </p:cNvPr>
          <p:cNvSpPr/>
          <p:nvPr/>
        </p:nvSpPr>
        <p:spPr>
          <a:xfrm>
            <a:off x="8619744" y="4910328"/>
            <a:ext cx="286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after Done</a:t>
            </a:r>
            <a:endParaRPr lang="en-US" sz="950" dirty="0"/>
          </a:p>
        </p:txBody>
      </p:sp>
      <p:sp>
        <p:nvSpPr>
          <p:cNvPr id="67" name="Shape 51">
            <a:extLst>
              <a:ext uri="{FF2B5EF4-FFF2-40B4-BE49-F238E27FC236}">
                <a16:creationId xmlns:a16="http://schemas.microsoft.com/office/drawing/2014/main" id="{E8C99C9C-28CC-54A1-7FF7-51B40300B53E}"/>
              </a:ext>
            </a:extLst>
          </p:cNvPr>
          <p:cNvSpPr/>
          <p:nvPr/>
        </p:nvSpPr>
        <p:spPr>
          <a:xfrm>
            <a:off x="8418576" y="5404104"/>
            <a:ext cx="109728" cy="109728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68" name="Text 52">
            <a:extLst>
              <a:ext uri="{FF2B5EF4-FFF2-40B4-BE49-F238E27FC236}">
                <a16:creationId xmlns:a16="http://schemas.microsoft.com/office/drawing/2014/main" id="{42EC5CFA-C818-045D-3A34-D0C22DF1ECE9}"/>
              </a:ext>
            </a:extLst>
          </p:cNvPr>
          <p:cNvSpPr/>
          <p:nvPr/>
        </p:nvSpPr>
        <p:spPr>
          <a:xfrm>
            <a:off x="8619744" y="5358384"/>
            <a:ext cx="286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progress</a:t>
            </a:r>
            <a:endParaRPr lang="en-US" sz="1100" dirty="0"/>
          </a:p>
        </p:txBody>
      </p:sp>
      <p:sp>
        <p:nvSpPr>
          <p:cNvPr id="69" name="Text 53">
            <a:extLst>
              <a:ext uri="{FF2B5EF4-FFF2-40B4-BE49-F238E27FC236}">
                <a16:creationId xmlns:a16="http://schemas.microsoft.com/office/drawing/2014/main" id="{E073BB7A-E7F2-8A3C-38E7-89A782C07E9A}"/>
              </a:ext>
            </a:extLst>
          </p:cNvPr>
          <p:cNvSpPr/>
          <p:nvPr/>
        </p:nvSpPr>
        <p:spPr>
          <a:xfrm>
            <a:off x="8619744" y="5586984"/>
            <a:ext cx="286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Key-result movement / quarter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>
            <a:extLst>
              <a:ext uri="{FF2B5EF4-FFF2-40B4-BE49-F238E27FC236}">
                <a16:creationId xmlns:a16="http://schemas.microsoft.com/office/drawing/2014/main" id="{FC2666BE-547B-8A77-D4C2-B016A8E5022B}"/>
              </a:ext>
            </a:extLst>
          </p:cNvPr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C7C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GETTING THERE</a:t>
            </a:r>
            <a:endParaRPr lang="en-US" sz="11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95C9A9A2-46D7-E1FD-C33D-CAFC92780012}"/>
              </a:ext>
            </a:extLst>
          </p:cNvPr>
          <p:cNvSpPr/>
          <p:nvPr/>
        </p:nvSpPr>
        <p:spPr>
          <a:xfrm>
            <a:off x="521208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32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Rollout plan</a:t>
            </a:r>
            <a:endParaRPr lang="en-US" sz="29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695E8F97-C3E0-3A6B-2836-2E70D815D305}"/>
              </a:ext>
            </a:extLst>
          </p:cNvPr>
          <p:cNvSpPr/>
          <p:nvPr/>
        </p:nvSpPr>
        <p:spPr>
          <a:xfrm>
            <a:off x="548640" y="133502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flip a switch — we ramp into the rhythm over the first month.</a:t>
            </a:r>
            <a:endParaRPr lang="en-US" sz="13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09C4831C-1408-264B-4F0E-155C413536E8}"/>
              </a:ext>
            </a:extLst>
          </p:cNvPr>
          <p:cNvSpPr/>
          <p:nvPr/>
        </p:nvSpPr>
        <p:spPr>
          <a:xfrm>
            <a:off x="548640" y="1920240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FBF1D6"/>
          </a:solidFill>
          <a:ln w="12700">
            <a:solidFill>
              <a:srgbClr val="E59A12"/>
            </a:solidFill>
            <a:prstDash val="solid"/>
          </a:ln>
        </p:spPr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F16E18F7-F784-59D1-D28F-B2BBE0E2F08C}"/>
              </a:ext>
            </a:extLst>
          </p:cNvPr>
          <p:cNvSpPr/>
          <p:nvPr/>
        </p:nvSpPr>
        <p:spPr>
          <a:xfrm>
            <a:off x="548640" y="19202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C7C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W1</a:t>
            </a:r>
            <a:endParaRPr lang="en-US" sz="16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00821D97-7DCA-4B7E-946C-D30C7EAEFFD5}"/>
              </a:ext>
            </a:extLst>
          </p:cNvPr>
          <p:cNvSpPr/>
          <p:nvPr/>
        </p:nvSpPr>
        <p:spPr>
          <a:xfrm>
            <a:off x="1600200" y="19385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up Jira &amp; train the team</a:t>
            </a:r>
            <a:endParaRPr lang="en-US" sz="15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B029D593-799B-22A6-EC5C-8D77B5995F36}"/>
              </a:ext>
            </a:extLst>
          </p:cNvPr>
          <p:cNvSpPr/>
          <p:nvPr/>
        </p:nvSpPr>
        <p:spPr>
          <a:xfrm>
            <a:off x="1600200" y="22494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board states, issue types, fix versions &amp; OKR/quarter fields. Walk the workflow together.</a:t>
            </a:r>
            <a:endParaRPr lang="en-US" sz="1250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B3F73728-7FF8-A6A3-3380-3F7AD120DF7E}"/>
              </a:ext>
            </a:extLst>
          </p:cNvPr>
          <p:cNvSpPr/>
          <p:nvPr/>
        </p:nvSpPr>
        <p:spPr>
          <a:xfrm>
            <a:off x="548640" y="2816352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FBF1D6"/>
          </a:solidFill>
          <a:ln w="12700">
            <a:solidFill>
              <a:srgbClr val="E59A12"/>
            </a:solidFill>
            <a:prstDash val="solid"/>
          </a:ln>
        </p:spPr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EA18A4F6-0503-B7A4-2BE9-A40A9D937178}"/>
              </a:ext>
            </a:extLst>
          </p:cNvPr>
          <p:cNvSpPr/>
          <p:nvPr/>
        </p:nvSpPr>
        <p:spPr>
          <a:xfrm>
            <a:off x="548640" y="281635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C7C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W1</a:t>
            </a:r>
            <a:endParaRPr lang="en-US" sz="16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E83C4F85-40AA-1789-3A92-A21DD32E3F58}"/>
              </a:ext>
            </a:extLst>
          </p:cNvPr>
          <p:cNvSpPr/>
          <p:nvPr/>
        </p:nvSpPr>
        <p:spPr>
          <a:xfrm>
            <a:off x="1600200" y="28346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the working agreements</a:t>
            </a:r>
            <a:endParaRPr lang="en-US" sz="15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6EA66607-54E9-D16F-E787-8F52C6A90A7A}"/>
              </a:ext>
            </a:extLst>
          </p:cNvPr>
          <p:cNvSpPr/>
          <p:nvPr/>
        </p:nvSpPr>
        <p:spPr>
          <a:xfrm>
            <a:off x="1600200" y="314553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Definition of Ready, Definition of Done, WIP limits, and ceremony times as a team.</a:t>
            </a:r>
            <a:endParaRPr lang="en-US" sz="1250" dirty="0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1DC021F1-07BC-323B-17A7-61A3E994D778}"/>
              </a:ext>
            </a:extLst>
          </p:cNvPr>
          <p:cNvSpPr/>
          <p:nvPr/>
        </p:nvSpPr>
        <p:spPr>
          <a:xfrm>
            <a:off x="548640" y="3712464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FBF1D6"/>
          </a:solidFill>
          <a:ln w="12700">
            <a:solidFill>
              <a:srgbClr val="E59A12"/>
            </a:solidFill>
            <a:prstDash val="solid"/>
          </a:ln>
        </p:spPr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9A33502-039B-E78F-A84F-39EC6B75AA34}"/>
              </a:ext>
            </a:extLst>
          </p:cNvPr>
          <p:cNvSpPr/>
          <p:nvPr/>
        </p:nvSpPr>
        <p:spPr>
          <a:xfrm>
            <a:off x="548640" y="371246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C7C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W2</a:t>
            </a:r>
            <a:endParaRPr lang="en-US" sz="16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146A3DCE-B884-B0D7-3892-CF52000DA0D3}"/>
              </a:ext>
            </a:extLst>
          </p:cNvPr>
          <p:cNvSpPr/>
          <p:nvPr/>
        </p:nvSpPr>
        <p:spPr>
          <a:xfrm>
            <a:off x="1600200" y="373075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Backlog &amp; first PI plan</a:t>
            </a:r>
            <a:endParaRPr lang="en-US" sz="150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15160CC9-FBF4-9097-67ED-3541885CE611}"/>
              </a:ext>
            </a:extLst>
          </p:cNvPr>
          <p:cNvSpPr/>
          <p:nvPr/>
        </p:nvSpPr>
        <p:spPr>
          <a:xfrm>
            <a:off x="1600200" y="40416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Epics from current OKRs, groom the backlog top, run the first PI planning session.</a:t>
            </a:r>
            <a:endParaRPr lang="en-US" sz="1250" dirty="0"/>
          </a:p>
        </p:txBody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3E207872-7435-87CF-3AE3-36858CE3B410}"/>
              </a:ext>
            </a:extLst>
          </p:cNvPr>
          <p:cNvSpPr/>
          <p:nvPr/>
        </p:nvSpPr>
        <p:spPr>
          <a:xfrm>
            <a:off x="548640" y="4608576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FBF1D6"/>
          </a:solidFill>
          <a:ln w="12700">
            <a:solidFill>
              <a:srgbClr val="E59A12"/>
            </a:solidFill>
            <a:prstDash val="solid"/>
          </a:ln>
        </p:spPr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3D0E4395-61A1-87F9-9B21-AADC4C9A2FDC}"/>
              </a:ext>
            </a:extLst>
          </p:cNvPr>
          <p:cNvSpPr/>
          <p:nvPr/>
        </p:nvSpPr>
        <p:spPr>
          <a:xfrm>
            <a:off x="548640" y="460857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C7C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W3</a:t>
            </a:r>
            <a:endParaRPr lang="en-US" sz="160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61222A89-A54F-F7A1-337F-2E061A9A3E4B}"/>
              </a:ext>
            </a:extLst>
          </p:cNvPr>
          <p:cNvSpPr/>
          <p:nvPr/>
        </p:nvSpPr>
        <p:spPr>
          <a:xfrm>
            <a:off x="1600200" y="462686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Sprint 1</a:t>
            </a:r>
            <a:endParaRPr lang="en-US" sz="1500" dirty="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37A6D02C-F4E1-3833-74C1-CE34F6D3F53A}"/>
              </a:ext>
            </a:extLst>
          </p:cNvPr>
          <p:cNvSpPr/>
          <p:nvPr/>
        </p:nvSpPr>
        <p:spPr>
          <a:xfrm>
            <a:off x="1600200" y="4937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conservatively, hold daily standups, complete the first full sprint cycle.</a:t>
            </a:r>
            <a:endParaRPr lang="en-US" sz="1250" dirty="0"/>
          </a:p>
        </p:txBody>
      </p:sp>
      <p:sp>
        <p:nvSpPr>
          <p:cNvPr id="32" name="Shape 19">
            <a:extLst>
              <a:ext uri="{FF2B5EF4-FFF2-40B4-BE49-F238E27FC236}">
                <a16:creationId xmlns:a16="http://schemas.microsoft.com/office/drawing/2014/main" id="{6C4D0DD8-0AB4-4D18-4EE0-2C0175FB170C}"/>
              </a:ext>
            </a:extLst>
          </p:cNvPr>
          <p:cNvSpPr/>
          <p:nvPr/>
        </p:nvSpPr>
        <p:spPr>
          <a:xfrm>
            <a:off x="548640" y="5504688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FBF1D6"/>
          </a:solidFill>
          <a:ln w="12700">
            <a:solidFill>
              <a:srgbClr val="E59A12"/>
            </a:solidFill>
            <a:prstDash val="solid"/>
          </a:ln>
        </p:spPr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9AC81BEE-D735-5086-AB1E-DD8215197CE4}"/>
              </a:ext>
            </a:extLst>
          </p:cNvPr>
          <p:cNvSpPr/>
          <p:nvPr/>
        </p:nvSpPr>
        <p:spPr>
          <a:xfrm>
            <a:off x="548640" y="55046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C7C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W4</a:t>
            </a:r>
            <a:endParaRPr lang="en-US" sz="160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89DECD46-7233-7942-DFE5-78C3BDB06559}"/>
              </a:ext>
            </a:extLst>
          </p:cNvPr>
          <p:cNvSpPr/>
          <p:nvPr/>
        </p:nvSpPr>
        <p:spPr>
          <a:xfrm>
            <a:off x="1600200" y="552297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retro &amp; calibrate</a:t>
            </a:r>
            <a:endParaRPr lang="en-US" sz="1500" dirty="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CFBB202B-C89D-C561-7B59-FC0B1585493F}"/>
              </a:ext>
            </a:extLst>
          </p:cNvPr>
          <p:cNvSpPr/>
          <p:nvPr/>
        </p:nvSpPr>
        <p:spPr>
          <a:xfrm>
            <a:off x="1600200" y="58338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baseline velocity, review what worked, lock in the cadence going forward.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936</Words>
  <Application>Microsoft Office PowerPoint</Application>
  <PresentationFormat>Widescreen</PresentationFormat>
  <Paragraphs>192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Delivery Operating Model</dc:title>
  <dc:subject>PptxGenJS Presentation</dc:subject>
  <dc:creator>Scrum Master</dc:creator>
  <cp:lastModifiedBy>Anil K Chilukuri</cp:lastModifiedBy>
  <cp:revision>5</cp:revision>
  <dcterms:created xsi:type="dcterms:W3CDTF">2026-06-04T01:31:55Z</dcterms:created>
  <dcterms:modified xsi:type="dcterms:W3CDTF">2026-06-04T04:38:17Z</dcterms:modified>
</cp:coreProperties>
</file>