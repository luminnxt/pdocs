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51546"/>
            <a:ext cx="16916400" cy="9525"/>
          </a:xfrm>
          <a:prstGeom prst="rect">
            <a:avLst/>
          </a:prstGeom>
          <a:solidFill>
            <a:srgbClr val="D8DEE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1147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3949A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ARCHITECTURE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714375"/>
            <a:ext cx="10114730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33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Reference Architecture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85800" y="1232446"/>
            <a:ext cx="101147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Agent-driven incident response, change governance, and problem management — built on the LLM Suite.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870826" y="794296"/>
            <a:ext cx="27313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 </a:t>
            </a:r>
            <a:pPr algn="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— Draft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70826" y="1022896"/>
            <a:ext cx="27313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 </a:t>
            </a:r>
            <a:pPr algn="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70826" y="1251496"/>
            <a:ext cx="27313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</a:t>
            </a:r>
            <a:pPr algn="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870621"/>
            <a:ext cx="914400" cy="733425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3450" y="205159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EF0F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2156371"/>
            <a:ext cx="209550" cy="2095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7085" y="2546896"/>
            <a:ext cx="35168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933450" y="4111526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EF0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4216301"/>
            <a:ext cx="209550" cy="2095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1613" y="4606826"/>
            <a:ext cx="28262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933450" y="617160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EF0F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6276380"/>
            <a:ext cx="209550" cy="2095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1766" y="6666905"/>
            <a:ext cx="70246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 Assistants</a:t>
            </a:r>
            <a:endParaRPr lang="en-US" sz="975" dirty="0"/>
          </a:p>
        </p:txBody>
      </p:sp>
      <p:sp>
        <p:nvSpPr>
          <p:cNvPr id="19" name="Shape 14"/>
          <p:cNvSpPr/>
          <p:nvPr/>
        </p:nvSpPr>
        <p:spPr>
          <a:xfrm>
            <a:off x="933450" y="838006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EF0F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8484840"/>
            <a:ext cx="209550" cy="2095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3409" y="8875365"/>
            <a:ext cx="59918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975" dirty="0"/>
          </a:p>
        </p:txBody>
      </p:sp>
      <p:sp>
        <p:nvSpPr>
          <p:cNvPr id="22" name="Shape 16"/>
          <p:cNvSpPr/>
          <p:nvPr/>
        </p:nvSpPr>
        <p:spPr>
          <a:xfrm>
            <a:off x="1752600" y="1870621"/>
            <a:ext cx="12192000" cy="2150864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756124" y="2013496"/>
            <a:ext cx="121849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47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1933575" y="2261146"/>
            <a:ext cx="3867150" cy="533400"/>
          </a:xfrm>
          <a:prstGeom prst="roundRect">
            <a:avLst>
              <a:gd name="adj" fmla="val 14286"/>
            </a:avLst>
          </a:prstGeom>
          <a:solidFill>
            <a:srgbClr val="FBFCFE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076450" y="2384971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26" name="Text 20"/>
          <p:cNvSpPr/>
          <p:nvPr/>
        </p:nvSpPr>
        <p:spPr>
          <a:xfrm>
            <a:off x="2038350" y="238497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975" dirty="0"/>
          </a:p>
        </p:txBody>
      </p:sp>
      <p:sp>
        <p:nvSpPr>
          <p:cNvPr id="27" name="Text 21"/>
          <p:cNvSpPr/>
          <p:nvPr/>
        </p:nvSpPr>
        <p:spPr>
          <a:xfrm>
            <a:off x="2476500" y="2442121"/>
            <a:ext cx="1383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 Agent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915025" y="2261146"/>
            <a:ext cx="3867150" cy="533400"/>
          </a:xfrm>
          <a:prstGeom prst="roundRect">
            <a:avLst>
              <a:gd name="adj" fmla="val 14286"/>
            </a:avLst>
          </a:prstGeom>
          <a:solidFill>
            <a:srgbClr val="FBFCFE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57900" y="2384971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30" name="Text 24"/>
          <p:cNvSpPr/>
          <p:nvPr/>
        </p:nvSpPr>
        <p:spPr>
          <a:xfrm>
            <a:off x="6019800" y="238497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6457950" y="2442121"/>
            <a:ext cx="1281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Job Agent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896475" y="2261146"/>
            <a:ext cx="3867150" cy="533400"/>
          </a:xfrm>
          <a:prstGeom prst="roundRect">
            <a:avLst>
              <a:gd name="adj" fmla="val 14286"/>
            </a:avLst>
          </a:prstGeom>
          <a:solidFill>
            <a:srgbClr val="FBFCFE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039350" y="2384971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34" name="Text 28"/>
          <p:cNvSpPr/>
          <p:nvPr/>
        </p:nvSpPr>
        <p:spPr>
          <a:xfrm>
            <a:off x="10001250" y="238497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</a:t>
            </a:r>
            <a:endParaRPr lang="en-US" sz="975" dirty="0"/>
          </a:p>
        </p:txBody>
      </p:sp>
      <p:sp>
        <p:nvSpPr>
          <p:cNvPr id="35" name="Text 29"/>
          <p:cNvSpPr/>
          <p:nvPr/>
        </p:nvSpPr>
        <p:spPr>
          <a:xfrm>
            <a:off x="10439400" y="2442121"/>
            <a:ext cx="13998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 Agent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752600" y="4154835"/>
            <a:ext cx="12192000" cy="1741289"/>
          </a:xfrm>
          <a:prstGeom prst="roundRect">
            <a:avLst>
              <a:gd name="adj" fmla="val 5470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756124" y="4297710"/>
            <a:ext cx="121849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47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1933575" y="4545360"/>
            <a:ext cx="190500" cy="190500"/>
          </a:xfrm>
          <a:prstGeom prst="ellipse">
            <a:avLst/>
          </a:prstGeom>
          <a:ln w="9525">
            <a:solidFill>
              <a:srgbClr val="3949A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219325" y="4559647"/>
            <a:ext cx="37665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incidents — live signal from observability + ticketing</a:t>
            </a:r>
            <a:endParaRPr lang="en-US" sz="1125" dirty="0"/>
          </a:p>
        </p:txBody>
      </p:sp>
      <p:sp>
        <p:nvSpPr>
          <p:cNvPr id="40" name="Shape 34"/>
          <p:cNvSpPr/>
          <p:nvPr/>
        </p:nvSpPr>
        <p:spPr>
          <a:xfrm>
            <a:off x="1933575" y="4812060"/>
            <a:ext cx="190500" cy="190500"/>
          </a:xfrm>
          <a:prstGeom prst="ellipse">
            <a:avLst/>
          </a:prstGeom>
          <a:ln w="9525">
            <a:solidFill>
              <a:srgbClr val="3949A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19325" y="4826347"/>
            <a:ext cx="3877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changes — recent deploys, configs, and feature flags</a:t>
            </a:r>
            <a:endParaRPr lang="en-US" sz="1125" dirty="0"/>
          </a:p>
        </p:txBody>
      </p:sp>
      <p:sp>
        <p:nvSpPr>
          <p:cNvPr id="42" name="Shape 36"/>
          <p:cNvSpPr/>
          <p:nvPr/>
        </p:nvSpPr>
        <p:spPr>
          <a:xfrm>
            <a:off x="1752600" y="6029474"/>
            <a:ext cx="12192000" cy="31753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756124" y="6172349"/>
            <a:ext cx="1218495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47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EXPERIENCE | PERSONA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1933575" y="6439049"/>
            <a:ext cx="251520" cy="19050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45" name="Text 39"/>
          <p:cNvSpPr/>
          <p:nvPr/>
        </p:nvSpPr>
        <p:spPr>
          <a:xfrm>
            <a:off x="1990725" y="6458099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2280345" y="6419999"/>
            <a:ext cx="2419499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 change-governance gating</a:t>
            </a:r>
            <a:endParaRPr lang="en-US" sz="1125" dirty="0"/>
          </a:p>
        </p:txBody>
      </p:sp>
      <p:sp>
        <p:nvSpPr>
          <p:cNvPr id="47" name="Shape 41"/>
          <p:cNvSpPr/>
          <p:nvPr/>
        </p:nvSpPr>
        <p:spPr>
          <a:xfrm>
            <a:off x="7981950" y="6439049"/>
            <a:ext cx="251520" cy="19050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48" name="Text 42"/>
          <p:cNvSpPr/>
          <p:nvPr/>
        </p:nvSpPr>
        <p:spPr>
          <a:xfrm>
            <a:off x="8039100" y="6458099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8328720" y="6419999"/>
            <a:ext cx="341935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AI-enabled production acceleration with reduced risk</a:t>
            </a:r>
            <a:endParaRPr lang="en-US" sz="1125" dirty="0"/>
          </a:p>
        </p:txBody>
      </p:sp>
      <p:sp>
        <p:nvSpPr>
          <p:cNvPr id="50" name="Shape 44"/>
          <p:cNvSpPr/>
          <p:nvPr/>
        </p:nvSpPr>
        <p:spPr>
          <a:xfrm>
            <a:off x="1933575" y="6743849"/>
            <a:ext cx="251520" cy="19050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51" name="Text 45"/>
          <p:cNvSpPr/>
          <p:nvPr/>
        </p:nvSpPr>
        <p:spPr>
          <a:xfrm>
            <a:off x="1990725" y="6762899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2280345" y="6724799"/>
            <a:ext cx="2699796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Accelerate event detection and resolution</a:t>
            </a:r>
            <a:endParaRPr lang="en-US" sz="1125" dirty="0"/>
          </a:p>
        </p:txBody>
      </p:sp>
      <p:sp>
        <p:nvSpPr>
          <p:cNvPr id="53" name="Shape 47"/>
          <p:cNvSpPr/>
          <p:nvPr/>
        </p:nvSpPr>
        <p:spPr>
          <a:xfrm>
            <a:off x="7981950" y="6743849"/>
            <a:ext cx="251520" cy="19050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54" name="Text 48"/>
          <p:cNvSpPr/>
          <p:nvPr/>
        </p:nvSpPr>
        <p:spPr>
          <a:xfrm>
            <a:off x="8039100" y="6762899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8328720" y="6724799"/>
            <a:ext cx="3059421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Optimize and accelerate problem management</a:t>
            </a:r>
            <a:endParaRPr lang="en-US" sz="1125" dirty="0"/>
          </a:p>
        </p:txBody>
      </p:sp>
      <p:sp>
        <p:nvSpPr>
          <p:cNvPr id="56" name="Shape 50"/>
          <p:cNvSpPr/>
          <p:nvPr/>
        </p:nvSpPr>
        <p:spPr>
          <a:xfrm>
            <a:off x="1933575" y="7048649"/>
            <a:ext cx="251520" cy="19050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57" name="Text 51"/>
          <p:cNvSpPr/>
          <p:nvPr/>
        </p:nvSpPr>
        <p:spPr>
          <a:xfrm>
            <a:off x="1990725" y="7067699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2280345" y="7029599"/>
            <a:ext cx="2435126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AIOps-enabled incident management</a:t>
            </a:r>
            <a:endParaRPr lang="en-US" sz="1125" dirty="0"/>
          </a:p>
        </p:txBody>
      </p:sp>
      <p:sp>
        <p:nvSpPr>
          <p:cNvPr id="59" name="Shape 53"/>
          <p:cNvSpPr/>
          <p:nvPr/>
        </p:nvSpPr>
        <p:spPr>
          <a:xfrm>
            <a:off x="7981950" y="7048649"/>
            <a:ext cx="251520" cy="190500"/>
          </a:xfrm>
          <a:prstGeom prst="roundRect">
            <a:avLst>
              <a:gd name="adj" fmla="val 20000"/>
            </a:avLst>
          </a:prstGeom>
          <a:solidFill>
            <a:srgbClr val="EEF0F8"/>
          </a:solidFill>
          <a:ln/>
        </p:spPr>
      </p:sp>
      <p:sp>
        <p:nvSpPr>
          <p:cNvPr id="60" name="Text 54"/>
          <p:cNvSpPr/>
          <p:nvPr/>
        </p:nvSpPr>
        <p:spPr>
          <a:xfrm>
            <a:off x="8039100" y="7067699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8328720" y="7029599"/>
            <a:ext cx="3484656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25" i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learning across recurring incident classes</a:t>
            </a:r>
            <a:endParaRPr lang="en-US" sz="1125" dirty="0"/>
          </a:p>
        </p:txBody>
      </p:sp>
      <p:sp>
        <p:nvSpPr>
          <p:cNvPr id="62" name="Text 56"/>
          <p:cNvSpPr/>
          <p:nvPr/>
        </p:nvSpPr>
        <p:spPr>
          <a:xfrm>
            <a:off x="14058900" y="1870621"/>
            <a:ext cx="1333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</a:t>
            </a:r>
            <a:endParaRPr lang="en-US" sz="1200" dirty="0"/>
          </a:p>
        </p:txBody>
      </p:sp>
      <p:sp>
        <p:nvSpPr>
          <p:cNvPr id="63" name="Shape 57"/>
          <p:cNvSpPr/>
          <p:nvPr/>
        </p:nvSpPr>
        <p:spPr>
          <a:xfrm>
            <a:off x="14097000" y="2118271"/>
            <a:ext cx="1257300" cy="7086600"/>
          </a:xfrm>
          <a:prstGeom prst="roundRect">
            <a:avLst>
              <a:gd name="adj" fmla="val 6061"/>
            </a:avLst>
          </a:prstGeom>
          <a:ln w="9525">
            <a:solidFill>
              <a:srgbClr val="D8DEE7"/>
            </a:solidFill>
            <a:prstDash val="dash"/>
          </a:ln>
        </p:spPr>
      </p:sp>
      <p:sp>
        <p:nvSpPr>
          <p:cNvPr id="64" name="Shape 58"/>
          <p:cNvSpPr/>
          <p:nvPr/>
        </p:nvSpPr>
        <p:spPr>
          <a:xfrm>
            <a:off x="14535150" y="3016746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14506575" y="3026271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050" dirty="0"/>
          </a:p>
        </p:txBody>
      </p:sp>
      <p:sp>
        <p:nvSpPr>
          <p:cNvPr id="66" name="Text 60"/>
          <p:cNvSpPr/>
          <p:nvPr/>
        </p:nvSpPr>
        <p:spPr>
          <a:xfrm>
            <a:off x="14380964" y="3454896"/>
            <a:ext cx="7655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67" name="Text 61"/>
          <p:cNvSpPr/>
          <p:nvPr/>
        </p:nvSpPr>
        <p:spPr>
          <a:xfrm>
            <a:off x="14505533" y="3664446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825" dirty="0"/>
          </a:p>
        </p:txBody>
      </p:sp>
      <p:sp>
        <p:nvSpPr>
          <p:cNvPr id="68" name="Shape 62"/>
          <p:cNvSpPr/>
          <p:nvPr/>
        </p:nvSpPr>
        <p:spPr>
          <a:xfrm>
            <a:off x="14535001" y="5271046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14506426" y="5280571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050" dirty="0"/>
          </a:p>
        </p:txBody>
      </p:sp>
      <p:sp>
        <p:nvSpPr>
          <p:cNvPr id="70" name="Text 64"/>
          <p:cNvSpPr/>
          <p:nvPr/>
        </p:nvSpPr>
        <p:spPr>
          <a:xfrm>
            <a:off x="14384685" y="5709196"/>
            <a:ext cx="7579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71" name="Text 65"/>
          <p:cNvSpPr/>
          <p:nvPr/>
        </p:nvSpPr>
        <p:spPr>
          <a:xfrm>
            <a:off x="14599741" y="5918746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</a:t>
            </a:r>
            <a:endParaRPr lang="en-US" sz="825" dirty="0"/>
          </a:p>
        </p:txBody>
      </p:sp>
      <p:sp>
        <p:nvSpPr>
          <p:cNvPr id="72" name="Shape 66"/>
          <p:cNvSpPr/>
          <p:nvPr/>
        </p:nvSpPr>
        <p:spPr>
          <a:xfrm>
            <a:off x="14535001" y="7525196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949AB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14506426" y="7534721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49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1050" dirty="0"/>
          </a:p>
        </p:txBody>
      </p:sp>
      <p:sp>
        <p:nvSpPr>
          <p:cNvPr id="74" name="Text 68"/>
          <p:cNvSpPr/>
          <p:nvPr/>
        </p:nvSpPr>
        <p:spPr>
          <a:xfrm>
            <a:off x="14362509" y="7963346"/>
            <a:ext cx="8023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75" name="Text 69"/>
          <p:cNvSpPr/>
          <p:nvPr/>
        </p:nvSpPr>
        <p:spPr>
          <a:xfrm>
            <a:off x="14442579" y="8172896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retrieval</a:t>
            </a:r>
            <a:endParaRPr lang="en-US" sz="825" dirty="0"/>
          </a:p>
        </p:txBody>
      </p:sp>
      <p:sp>
        <p:nvSpPr>
          <p:cNvPr id="76" name="Shape 70"/>
          <p:cNvSpPr/>
          <p:nvPr/>
        </p:nvSpPr>
        <p:spPr>
          <a:xfrm>
            <a:off x="15506700" y="1870621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3949AB"/>
          </a:solidFill>
          <a:ln/>
        </p:spPr>
      </p:sp>
      <p:sp>
        <p:nvSpPr>
          <p:cNvPr id="77" name="Text 71"/>
          <p:cNvSpPr/>
          <p:nvPr/>
        </p:nvSpPr>
        <p:spPr>
          <a:xfrm>
            <a:off x="15468600" y="1870621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825" dirty="0"/>
          </a:p>
        </p:txBody>
      </p:sp>
      <p:sp>
        <p:nvSpPr>
          <p:cNvPr id="78" name="Text 72"/>
          <p:cNvSpPr/>
          <p:nvPr/>
        </p:nvSpPr>
        <p:spPr>
          <a:xfrm>
            <a:off x="15792450" y="1875383"/>
            <a:ext cx="16947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7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| Connectors</a:t>
            </a:r>
            <a:endParaRPr lang="en-US" sz="1350" dirty="0"/>
          </a:p>
        </p:txBody>
      </p:sp>
      <p:sp>
        <p:nvSpPr>
          <p:cNvPr id="79" name="Shape 73"/>
          <p:cNvSpPr/>
          <p:nvPr/>
        </p:nvSpPr>
        <p:spPr>
          <a:xfrm>
            <a:off x="15506700" y="2175421"/>
            <a:ext cx="2095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80" name="Text 74"/>
          <p:cNvSpPr/>
          <p:nvPr/>
        </p:nvSpPr>
        <p:spPr>
          <a:xfrm>
            <a:off x="15630525" y="2280196"/>
            <a:ext cx="1924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 (DBC)</a:t>
            </a:r>
            <a:endParaRPr lang="en-US" sz="900" dirty="0"/>
          </a:p>
        </p:txBody>
      </p:sp>
      <p:sp>
        <p:nvSpPr>
          <p:cNvPr id="81" name="Shape 75"/>
          <p:cNvSpPr/>
          <p:nvPr/>
        </p:nvSpPr>
        <p:spPr>
          <a:xfrm>
            <a:off x="15630525" y="2623096"/>
            <a:ext cx="11697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82" name="Text 76"/>
          <p:cNvSpPr/>
          <p:nvPr/>
        </p:nvSpPr>
        <p:spPr>
          <a:xfrm>
            <a:off x="15735300" y="2670721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data-warehouse</a:t>
            </a:r>
            <a:endParaRPr lang="en-US" sz="900" dirty="0"/>
          </a:p>
        </p:txBody>
      </p:sp>
      <p:sp>
        <p:nvSpPr>
          <p:cNvPr id="83" name="Shape 77"/>
          <p:cNvSpPr/>
          <p:nvPr/>
        </p:nvSpPr>
        <p:spPr>
          <a:xfrm>
            <a:off x="15630525" y="2927896"/>
            <a:ext cx="8268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84" name="Text 78"/>
          <p:cNvSpPr/>
          <p:nvPr/>
        </p:nvSpPr>
        <p:spPr>
          <a:xfrm>
            <a:off x="15735300" y="2975521"/>
            <a:ext cx="6935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lakehouse</a:t>
            </a:r>
            <a:endParaRPr lang="en-US" sz="900" dirty="0"/>
          </a:p>
        </p:txBody>
      </p:sp>
      <p:sp>
        <p:nvSpPr>
          <p:cNvPr id="85" name="Shape 79"/>
          <p:cNvSpPr/>
          <p:nvPr/>
        </p:nvSpPr>
        <p:spPr>
          <a:xfrm>
            <a:off x="16514564" y="2927896"/>
            <a:ext cx="8268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86" name="Text 80"/>
          <p:cNvSpPr/>
          <p:nvPr/>
        </p:nvSpPr>
        <p:spPr>
          <a:xfrm>
            <a:off x="16619339" y="2975521"/>
            <a:ext cx="6935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vector-db</a:t>
            </a:r>
            <a:endParaRPr lang="en-US" sz="900" dirty="0"/>
          </a:p>
        </p:txBody>
      </p:sp>
      <p:sp>
        <p:nvSpPr>
          <p:cNvPr id="87" name="Shape 81"/>
          <p:cNvSpPr/>
          <p:nvPr/>
        </p:nvSpPr>
        <p:spPr>
          <a:xfrm>
            <a:off x="15630525" y="3232696"/>
            <a:ext cx="621060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88" name="Text 82"/>
          <p:cNvSpPr/>
          <p:nvPr/>
        </p:nvSpPr>
        <p:spPr>
          <a:xfrm>
            <a:off x="15735300" y="3280321"/>
            <a:ext cx="487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900" dirty="0"/>
          </a:p>
        </p:txBody>
      </p:sp>
      <p:sp>
        <p:nvSpPr>
          <p:cNvPr id="89" name="Shape 83"/>
          <p:cNvSpPr/>
          <p:nvPr/>
        </p:nvSpPr>
        <p:spPr>
          <a:xfrm>
            <a:off x="15506700" y="3680371"/>
            <a:ext cx="20955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15630525" y="3785146"/>
            <a:ext cx="1924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900" dirty="0"/>
          </a:p>
        </p:txBody>
      </p:sp>
      <p:sp>
        <p:nvSpPr>
          <p:cNvPr id="91" name="Shape 85"/>
          <p:cNvSpPr/>
          <p:nvPr/>
        </p:nvSpPr>
        <p:spPr>
          <a:xfrm>
            <a:off x="15630525" y="3994696"/>
            <a:ext cx="75827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92" name="Text 86"/>
          <p:cNvSpPr/>
          <p:nvPr/>
        </p:nvSpPr>
        <p:spPr>
          <a:xfrm>
            <a:off x="15735300" y="4042321"/>
            <a:ext cx="6249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runbooks</a:t>
            </a:r>
            <a:endParaRPr lang="en-US" sz="900" dirty="0"/>
          </a:p>
        </p:txBody>
      </p:sp>
      <p:sp>
        <p:nvSpPr>
          <p:cNvPr id="93" name="Shape 87"/>
          <p:cNvSpPr/>
          <p:nvPr/>
        </p:nvSpPr>
        <p:spPr>
          <a:xfrm>
            <a:off x="16445954" y="3994696"/>
            <a:ext cx="963960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94" name="Text 88"/>
          <p:cNvSpPr/>
          <p:nvPr/>
        </p:nvSpPr>
        <p:spPr>
          <a:xfrm>
            <a:off x="16550729" y="4042321"/>
            <a:ext cx="8306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postmortems</a:t>
            </a:r>
            <a:endParaRPr lang="en-US" sz="900" dirty="0"/>
          </a:p>
        </p:txBody>
      </p:sp>
      <p:sp>
        <p:nvSpPr>
          <p:cNvPr id="95" name="Shape 89"/>
          <p:cNvSpPr/>
          <p:nvPr/>
        </p:nvSpPr>
        <p:spPr>
          <a:xfrm>
            <a:off x="15630525" y="4299496"/>
            <a:ext cx="8268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96" name="Text 90"/>
          <p:cNvSpPr/>
          <p:nvPr/>
        </p:nvSpPr>
        <p:spPr>
          <a:xfrm>
            <a:off x="15735300" y="4347121"/>
            <a:ext cx="6935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arch-docs</a:t>
            </a:r>
            <a:endParaRPr lang="en-US" sz="900" dirty="0"/>
          </a:p>
        </p:txBody>
      </p:sp>
      <p:sp>
        <p:nvSpPr>
          <p:cNvPr id="97" name="Shape 91"/>
          <p:cNvSpPr/>
          <p:nvPr/>
        </p:nvSpPr>
        <p:spPr>
          <a:xfrm>
            <a:off x="15506700" y="4747171"/>
            <a:ext cx="20955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98" name="Text 92"/>
          <p:cNvSpPr/>
          <p:nvPr/>
        </p:nvSpPr>
        <p:spPr>
          <a:xfrm>
            <a:off x="15630525" y="4851946"/>
            <a:ext cx="1924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 TOOLS</a:t>
            </a:r>
            <a:endParaRPr lang="en-US" sz="900" dirty="0"/>
          </a:p>
        </p:txBody>
      </p:sp>
      <p:sp>
        <p:nvSpPr>
          <p:cNvPr id="99" name="Shape 93"/>
          <p:cNvSpPr/>
          <p:nvPr/>
        </p:nvSpPr>
        <p:spPr>
          <a:xfrm>
            <a:off x="15630525" y="5061496"/>
            <a:ext cx="4839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0" name="Text 94"/>
          <p:cNvSpPr/>
          <p:nvPr/>
        </p:nvSpPr>
        <p:spPr>
          <a:xfrm>
            <a:off x="15735300" y="5109121"/>
            <a:ext cx="3506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logs</a:t>
            </a:r>
            <a:endParaRPr lang="en-US" sz="900" dirty="0"/>
          </a:p>
        </p:txBody>
      </p:sp>
      <p:sp>
        <p:nvSpPr>
          <p:cNvPr id="101" name="Shape 95"/>
          <p:cNvSpPr/>
          <p:nvPr/>
        </p:nvSpPr>
        <p:spPr>
          <a:xfrm>
            <a:off x="16171664" y="5061496"/>
            <a:ext cx="621060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2" name="Text 96"/>
          <p:cNvSpPr/>
          <p:nvPr/>
        </p:nvSpPr>
        <p:spPr>
          <a:xfrm>
            <a:off x="16276439" y="5109121"/>
            <a:ext cx="487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traces</a:t>
            </a:r>
            <a:endParaRPr lang="en-US" sz="900" dirty="0"/>
          </a:p>
        </p:txBody>
      </p:sp>
      <p:sp>
        <p:nvSpPr>
          <p:cNvPr id="103" name="Shape 97"/>
          <p:cNvSpPr/>
          <p:nvPr/>
        </p:nvSpPr>
        <p:spPr>
          <a:xfrm>
            <a:off x="15630525" y="5366296"/>
            <a:ext cx="689670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4" name="Text 98"/>
          <p:cNvSpPr/>
          <p:nvPr/>
        </p:nvSpPr>
        <p:spPr>
          <a:xfrm>
            <a:off x="15735300" y="5413921"/>
            <a:ext cx="5563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</a:t>
            </a:r>
            <a:endParaRPr lang="en-US" sz="900" dirty="0"/>
          </a:p>
        </p:txBody>
      </p:sp>
      <p:sp>
        <p:nvSpPr>
          <p:cNvPr id="105" name="Shape 99"/>
          <p:cNvSpPr/>
          <p:nvPr/>
        </p:nvSpPr>
        <p:spPr>
          <a:xfrm>
            <a:off x="16377345" y="5366296"/>
            <a:ext cx="75827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6" name="Text 100"/>
          <p:cNvSpPr/>
          <p:nvPr/>
        </p:nvSpPr>
        <p:spPr>
          <a:xfrm>
            <a:off x="16482120" y="5413921"/>
            <a:ext cx="6249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alerting</a:t>
            </a:r>
            <a:endParaRPr lang="en-US" sz="900" dirty="0"/>
          </a:p>
        </p:txBody>
      </p:sp>
      <p:sp>
        <p:nvSpPr>
          <p:cNvPr id="107" name="Shape 101"/>
          <p:cNvSpPr/>
          <p:nvPr/>
        </p:nvSpPr>
        <p:spPr>
          <a:xfrm>
            <a:off x="15630525" y="5671096"/>
            <a:ext cx="41537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15735300" y="5718721"/>
            <a:ext cx="28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apm</a:t>
            </a:r>
            <a:endParaRPr lang="en-US" sz="900" dirty="0"/>
          </a:p>
        </p:txBody>
      </p:sp>
      <p:sp>
        <p:nvSpPr>
          <p:cNvPr id="109" name="Shape 103"/>
          <p:cNvSpPr/>
          <p:nvPr/>
        </p:nvSpPr>
        <p:spPr>
          <a:xfrm>
            <a:off x="16103054" y="5671096"/>
            <a:ext cx="75827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10" name="Text 104"/>
          <p:cNvSpPr/>
          <p:nvPr/>
        </p:nvSpPr>
        <p:spPr>
          <a:xfrm>
            <a:off x="16207829" y="5718721"/>
            <a:ext cx="6249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data-bus</a:t>
            </a:r>
            <a:endParaRPr lang="en-US" sz="900" dirty="0"/>
          </a:p>
        </p:txBody>
      </p:sp>
      <p:sp>
        <p:nvSpPr>
          <p:cNvPr id="111" name="Shape 105"/>
          <p:cNvSpPr/>
          <p:nvPr/>
        </p:nvSpPr>
        <p:spPr>
          <a:xfrm>
            <a:off x="15506700" y="6118771"/>
            <a:ext cx="209550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12" name="Text 106"/>
          <p:cNvSpPr/>
          <p:nvPr/>
        </p:nvSpPr>
        <p:spPr>
          <a:xfrm>
            <a:off x="15630525" y="6223546"/>
            <a:ext cx="19240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 TOOLS</a:t>
            </a:r>
            <a:endParaRPr lang="en-US" sz="900" dirty="0"/>
          </a:p>
        </p:txBody>
      </p:sp>
      <p:sp>
        <p:nvSpPr>
          <p:cNvPr id="113" name="Shape 107"/>
          <p:cNvSpPr/>
          <p:nvPr/>
        </p:nvSpPr>
        <p:spPr>
          <a:xfrm>
            <a:off x="15630525" y="6433096"/>
            <a:ext cx="110117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14" name="Text 108"/>
          <p:cNvSpPr/>
          <p:nvPr/>
        </p:nvSpPr>
        <p:spPr>
          <a:xfrm>
            <a:off x="15735300" y="6480721"/>
            <a:ext cx="9678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issue-tracker</a:t>
            </a:r>
            <a:endParaRPr lang="en-US" sz="900" dirty="0"/>
          </a:p>
        </p:txBody>
      </p:sp>
      <p:sp>
        <p:nvSpPr>
          <p:cNvPr id="115" name="Shape 109"/>
          <p:cNvSpPr/>
          <p:nvPr/>
        </p:nvSpPr>
        <p:spPr>
          <a:xfrm>
            <a:off x="16788854" y="6433096"/>
            <a:ext cx="41537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16" name="Text 110"/>
          <p:cNvSpPr/>
          <p:nvPr/>
        </p:nvSpPr>
        <p:spPr>
          <a:xfrm>
            <a:off x="16893629" y="6480721"/>
            <a:ext cx="28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vcs</a:t>
            </a:r>
            <a:endParaRPr lang="en-US" sz="900" dirty="0"/>
          </a:p>
        </p:txBody>
      </p:sp>
      <p:sp>
        <p:nvSpPr>
          <p:cNvPr id="117" name="Shape 111"/>
          <p:cNvSpPr/>
          <p:nvPr/>
        </p:nvSpPr>
        <p:spPr>
          <a:xfrm>
            <a:off x="15630525" y="6737896"/>
            <a:ext cx="8268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18" name="Text 112"/>
          <p:cNvSpPr/>
          <p:nvPr/>
        </p:nvSpPr>
        <p:spPr>
          <a:xfrm>
            <a:off x="15735300" y="6785521"/>
            <a:ext cx="6935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pipelines</a:t>
            </a:r>
            <a:endParaRPr lang="en-US" sz="900" dirty="0"/>
          </a:p>
        </p:txBody>
      </p:sp>
      <p:sp>
        <p:nvSpPr>
          <p:cNvPr id="119" name="Shape 113"/>
          <p:cNvSpPr/>
          <p:nvPr/>
        </p:nvSpPr>
        <p:spPr>
          <a:xfrm>
            <a:off x="15630525" y="7042696"/>
            <a:ext cx="11697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20" name="Text 114"/>
          <p:cNvSpPr/>
          <p:nvPr/>
        </p:nvSpPr>
        <p:spPr>
          <a:xfrm>
            <a:off x="15735300" y="7090321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ci-cd-insights</a:t>
            </a:r>
            <a:endParaRPr lang="en-US" sz="900" dirty="0"/>
          </a:p>
        </p:txBody>
      </p:sp>
      <p:sp>
        <p:nvSpPr>
          <p:cNvPr id="121" name="Shape 115"/>
          <p:cNvSpPr/>
          <p:nvPr/>
        </p:nvSpPr>
        <p:spPr>
          <a:xfrm>
            <a:off x="16857464" y="7042696"/>
            <a:ext cx="4839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22" name="Text 116"/>
          <p:cNvSpPr/>
          <p:nvPr/>
        </p:nvSpPr>
        <p:spPr>
          <a:xfrm>
            <a:off x="16962239" y="7090321"/>
            <a:ext cx="3506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DORA</a:t>
            </a:r>
            <a:endParaRPr lang="en-US" sz="900" dirty="0"/>
          </a:p>
        </p:txBody>
      </p:sp>
      <p:sp>
        <p:nvSpPr>
          <p:cNvPr id="123" name="Shape 117"/>
          <p:cNvSpPr/>
          <p:nvPr/>
        </p:nvSpPr>
        <p:spPr>
          <a:xfrm>
            <a:off x="15506700" y="7490371"/>
            <a:ext cx="2095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15630525" y="7595146"/>
            <a:ext cx="1924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DATA &amp; SYSTEMS</a:t>
            </a:r>
            <a:endParaRPr lang="en-US" sz="900" dirty="0"/>
          </a:p>
        </p:txBody>
      </p:sp>
      <p:sp>
        <p:nvSpPr>
          <p:cNvPr id="125" name="Shape 119"/>
          <p:cNvSpPr/>
          <p:nvPr/>
        </p:nvSpPr>
        <p:spPr>
          <a:xfrm>
            <a:off x="15630525" y="7938046"/>
            <a:ext cx="4839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15735300" y="7985671"/>
            <a:ext cx="3506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itsm</a:t>
            </a:r>
            <a:endParaRPr lang="en-US" sz="900" dirty="0"/>
          </a:p>
        </p:txBody>
      </p:sp>
      <p:sp>
        <p:nvSpPr>
          <p:cNvPr id="127" name="Shape 121"/>
          <p:cNvSpPr/>
          <p:nvPr/>
        </p:nvSpPr>
        <p:spPr>
          <a:xfrm>
            <a:off x="16171664" y="7938046"/>
            <a:ext cx="110117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28" name="Text 122"/>
          <p:cNvSpPr/>
          <p:nvPr/>
        </p:nvSpPr>
        <p:spPr>
          <a:xfrm>
            <a:off x="16276439" y="7985671"/>
            <a:ext cx="9678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arch-exchange</a:t>
            </a:r>
            <a:endParaRPr lang="en-US" sz="900" dirty="0"/>
          </a:p>
        </p:txBody>
      </p:sp>
      <p:sp>
        <p:nvSpPr>
          <p:cNvPr id="129" name="Shape 123"/>
          <p:cNvSpPr/>
          <p:nvPr/>
        </p:nvSpPr>
        <p:spPr>
          <a:xfrm>
            <a:off x="15630525" y="8242846"/>
            <a:ext cx="1169789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30" name="Text 124"/>
          <p:cNvSpPr/>
          <p:nvPr/>
        </p:nvSpPr>
        <p:spPr>
          <a:xfrm>
            <a:off x="15735300" y="8290471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asset-registry</a:t>
            </a:r>
            <a:endParaRPr lang="en-US" sz="900" dirty="0"/>
          </a:p>
        </p:txBody>
      </p:sp>
      <p:sp>
        <p:nvSpPr>
          <p:cNvPr id="131" name="Shape 125"/>
          <p:cNvSpPr/>
          <p:nvPr/>
        </p:nvSpPr>
        <p:spPr>
          <a:xfrm>
            <a:off x="15630525" y="8547646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15735300" y="8595271"/>
            <a:ext cx="76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eng-portal</a:t>
            </a:r>
            <a:endParaRPr lang="en-US" sz="900" dirty="0"/>
          </a:p>
        </p:txBody>
      </p:sp>
      <p:sp>
        <p:nvSpPr>
          <p:cNvPr id="133" name="Shape 127"/>
          <p:cNvSpPr/>
          <p:nvPr/>
        </p:nvSpPr>
        <p:spPr>
          <a:xfrm>
            <a:off x="15630525" y="8852446"/>
            <a:ext cx="1032570" cy="24765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34" name="Text 128"/>
          <p:cNvSpPr/>
          <p:nvPr/>
        </p:nvSpPr>
        <p:spPr>
          <a:xfrm>
            <a:off x="15735300" y="8900071"/>
            <a:ext cx="8992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build-assist</a:t>
            </a:r>
            <a:endParaRPr lang="en-US" sz="900" dirty="0"/>
          </a:p>
        </p:txBody>
      </p:sp>
      <p:sp>
        <p:nvSpPr>
          <p:cNvPr id="135" name="Shape 129"/>
          <p:cNvSpPr/>
          <p:nvPr/>
        </p:nvSpPr>
        <p:spPr>
          <a:xfrm>
            <a:off x="685800" y="9357271"/>
            <a:ext cx="169164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2025253" y="9619208"/>
            <a:ext cx="9525" cy="142875"/>
          </a:xfrm>
          <a:prstGeom prst="rect">
            <a:avLst/>
          </a:prstGeom>
          <a:solidFill>
            <a:srgbClr val="E6EAF0"/>
          </a:solidFill>
          <a:ln/>
        </p:spPr>
      </p:sp>
      <p:sp>
        <p:nvSpPr>
          <p:cNvPr id="137" name="Text 131"/>
          <p:cNvSpPr/>
          <p:nvPr/>
        </p:nvSpPr>
        <p:spPr>
          <a:xfrm>
            <a:off x="866775" y="9619208"/>
            <a:ext cx="10632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975" dirty="0"/>
          </a:p>
        </p:txBody>
      </p:sp>
      <p:sp>
        <p:nvSpPr>
          <p:cNvPr id="138" name="Shape 132"/>
          <p:cNvSpPr/>
          <p:nvPr/>
        </p:nvSpPr>
        <p:spPr>
          <a:xfrm>
            <a:off x="2206228" y="9566821"/>
            <a:ext cx="6210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2311003" y="9614446"/>
            <a:ext cx="487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900" dirty="0"/>
          </a:p>
        </p:txBody>
      </p:sp>
      <p:sp>
        <p:nvSpPr>
          <p:cNvPr id="140" name="Shape 134"/>
          <p:cNvSpPr/>
          <p:nvPr/>
        </p:nvSpPr>
        <p:spPr>
          <a:xfrm>
            <a:off x="2922538" y="9566821"/>
            <a:ext cx="75827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3027313" y="9614446"/>
            <a:ext cx="6249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900" dirty="0"/>
          </a:p>
        </p:txBody>
      </p:sp>
      <p:sp>
        <p:nvSpPr>
          <p:cNvPr id="142" name="Shape 136"/>
          <p:cNvSpPr/>
          <p:nvPr/>
        </p:nvSpPr>
        <p:spPr>
          <a:xfrm>
            <a:off x="3776067" y="9566821"/>
            <a:ext cx="68967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3" name="Text 137"/>
          <p:cNvSpPr/>
          <p:nvPr/>
        </p:nvSpPr>
        <p:spPr>
          <a:xfrm>
            <a:off x="3880842" y="9614446"/>
            <a:ext cx="5563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900" dirty="0"/>
          </a:p>
        </p:txBody>
      </p:sp>
      <p:sp>
        <p:nvSpPr>
          <p:cNvPr id="144" name="Shape 138"/>
          <p:cNvSpPr/>
          <p:nvPr/>
        </p:nvSpPr>
        <p:spPr>
          <a:xfrm>
            <a:off x="4560987" y="9566821"/>
            <a:ext cx="116978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5" name="Text 139"/>
          <p:cNvSpPr/>
          <p:nvPr/>
        </p:nvSpPr>
        <p:spPr>
          <a:xfrm>
            <a:off x="4665762" y="9614446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 Kit</a:t>
            </a:r>
            <a:endParaRPr lang="en-US" sz="900" dirty="0"/>
          </a:p>
        </p:txBody>
      </p:sp>
      <p:sp>
        <p:nvSpPr>
          <p:cNvPr id="146" name="Shape 140"/>
          <p:cNvSpPr/>
          <p:nvPr/>
        </p:nvSpPr>
        <p:spPr>
          <a:xfrm>
            <a:off x="5826026" y="9566821"/>
            <a:ext cx="137547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5930801" y="9614446"/>
            <a:ext cx="124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 Runtime</a:t>
            </a:r>
            <a:endParaRPr lang="en-US" sz="900" dirty="0"/>
          </a:p>
        </p:txBody>
      </p:sp>
      <p:sp>
        <p:nvSpPr>
          <p:cNvPr id="148" name="Shape 142"/>
          <p:cNvSpPr/>
          <p:nvPr/>
        </p:nvSpPr>
        <p:spPr>
          <a:xfrm>
            <a:off x="7296745" y="9566821"/>
            <a:ext cx="13068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9" name="Text 143"/>
          <p:cNvSpPr/>
          <p:nvPr/>
        </p:nvSpPr>
        <p:spPr>
          <a:xfrm>
            <a:off x="7401520" y="9614446"/>
            <a:ext cx="11735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Managed Postgres</a:t>
            </a:r>
            <a:endParaRPr lang="en-US" sz="900" dirty="0"/>
          </a:p>
        </p:txBody>
      </p:sp>
      <p:sp>
        <p:nvSpPr>
          <p:cNvPr id="150" name="Shape 144"/>
          <p:cNvSpPr/>
          <p:nvPr/>
        </p:nvSpPr>
        <p:spPr>
          <a:xfrm>
            <a:off x="8698855" y="9566821"/>
            <a:ext cx="12382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51" name="Text 145"/>
          <p:cNvSpPr/>
          <p:nvPr/>
        </p:nvSpPr>
        <p:spPr>
          <a:xfrm>
            <a:off x="8803630" y="9614446"/>
            <a:ext cx="1104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In-Memory Cache</a:t>
            </a:r>
            <a:endParaRPr lang="en-US" sz="900" dirty="0"/>
          </a:p>
        </p:txBody>
      </p:sp>
      <p:sp>
        <p:nvSpPr>
          <p:cNvPr id="152" name="Shape 146"/>
          <p:cNvSpPr/>
          <p:nvPr/>
        </p:nvSpPr>
        <p:spPr>
          <a:xfrm>
            <a:off x="10032355" y="9566821"/>
            <a:ext cx="116978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10137130" y="9614446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Storage</a:t>
            </a:r>
            <a:endParaRPr lang="en-US" sz="900" dirty="0"/>
          </a:p>
        </p:txBody>
      </p:sp>
      <p:sp>
        <p:nvSpPr>
          <p:cNvPr id="154" name="Shape 148"/>
          <p:cNvSpPr/>
          <p:nvPr/>
        </p:nvSpPr>
        <p:spPr>
          <a:xfrm>
            <a:off x="11297394" y="9566821"/>
            <a:ext cx="68967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55" name="Text 149"/>
          <p:cNvSpPr/>
          <p:nvPr/>
        </p:nvSpPr>
        <p:spPr>
          <a:xfrm>
            <a:off x="11402169" y="9614446"/>
            <a:ext cx="5563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&lt;/&gt; SDK</a:t>
            </a:r>
            <a:endParaRPr lang="en-US" sz="900" dirty="0"/>
          </a:p>
        </p:txBody>
      </p:sp>
      <p:sp>
        <p:nvSpPr>
          <p:cNvPr id="156" name="Shape 150"/>
          <p:cNvSpPr/>
          <p:nvPr/>
        </p:nvSpPr>
        <p:spPr>
          <a:xfrm>
            <a:off x="15994261" y="9481096"/>
            <a:ext cx="1426964" cy="419100"/>
          </a:xfrm>
          <a:prstGeom prst="roundRect">
            <a:avLst>
              <a:gd name="adj" fmla="val 18182"/>
            </a:avLst>
          </a:prstGeom>
          <a:ln w="9525">
            <a:solidFill>
              <a:srgbClr val="3949AB"/>
            </a:solidFill>
            <a:prstDash val="solid"/>
          </a:ln>
        </p:spPr>
      </p:sp>
      <p:sp>
        <p:nvSpPr>
          <p:cNvPr id="157" name="Text 151"/>
          <p:cNvSpPr/>
          <p:nvPr/>
        </p:nvSpPr>
        <p:spPr>
          <a:xfrm>
            <a:off x="16079986" y="9547771"/>
            <a:ext cx="12555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b="1" spc="90" kern="0" dirty="0">
                <a:solidFill>
                  <a:srgbClr val="3949A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 GEN-AI SERVICES</a:t>
            </a:r>
            <a:endParaRPr lang="en-US" sz="900" dirty="0"/>
          </a:p>
        </p:txBody>
      </p:sp>
      <p:sp>
        <p:nvSpPr>
          <p:cNvPr id="158" name="Shape 152"/>
          <p:cNvSpPr/>
          <p:nvPr/>
        </p:nvSpPr>
        <p:spPr>
          <a:xfrm>
            <a:off x="685800" y="10095458"/>
            <a:ext cx="95250" cy="95250"/>
          </a:xfrm>
          <a:prstGeom prst="roundRect">
            <a:avLst>
              <a:gd name="adj" fmla="val 20000"/>
            </a:avLst>
          </a:prstGeom>
          <a:solidFill>
            <a:srgbClr val="3949AB"/>
          </a:solidFill>
          <a:ln/>
        </p:spPr>
      </p:sp>
      <p:sp>
        <p:nvSpPr>
          <p:cNvPr id="159" name="Text 153"/>
          <p:cNvSpPr/>
          <p:nvPr/>
        </p:nvSpPr>
        <p:spPr>
          <a:xfrm>
            <a:off x="838200" y="10062121"/>
            <a:ext cx="1265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Platform-managed</a:t>
            </a:r>
            <a:endParaRPr lang="en-US" sz="975" dirty="0"/>
          </a:p>
        </p:txBody>
      </p:sp>
      <p:sp>
        <p:nvSpPr>
          <p:cNvPr id="160" name="Shape 154"/>
          <p:cNvSpPr/>
          <p:nvPr/>
        </p:nvSpPr>
        <p:spPr>
          <a:xfrm>
            <a:off x="2217539" y="10095458"/>
            <a:ext cx="95250" cy="95250"/>
          </a:xfrm>
          <a:prstGeom prst="roundRect">
            <a:avLst>
              <a:gd name="adj" fmla="val 20000"/>
            </a:avLst>
          </a:prstGeom>
          <a:solidFill>
            <a:srgbClr val="CBD5E1"/>
          </a:solidFill>
          <a:ln/>
        </p:spPr>
      </p:sp>
      <p:sp>
        <p:nvSpPr>
          <p:cNvPr id="161" name="Text 155"/>
          <p:cNvSpPr/>
          <p:nvPr/>
        </p:nvSpPr>
        <p:spPr>
          <a:xfrm>
            <a:off x="2369939" y="10062121"/>
            <a:ext cx="1562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Connector / external</a:t>
            </a:r>
            <a:endParaRPr lang="en-US" sz="975" dirty="0"/>
          </a:p>
        </p:txBody>
      </p:sp>
      <p:sp>
        <p:nvSpPr>
          <p:cNvPr id="162" name="Shape 156"/>
          <p:cNvSpPr/>
          <p:nvPr/>
        </p:nvSpPr>
        <p:spPr>
          <a:xfrm>
            <a:off x="4046339" y="10085933"/>
            <a:ext cx="114300" cy="114300"/>
          </a:xfrm>
          <a:prstGeom prst="roundRect">
            <a:avLst>
              <a:gd name="adj" fmla="val 16667"/>
            </a:avLst>
          </a:prstGeom>
          <a:ln w="9525">
            <a:solidFill>
              <a:srgbClr val="64748B"/>
            </a:solidFill>
            <a:prstDash val="dash"/>
          </a:ln>
        </p:spPr>
      </p:sp>
      <p:sp>
        <p:nvSpPr>
          <p:cNvPr id="163" name="Text 157"/>
          <p:cNvSpPr/>
          <p:nvPr/>
        </p:nvSpPr>
        <p:spPr>
          <a:xfrm>
            <a:off x="4217789" y="10062121"/>
            <a:ext cx="8935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layer</a:t>
            </a:r>
            <a:endParaRPr lang="en-US" sz="975" dirty="0"/>
          </a:p>
        </p:txBody>
      </p:sp>
      <p:sp>
        <p:nvSpPr>
          <p:cNvPr id="164" name="Text 158"/>
          <p:cNvSpPr/>
          <p:nvPr/>
        </p:nvSpPr>
        <p:spPr>
          <a:xfrm>
            <a:off x="14853196" y="10081171"/>
            <a:ext cx="283147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reference-architecture · v0.4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2026-05-05T14:14:25Z</dcterms:created>
  <dcterms:modified xsi:type="dcterms:W3CDTF">2026-05-05T14:14:25Z</dcterms:modified>
</cp:coreProperties>
</file>